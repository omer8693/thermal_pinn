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48640" y="1097280"/>
            <a:ext cx="5806440" cy="1234440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 Display"/>
              </a:rPr>
              <a:t>Mean Absolute Error (MAE)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F2937"/>
                </a:solidFill>
                <a:latin typeface="Aptos"/>
              </a:rPr>
              <a:t>MAE = (1/N) sum_i |T_i^PINN - T_i^FEM|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374151"/>
                </a:solidFill>
                <a:latin typeface="Aptos"/>
              </a:rPr>
              <a:t>Main accuracy metric. It is reported as mean-window MAE over the prediction windows.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42032"/>
            <a:ext cx="5806440" cy="1325880"/>
          </a:xfrm>
          <a:prstGeom prst="roundRect">
            <a:avLst/>
          </a:prstGeom>
          <a:solidFill>
            <a:srgbClr val="F0FDF4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>
            <a:norm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ptos Display"/>
              </a:rPr>
              <a:t>Relative L2 Error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F2937"/>
                </a:solidFill>
                <a:latin typeface="Aptos"/>
              </a:rPr>
              <a:t>Rel. L2 = ||T_hat - T_FEM||_2 / ||T_FEM - T_w||_2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374151"/>
                </a:solidFill>
                <a:latin typeface="Aptos"/>
              </a:rPr>
              <a:t>Full-field error, normalised by the temperature change above the water bath. Here T_w = 20 deg 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5806440" cy="1234440"/>
          </a:xfrm>
          <a:prstGeom prst="roundRect">
            <a:avLst/>
          </a:prstGeom>
          <a:solidFill>
            <a:srgbClr val="FFFBEB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>
            <a:normAutofit/>
          </a:bodyPr>
          <a:lstStyle/>
          <a:p>
            <a:pPr algn="ctr"/>
            <a:r>
              <a:rPr sz="1500" b="1">
                <a:solidFill>
                  <a:srgbClr val="D97706"/>
                </a:solidFill>
                <a:latin typeface="Aptos Display"/>
              </a:rPr>
              <a:t>FEM Anchor Reduction</a:t>
            </a:r>
          </a:p>
          <a:p>
            <a:pPr>
              <a:spcBef>
                <a:spcPts val="500"/>
              </a:spcBef>
            </a:pPr>
            <a:r>
              <a:rPr sz="1800" b="1">
                <a:solidFill>
                  <a:srgbClr val="1F2937"/>
                </a:solidFill>
                <a:latin typeface="Aptos"/>
              </a:rPr>
              <a:t>R(k) = (1 - N_win(k)/20) x 100%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374151"/>
                </a:solidFill>
                <a:latin typeface="Aptos"/>
              </a:rPr>
              <a:t>Efficiency metric. It shows how many FEM anchor calls are saved when the PINN predicts longer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097280"/>
            <a:ext cx="4709160" cy="2103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>
            <a:normAutofit/>
          </a:bodyPr>
          <a:lstStyle/>
          <a:p>
            <a:pPr algn="ctr"/>
            <a:r>
              <a:rPr sz="1500" b="1">
                <a:solidFill>
                  <a:srgbClr val="B91C1C"/>
                </a:solidFill>
                <a:latin typeface="Aptos Display"/>
              </a:rPr>
              <a:t>How I read the numbers</a:t>
            </a:r>
          </a:p>
          <a:p>
            <a:pPr>
              <a:spcBef>
                <a:spcPts val="400"/>
              </a:spcBef>
            </a:pPr>
            <a:r>
              <a:rPr sz="1280">
                <a:solidFill>
                  <a:srgbClr val="374151"/>
                </a:solidFill>
                <a:latin typeface="Aptos"/>
              </a:rPr>
              <a:t>MAE: average temperature error in deg C.</a:t>
            </a:r>
          </a:p>
          <a:p>
            <a:pPr>
              <a:spcBef>
                <a:spcPts val="400"/>
              </a:spcBef>
            </a:pPr>
            <a:r>
              <a:rPr sz="1280">
                <a:solidFill>
                  <a:srgbClr val="374151"/>
                </a:solidFill>
                <a:latin typeface="Aptos"/>
              </a:rPr>
              <a:t>Relative L2: spatial field quality at 30 s.</a:t>
            </a:r>
          </a:p>
          <a:p>
            <a:pPr>
              <a:spcBef>
                <a:spcPts val="400"/>
              </a:spcBef>
            </a:pPr>
            <a:r>
              <a:rPr sz="1280">
                <a:solidFill>
                  <a:srgbClr val="374151"/>
                </a:solidFill>
                <a:latin typeface="Aptos"/>
              </a:rPr>
              <a:t>R(k): saved FEM solver calls.</a:t>
            </a:r>
          </a:p>
          <a:p>
            <a:pPr>
              <a:spcBef>
                <a:spcPts val="400"/>
              </a:spcBef>
            </a:pPr>
            <a:r>
              <a:rPr sz="1280">
                <a:solidFill>
                  <a:srgbClr val="374151"/>
                </a:solidFill>
                <a:latin typeface="Aptos"/>
              </a:rPr>
              <a:t>Together, they show the trade-off between accuracy and computational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520440"/>
            <a:ext cx="4709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 Display"/>
              </a:rPr>
              <a:t>Important note from the report</a:t>
            </a:r>
          </a:p>
          <a:p>
            <a:pPr>
              <a:spcBef>
                <a:spcPts val="400"/>
              </a:spcBef>
            </a:pPr>
            <a:r>
              <a:rPr sz="1280">
                <a:solidFill>
                  <a:srgbClr val="374151"/>
                </a:solidFill>
                <a:latin typeface="Aptos"/>
              </a:rPr>
              <a:t>Final-window MAE alone can be misleading in PINN-only tests.</a:t>
            </a:r>
          </a:p>
          <a:p>
            <a:pPr>
              <a:spcBef>
                <a:spcPts val="400"/>
              </a:spcBef>
            </a:pPr>
            <a:r>
              <a:rPr sz="1280">
                <a:solidFill>
                  <a:srgbClr val="374151"/>
                </a:solidFill>
                <a:latin typeface="Aptos"/>
              </a:rPr>
              <a:t>Near 30 s, the field naturally moves toward the water temperature.</a:t>
            </a:r>
          </a:p>
          <a:p>
            <a:pPr>
              <a:spcBef>
                <a:spcPts val="400"/>
              </a:spcBef>
            </a:pPr>
            <a:r>
              <a:rPr sz="1280">
                <a:solidFill>
                  <a:srgbClr val="374151"/>
                </a:solidFill>
                <a:latin typeface="Aptos"/>
              </a:rPr>
              <a:t>So the mean-window MAE is used as the primary 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650992"/>
            <a:ext cx="4389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6B7280"/>
                </a:solidFill>
                <a:latin typeface="Aptos"/>
              </a:rPr>
              <a:t>Source: Chapter 3, Evaluation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