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61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55" Type="http://schemas.openxmlformats.org/officeDocument/2006/relationships/slide" Target="slides/slide6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411480" y="713232"/>
            <a:ext cx="11338560" cy="27432"/>
          </a:xfrm>
          <a:prstGeom prst="rect">
            <a:avLst/>
          </a:prstGeom>
          <a:solidFill>
            <a:srgbClr val="B9CDE1"/>
          </a:solidFill>
          <a:ln>
            <a:solidFill>
              <a:srgbClr val="B9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42062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ctr">
              <a:defRPr sz="1100" b="1">
                <a:solidFill>
                  <a:srgbClr val="17365D"/>
                </a:solidFill>
              </a:defRPr>
            </a:pPr>
            <a:r>
              <a:t>Table 3.1: what is taken from the reference study</a:t>
            </a:r>
          </a:p>
        </p:txBody>
      </p:sp>
      <p:pic>
        <p:nvPicPr>
          <p:cNvPr id="5" name="Picture 4" descr="Tabl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74" y="1143000"/>
            <a:ext cx="4041011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57800" y="868680"/>
            <a:ext cx="61264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l">
              <a:defRPr sz="1200" b="1">
                <a:solidFill>
                  <a:srgbClr val="17365D"/>
                </a:solidFill>
              </a:defRPr>
            </a:pPr>
            <a:r>
              <a:t>Important comparison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1234440"/>
            <a:ext cx="5989320" cy="868680"/>
          </a:xfrm>
          <a:prstGeom prst="roundRect">
            <a:avLst/>
          </a:prstGeom>
          <a:solidFill>
            <a:srgbClr val="E5F1FB"/>
          </a:solidFill>
          <a:ln w="12700">
            <a:solidFill>
              <a:srgbClr val="538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>
            <a:normAutofit/>
          </a:bodyPr>
          <a:lstStyle/>
          <a:p>
            <a:pPr algn="ctr">
              <a:defRPr sz="1200" b="1">
                <a:solidFill>
                  <a:srgbClr val="17365D"/>
                </a:solidFill>
              </a:defRPr>
            </a:pPr>
            <a:r>
              <a:t>Reference paper</a:t>
            </a:r>
          </a:p>
          <a:p>
            <a:pPr>
              <a:defRPr sz="1000">
                <a:solidFill>
                  <a:srgbClr val="2D2D2D"/>
                </a:solidFill>
              </a:defRPr>
            </a:pPr>
            <a:r>
              <a:t>Industrial A356 water-quenching problem; FEM is used to simulate thermal behaviour and distortion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2331720"/>
            <a:ext cx="5989320" cy="868680"/>
          </a:xfrm>
          <a:prstGeom prst="roundRect">
            <a:avLst/>
          </a:prstGeom>
          <a:solidFill>
            <a:srgbClr val="EEF6E8"/>
          </a:solidFill>
          <a:ln w="12700">
            <a:solidFill>
              <a:srgbClr val="649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>
            <a:normAutofit/>
          </a:bodyPr>
          <a:lstStyle/>
          <a:p>
            <a:pPr algn="ctr">
              <a:defRPr sz="1200" b="1">
                <a:solidFill>
                  <a:srgbClr val="17365D"/>
                </a:solidFill>
              </a:defRPr>
            </a:pPr>
            <a:r>
              <a:t>What we keep</a:t>
            </a:r>
          </a:p>
          <a:p>
            <a:pPr>
              <a:defRPr sz="1000">
                <a:solidFill>
                  <a:srgbClr val="2D2D2D"/>
                </a:solidFill>
              </a:defRPr>
            </a:pPr>
            <a:r>
              <a:t>Same physical motivation: hot A356 part, water bath, transient cooling and FEM reference fields.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3429000"/>
            <a:ext cx="5989320" cy="960120"/>
          </a:xfrm>
          <a:prstGeom prst="roundRect">
            <a:avLst/>
          </a:prstGeom>
          <a:solidFill>
            <a:srgbClr val="FCF3E2"/>
          </a:solidFill>
          <a:ln w="12700">
            <a:solidFill>
              <a:srgbClr val="BE8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>
            <a:normAutofit/>
          </a:bodyPr>
          <a:lstStyle/>
          <a:p>
            <a:pPr algn="ctr">
              <a:defRPr sz="1200" b="1">
                <a:solidFill>
                  <a:srgbClr val="17365D"/>
                </a:solidFill>
              </a:defRPr>
            </a:pPr>
            <a:r>
              <a:t>What we change</a:t>
            </a:r>
          </a:p>
          <a:p>
            <a:pPr>
              <a:defRPr sz="1000">
                <a:solidFill>
                  <a:srgbClr val="2D2D2D"/>
                </a:solidFill>
              </a:defRPr>
            </a:pPr>
            <a:r>
              <a:t>The thesis does not simulate the full industrial subframe first. It validates the method on controlled 2D, 3D and Thermal Fin benchmarks.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4617720"/>
            <a:ext cx="5989320" cy="960120"/>
          </a:xfrm>
          <a:prstGeom prst="roundRect">
            <a:avLst/>
          </a:prstGeom>
          <a:solidFill>
            <a:srgbClr val="F5EBF8"/>
          </a:solidFill>
          <a:ln w="12700">
            <a:solidFill>
              <a:srgbClr val="91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>
            <a:normAutofit/>
          </a:bodyPr>
          <a:lstStyle/>
          <a:p>
            <a:pPr algn="ctr">
              <a:defRPr sz="1200" b="1">
                <a:solidFill>
                  <a:srgbClr val="17365D"/>
                </a:solidFill>
              </a:defRPr>
            </a:pPr>
            <a:r>
              <a:t>How we use it</a:t>
            </a:r>
          </a:p>
          <a:p>
            <a:pPr>
              <a:defRPr sz="1000">
                <a:solidFill>
                  <a:srgbClr val="2D2D2D"/>
                </a:solidFill>
              </a:defRPr>
            </a:pPr>
            <a:r>
              <a:t>FEM snapshots become trusted anchors. NAS-PINN predicts selected intermediate windows to reduce FEM time-step calls.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062472"/>
            <a:ext cx="107442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 algn="ctr">
              <a:defRPr sz="1000" b="0">
                <a:solidFill>
                  <a:srgbClr val="646464"/>
                </a:solidFill>
              </a:defRPr>
            </a:pPr>
            <a:r>
              <a:t>Main message: the reference paper gives the industrial FEM-quenching motivation; this thesis tests a FEM-anchored acceleration strategy.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Reference Paper Inputs and Thesis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INTRODUCTION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