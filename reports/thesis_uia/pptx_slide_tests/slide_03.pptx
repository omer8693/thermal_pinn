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7423E"/>
                </a:solidFill>
                <a:latin typeface="Aptos"/>
              </a:defRPr>
            </a:pPr>
            <a:r>
              <a:t>The project begins with an industrial A356 aluminium quenching problem and asks whether Finite Element Method (FEM) time-step calls can be reduced without losing useful temperature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246120" cy="28346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61848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Reference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947672"/>
            <a:ext cx="2953512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reference study models water quenching of cast A356 automotive subframes. Its FEM simulation gives the industrial motivation: temperature gradients during quenching drive distortion.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08760"/>
            <a:ext cx="3246120" cy="283464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161848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947672"/>
            <a:ext cx="2953512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We keep the same physical process setting, but test a different route: FEM provides anchor snapshots and NAS-PINN predicts selected intermediate windows.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508760"/>
            <a:ext cx="3566160" cy="28346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161848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Validation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1947672"/>
            <a:ext cx="3273552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Because the real industrial data arrived late, the workflow starts with controlled surrogate geometries and then moves toward more complex 3D and Thermal Fin benchmarks.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92040"/>
            <a:ext cx="1691640" cy="9601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0017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45852"/>
                </a:solidFill>
                <a:latin typeface="Aptos"/>
              </a:defRPr>
            </a:pPr>
            <a:r>
              <a:t>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22122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7423E"/>
                </a:solidFill>
                <a:latin typeface="Aptos"/>
              </a:defRPr>
            </a:pPr>
            <a:r>
              <a:t>A356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60527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45852"/>
                </a:solidFill>
                <a:latin typeface="Aptos"/>
              </a:defRPr>
            </a:pPr>
            <a:r>
              <a:t>aluminium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4892040"/>
            <a:ext cx="1691640" cy="9601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0088" y="50017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45852"/>
                </a:solidFill>
                <a:latin typeface="Aptos"/>
              </a:defRPr>
            </a:pPr>
            <a:r>
              <a:t>Initial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522122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7423E"/>
                </a:solidFill>
                <a:latin typeface="Aptos"/>
              </a:defRPr>
            </a:pPr>
            <a:r>
              <a:t>540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560527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45852"/>
                </a:solidFill>
                <a:latin typeface="Aptos"/>
              </a:defRPr>
            </a:pPr>
            <a:r>
              <a:t>hot part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892040"/>
            <a:ext cx="1691640" cy="9601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50017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45852"/>
                </a:solidFill>
                <a:latin typeface="Aptos"/>
              </a:defRPr>
            </a:pPr>
            <a:r>
              <a:t>Bath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522122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7423E"/>
                </a:solidFill>
                <a:latin typeface="Aptos"/>
              </a:defRPr>
            </a:pPr>
            <a:r>
              <a:t>20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60527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45852"/>
                </a:solidFill>
                <a:latin typeface="Aptos"/>
              </a:defRPr>
            </a:pPr>
            <a:r>
              <a:t>water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892040"/>
            <a:ext cx="1691640" cy="9601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2008" y="50017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45852"/>
                </a:solidFill>
                <a:latin typeface="Aptos"/>
              </a:defRPr>
            </a:pPr>
            <a:r>
              <a:t>Quench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22122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7423E"/>
                </a:solidFill>
                <a:latin typeface="Aptos"/>
              </a:defRPr>
            </a:pPr>
            <a:r>
              <a:t>30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560527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45852"/>
                </a:solidFill>
                <a:latin typeface="Aptos"/>
              </a:defRPr>
            </a:pPr>
            <a:r>
              <a:t>transient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4892040"/>
            <a:ext cx="1691640" cy="9601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7" y="50017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45852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7" y="522122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7423E"/>
                </a:solidFill>
                <a:latin typeface="Aptos"/>
              </a:defRPr>
            </a:pPr>
            <a:r>
              <a:t>skip FEM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7" y="560527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45852"/>
                </a:solidFill>
                <a:latin typeface="Aptos"/>
              </a:defRPr>
            </a:pPr>
            <a:r>
              <a:t>with anchors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Intro: What We Do in This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