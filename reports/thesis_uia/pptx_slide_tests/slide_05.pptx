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9"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1" Type="http://schemas.openxmlformats.org/officeDocument/2006/relationships/slide" Target="slides/slide5.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3" Type="http://schemas.openxmlformats.org/officeDocument/2006/relationships/image" Target="../media/image2.png"/><Relationship Id="rId4" Type="http://schemas.openxmlformats.org/officeDocument/2006/relationships/image" Target="../media/image_mortensen_fig1.png"/></Relationships>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7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03504"/>
          </a:xfrm>
          <a:prstGeom prst="rect">
            <a:avLst/>
          </a:prstGeom>
          <a:solidFill>
            <a:srgbClr val="9742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03504"/>
            <a:ext cx="12191695" cy="45720"/>
          </a:xfrm>
          <a:prstGeom prst="rect">
            <a:avLst/>
          </a:prstGeom>
          <a:solidFill>
            <a:srgbClr val="DC7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868680"/>
            <a:ext cx="10881360" cy="438912"/>
          </a:xfrm>
          <a:prstGeom prst="rect">
            <a:avLst/>
          </a:prstGeom>
          <a:noFill/>
        </p:spPr>
        <p:txBody>
          <a:bodyPr wrap="square">
            <a:spAutoFit/>
          </a:bodyPr>
          <a:lstStyle/>
          <a:p>
            <a:pPr algn="ctr">
              <a:defRPr sz="1600" b="1">
                <a:solidFill>
                  <a:srgbClr val="97423E"/>
                </a:solidFill>
                <a:latin typeface="Aptos"/>
              </a:defRPr>
            </a:pPr>
            <a:r>
              <a:t>We follow the industrial quenching problem from the reference paper, then test whether FEM time-step calls can be reduced with a FEM-anchored NAS-PINN strategy.</a:t>
            </a:r>
          </a:p>
        </p:txBody>
      </p:sp>
      <p:sp>
        <p:nvSpPr>
          <p:cNvPr id="8" name="Rectangle 7"/>
          <p:cNvSpPr/>
          <p:nvPr/>
        </p:nvSpPr>
        <p:spPr>
          <a:xfrm>
            <a:off x="594360" y="1508760"/>
            <a:ext cx="4937760" cy="2971800"/>
          </a:xfrm>
          <a:prstGeom prst="rect">
            <a:avLst/>
          </a:prstGeom>
          <a:solidFill>
            <a:srgbClr val="FFFFFF"/>
          </a:solidFill>
          <a:ln>
            <a:solidFill>
              <a:srgbClr val="EBCA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fig_mswp_three_modes.png"/>
          <p:cNvPicPr>
            <a:picLocks noChangeAspect="1"/>
          </p:cNvPicPr>
          <p:nvPr/>
        </p:nvPicPr>
        <p:blipFill>
          <a:blip r:embed="rId3"/>
          <a:stretch>
            <a:fillRect/>
          </a:stretch>
        </p:blipFill>
        <p:spPr>
          <a:xfrm>
            <a:off x="944118" y="1581912"/>
            <a:ext cx="4238244" cy="2825496"/>
          </a:xfrm>
          <a:prstGeom prst="rect">
            <a:avLst/>
          </a:prstGeom>
        </p:spPr>
      </p:pic>
      <p:sp>
        <p:nvSpPr>
          <p:cNvPr id="10" name="Rectangle 9"/>
          <p:cNvSpPr/>
          <p:nvPr/>
        </p:nvSpPr>
        <p:spPr>
          <a:xfrm>
            <a:off x="5806440" y="1481328"/>
            <a:ext cx="5440680" cy="1143000"/>
          </a:xfrm>
          <a:prstGeom prst="rect">
            <a:avLst/>
          </a:prstGeom>
          <a:solidFill>
            <a:srgbClr val="FFEBE5"/>
          </a:solidFill>
          <a:ln>
            <a:solidFill>
              <a:srgbClr val="EBCA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52744" y="1591056"/>
            <a:ext cx="5148072" cy="256032"/>
          </a:xfrm>
          <a:prstGeom prst="rect">
            <a:avLst/>
          </a:prstGeom>
          <a:noFill/>
        </p:spPr>
        <p:txBody>
          <a:bodyPr wrap="square">
            <a:spAutoFit/>
          </a:bodyPr>
          <a:lstStyle/>
          <a:p>
            <a:pPr algn="l">
              <a:defRPr sz="1100" b="1">
                <a:solidFill>
                  <a:srgbClr val="97423E"/>
                </a:solidFill>
                <a:latin typeface="Aptos"/>
              </a:defRPr>
            </a:pPr>
            <a:r>
              <a:t>Problem statement</a:t>
            </a:r>
          </a:p>
        </p:txBody>
      </p:sp>
      <p:sp>
        <p:nvSpPr>
          <p:cNvPr id="12" name="TextBox 11"/>
          <p:cNvSpPr txBox="1"/>
          <p:nvPr/>
        </p:nvSpPr>
        <p:spPr>
          <a:xfrm>
            <a:off x="5952744" y="1920240"/>
            <a:ext cx="5148072" cy="630936"/>
          </a:xfrm>
          <a:prstGeom prst="rect">
            <a:avLst/>
          </a:prstGeom>
          <a:noFill/>
        </p:spPr>
        <p:txBody>
          <a:bodyPr wrap="square">
            <a:spAutoFit/>
          </a:bodyPr>
          <a:lstStyle/>
          <a:p>
            <a:pPr algn="l">
              <a:defRPr sz="1000" b="0">
                <a:solidFill>
                  <a:srgbClr val="302422"/>
                </a:solidFill>
                <a:latin typeface="Aptos"/>
              </a:defRPr>
            </a:pPr>
            <a:r>
              <a:t>Figure 1.1 shows the three operating modes of the MSWP framework. Starting from the reference paper, the thesis keeps the same quenching setting but tests whether selected FEM steps can be skipped with NAS-PINN predictions.</a:t>
            </a:r>
          </a:p>
        </p:txBody>
      </p:sp>
      <p:sp>
        <p:nvSpPr>
          <p:cNvPr id="13" name="Rectangle 12"/>
          <p:cNvSpPr/>
          <p:nvPr/>
        </p:nvSpPr>
        <p:spPr>
          <a:xfrm>
            <a:off x="5806440" y="2880360"/>
            <a:ext cx="5440680" cy="960120"/>
          </a:xfrm>
          <a:prstGeom prst="rect">
            <a:avLst/>
          </a:prstGeom>
          <a:solidFill>
            <a:srgbClr val="FFFCFB"/>
          </a:solidFill>
          <a:ln>
            <a:solidFill>
              <a:srgbClr val="EBCA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52744" y="2990088"/>
            <a:ext cx="5148072" cy="256032"/>
          </a:xfrm>
          <a:prstGeom prst="rect">
            <a:avLst/>
          </a:prstGeom>
          <a:noFill/>
        </p:spPr>
        <p:txBody>
          <a:bodyPr wrap="square">
            <a:spAutoFit/>
          </a:bodyPr>
          <a:lstStyle/>
          <a:p>
            <a:pPr algn="l">
              <a:defRPr sz="1100" b="1">
                <a:solidFill>
                  <a:srgbClr val="97423E"/>
                </a:solidFill>
                <a:latin typeface="Aptos"/>
              </a:defRPr>
            </a:pPr>
            <a:r>
              <a:t>Why surrogate geometries first?</a:t>
            </a:r>
          </a:p>
        </p:txBody>
      </p:sp>
      <p:sp>
        <p:nvSpPr>
          <p:cNvPr id="15" name="TextBox 14"/>
          <p:cNvSpPr txBox="1"/>
          <p:nvPr/>
        </p:nvSpPr>
        <p:spPr>
          <a:xfrm>
            <a:off x="5952744" y="3319272"/>
            <a:ext cx="5148072" cy="448056"/>
          </a:xfrm>
          <a:prstGeom prst="rect">
            <a:avLst/>
          </a:prstGeom>
          <a:noFill/>
        </p:spPr>
        <p:txBody>
          <a:bodyPr wrap="square">
            <a:spAutoFit/>
          </a:bodyPr>
          <a:lstStyle/>
          <a:p>
            <a:pPr algn="l">
              <a:defRPr sz="1000" b="0">
                <a:solidFill>
                  <a:srgbClr val="302422"/>
                </a:solidFill>
                <a:latin typeface="Aptos"/>
              </a:defRPr>
            </a:pPr>
            <a:r>
              <a:t>The real industrial data arrived late, so the method was validated first on controlled geometries: NAS-PINN source domains, canonical 2D domains, then 3D and Thermal Fin benchmarks.</a:t>
            </a:r>
          </a:p>
        </p:txBody>
      </p:sp>
      <p:sp>
        <p:nvSpPr>
          <p:cNvPr id="16" name="Rectangle 15"/>
          <p:cNvSpPr/>
          <p:nvPr/>
        </p:nvSpPr>
        <p:spPr>
          <a:xfrm>
            <a:off x="685800" y="4892040"/>
            <a:ext cx="1874519" cy="960120"/>
          </a:xfrm>
          <a:prstGeom prst="rect">
            <a:avLst/>
          </a:prstGeom>
          <a:solidFill>
            <a:srgbClr val="FFEBE5"/>
          </a:solidFill>
          <a:ln>
            <a:solidFill>
              <a:srgbClr val="EBCA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95528" y="5001768"/>
            <a:ext cx="1655063" cy="182880"/>
          </a:xfrm>
          <a:prstGeom prst="rect">
            <a:avLst/>
          </a:prstGeom>
          <a:noFill/>
        </p:spPr>
        <p:txBody>
          <a:bodyPr wrap="square">
            <a:spAutoFit/>
          </a:bodyPr>
          <a:lstStyle/>
          <a:p>
            <a:pPr algn="ctr">
              <a:defRPr sz="800" b="1">
                <a:solidFill>
                  <a:srgbClr val="745852"/>
                </a:solidFill>
                <a:latin typeface="Aptos"/>
              </a:defRPr>
            </a:pPr>
            <a:r>
              <a:t>Initial temperature</a:t>
            </a:r>
          </a:p>
        </p:txBody>
      </p:sp>
      <p:sp>
        <p:nvSpPr>
          <p:cNvPr id="18" name="TextBox 17"/>
          <p:cNvSpPr txBox="1"/>
          <p:nvPr/>
        </p:nvSpPr>
        <p:spPr>
          <a:xfrm>
            <a:off x="795528" y="5221224"/>
            <a:ext cx="1655063" cy="310896"/>
          </a:xfrm>
          <a:prstGeom prst="rect">
            <a:avLst/>
          </a:prstGeom>
          <a:noFill/>
        </p:spPr>
        <p:txBody>
          <a:bodyPr wrap="square">
            <a:spAutoFit/>
          </a:bodyPr>
          <a:lstStyle/>
          <a:p>
            <a:pPr algn="ctr">
              <a:defRPr sz="1500" b="1">
                <a:solidFill>
                  <a:srgbClr val="97423E"/>
                </a:solidFill>
                <a:latin typeface="Aptos"/>
              </a:defRPr>
            </a:pPr>
            <a:r>
              <a:t>540 C</a:t>
            </a:r>
          </a:p>
        </p:txBody>
      </p:sp>
      <p:sp>
        <p:nvSpPr>
          <p:cNvPr id="19" name="TextBox 18"/>
          <p:cNvSpPr txBox="1"/>
          <p:nvPr/>
        </p:nvSpPr>
        <p:spPr>
          <a:xfrm>
            <a:off x="795528" y="5605272"/>
            <a:ext cx="1655063" cy="182880"/>
          </a:xfrm>
          <a:prstGeom prst="rect">
            <a:avLst/>
          </a:prstGeom>
          <a:noFill/>
        </p:spPr>
        <p:txBody>
          <a:bodyPr wrap="square">
            <a:spAutoFit/>
          </a:bodyPr>
          <a:lstStyle/>
          <a:p>
            <a:pPr algn="ctr">
              <a:defRPr sz="700" b="0">
                <a:solidFill>
                  <a:srgbClr val="745852"/>
                </a:solidFill>
                <a:latin typeface="Aptos"/>
              </a:defRPr>
            </a:pPr>
            <a:r>
              <a:t>A356 part</a:t>
            </a:r>
          </a:p>
        </p:txBody>
      </p:sp>
      <p:sp>
        <p:nvSpPr>
          <p:cNvPr id="20" name="Rectangle 19"/>
          <p:cNvSpPr/>
          <p:nvPr/>
        </p:nvSpPr>
        <p:spPr>
          <a:xfrm>
            <a:off x="2743200" y="4892040"/>
            <a:ext cx="1874519" cy="960120"/>
          </a:xfrm>
          <a:prstGeom prst="rect">
            <a:avLst/>
          </a:prstGeom>
          <a:solidFill>
            <a:srgbClr val="FFEBE5"/>
          </a:solidFill>
          <a:ln>
            <a:solidFill>
              <a:srgbClr val="EBCA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852928" y="5001768"/>
            <a:ext cx="1655063" cy="182880"/>
          </a:xfrm>
          <a:prstGeom prst="rect">
            <a:avLst/>
          </a:prstGeom>
          <a:noFill/>
        </p:spPr>
        <p:txBody>
          <a:bodyPr wrap="square">
            <a:spAutoFit/>
          </a:bodyPr>
          <a:lstStyle/>
          <a:p>
            <a:pPr algn="ctr">
              <a:defRPr sz="800" b="1">
                <a:solidFill>
                  <a:srgbClr val="745852"/>
                </a:solidFill>
                <a:latin typeface="Aptos"/>
              </a:defRPr>
            </a:pPr>
            <a:r>
              <a:t>Water bath</a:t>
            </a:r>
          </a:p>
        </p:txBody>
      </p:sp>
      <p:sp>
        <p:nvSpPr>
          <p:cNvPr id="22" name="TextBox 21"/>
          <p:cNvSpPr txBox="1"/>
          <p:nvPr/>
        </p:nvSpPr>
        <p:spPr>
          <a:xfrm>
            <a:off x="2852928" y="5221224"/>
            <a:ext cx="1655063" cy="310896"/>
          </a:xfrm>
          <a:prstGeom prst="rect">
            <a:avLst/>
          </a:prstGeom>
          <a:noFill/>
        </p:spPr>
        <p:txBody>
          <a:bodyPr wrap="square">
            <a:spAutoFit/>
          </a:bodyPr>
          <a:lstStyle/>
          <a:p>
            <a:pPr algn="ctr">
              <a:defRPr sz="1500" b="1">
                <a:solidFill>
                  <a:srgbClr val="97423E"/>
                </a:solidFill>
                <a:latin typeface="Aptos"/>
              </a:defRPr>
            </a:pPr>
            <a:r>
              <a:t>20 C</a:t>
            </a:r>
          </a:p>
        </p:txBody>
      </p:sp>
      <p:sp>
        <p:nvSpPr>
          <p:cNvPr id="23" name="TextBox 22"/>
          <p:cNvSpPr txBox="1"/>
          <p:nvPr/>
        </p:nvSpPr>
        <p:spPr>
          <a:xfrm>
            <a:off x="2852928" y="5605272"/>
            <a:ext cx="1655063" cy="182880"/>
          </a:xfrm>
          <a:prstGeom prst="rect">
            <a:avLst/>
          </a:prstGeom>
          <a:noFill/>
        </p:spPr>
        <p:txBody>
          <a:bodyPr wrap="square">
            <a:spAutoFit/>
          </a:bodyPr>
          <a:lstStyle/>
          <a:p>
            <a:pPr algn="ctr">
              <a:defRPr sz="700" b="0">
                <a:solidFill>
                  <a:srgbClr val="745852"/>
                </a:solidFill>
                <a:latin typeface="Aptos"/>
              </a:defRPr>
            </a:pPr>
            <a:r>
              <a:t>quench medium</a:t>
            </a:r>
          </a:p>
        </p:txBody>
      </p:sp>
      <p:sp>
        <p:nvSpPr>
          <p:cNvPr id="24" name="Rectangle 23"/>
          <p:cNvSpPr/>
          <p:nvPr/>
        </p:nvSpPr>
        <p:spPr>
          <a:xfrm>
            <a:off x="4800600" y="4892040"/>
            <a:ext cx="1874519" cy="960120"/>
          </a:xfrm>
          <a:prstGeom prst="rect">
            <a:avLst/>
          </a:prstGeom>
          <a:solidFill>
            <a:srgbClr val="FFEBE5"/>
          </a:solidFill>
          <a:ln>
            <a:solidFill>
              <a:srgbClr val="EBCA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910328" y="5001768"/>
            <a:ext cx="1655063" cy="182880"/>
          </a:xfrm>
          <a:prstGeom prst="rect">
            <a:avLst/>
          </a:prstGeom>
          <a:noFill/>
        </p:spPr>
        <p:txBody>
          <a:bodyPr wrap="square">
            <a:spAutoFit/>
          </a:bodyPr>
          <a:lstStyle/>
          <a:p>
            <a:pPr algn="ctr">
              <a:defRPr sz="800" b="1">
                <a:solidFill>
                  <a:srgbClr val="745852"/>
                </a:solidFill>
                <a:latin typeface="Aptos"/>
              </a:defRPr>
            </a:pPr>
            <a:r>
              <a:t>Simulation time</a:t>
            </a:r>
          </a:p>
        </p:txBody>
      </p:sp>
      <p:sp>
        <p:nvSpPr>
          <p:cNvPr id="26" name="TextBox 25"/>
          <p:cNvSpPr txBox="1"/>
          <p:nvPr/>
        </p:nvSpPr>
        <p:spPr>
          <a:xfrm>
            <a:off x="4910328" y="5221224"/>
            <a:ext cx="1655063" cy="310896"/>
          </a:xfrm>
          <a:prstGeom prst="rect">
            <a:avLst/>
          </a:prstGeom>
          <a:noFill/>
        </p:spPr>
        <p:txBody>
          <a:bodyPr wrap="square">
            <a:spAutoFit/>
          </a:bodyPr>
          <a:lstStyle/>
          <a:p>
            <a:pPr algn="ctr">
              <a:defRPr sz="1500" b="1">
                <a:solidFill>
                  <a:srgbClr val="97423E"/>
                </a:solidFill>
                <a:latin typeface="Aptos"/>
              </a:defRPr>
            </a:pPr>
            <a:r>
              <a:t>30 s</a:t>
            </a:r>
          </a:p>
        </p:txBody>
      </p:sp>
      <p:sp>
        <p:nvSpPr>
          <p:cNvPr id="27" name="TextBox 26"/>
          <p:cNvSpPr txBox="1"/>
          <p:nvPr/>
        </p:nvSpPr>
        <p:spPr>
          <a:xfrm>
            <a:off x="4910328" y="5605272"/>
            <a:ext cx="1655063" cy="182880"/>
          </a:xfrm>
          <a:prstGeom prst="rect">
            <a:avLst/>
          </a:prstGeom>
          <a:noFill/>
        </p:spPr>
        <p:txBody>
          <a:bodyPr wrap="square">
            <a:spAutoFit/>
          </a:bodyPr>
          <a:lstStyle/>
          <a:p>
            <a:pPr algn="ctr">
              <a:defRPr sz="700" b="0">
                <a:solidFill>
                  <a:srgbClr val="745852"/>
                </a:solidFill>
                <a:latin typeface="Aptos"/>
              </a:defRPr>
            </a:pPr>
            <a:r>
              <a:t>transient cooling</a:t>
            </a:r>
          </a:p>
        </p:txBody>
      </p:sp>
      <p:sp>
        <p:nvSpPr>
          <p:cNvPr id="28" name="Rectangle 27"/>
          <p:cNvSpPr/>
          <p:nvPr/>
        </p:nvSpPr>
        <p:spPr>
          <a:xfrm>
            <a:off x="6858000" y="4892040"/>
            <a:ext cx="1874519" cy="960120"/>
          </a:xfrm>
          <a:prstGeom prst="rect">
            <a:avLst/>
          </a:prstGeom>
          <a:solidFill>
            <a:srgbClr val="FFEBE5"/>
          </a:solidFill>
          <a:ln>
            <a:solidFill>
              <a:srgbClr val="EBCA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967728" y="5001768"/>
            <a:ext cx="1655063" cy="182880"/>
          </a:xfrm>
          <a:prstGeom prst="rect">
            <a:avLst/>
          </a:prstGeom>
          <a:noFill/>
        </p:spPr>
        <p:txBody>
          <a:bodyPr wrap="square">
            <a:spAutoFit/>
          </a:bodyPr>
          <a:lstStyle/>
          <a:p>
            <a:pPr algn="ctr">
              <a:defRPr sz="800" b="1">
                <a:solidFill>
                  <a:srgbClr val="745852"/>
                </a:solidFill>
                <a:latin typeface="Aptos"/>
              </a:defRPr>
            </a:pPr>
            <a:r>
              <a:t>2D h</a:t>
            </a:r>
          </a:p>
        </p:txBody>
      </p:sp>
      <p:sp>
        <p:nvSpPr>
          <p:cNvPr id="31" name="TextBox 30"/>
          <p:cNvSpPr txBox="1"/>
          <p:nvPr/>
        </p:nvSpPr>
        <p:spPr>
          <a:xfrm>
            <a:off x="6967728" y="5605272"/>
            <a:ext cx="1655063" cy="182880"/>
          </a:xfrm>
          <a:prstGeom prst="rect">
            <a:avLst/>
          </a:prstGeom>
          <a:noFill/>
        </p:spPr>
        <p:txBody>
          <a:bodyPr wrap="square">
            <a:spAutoFit/>
          </a:bodyPr>
          <a:lstStyle/>
          <a:p>
            <a:pPr algn="ctr">
              <a:defRPr sz="700" b="0">
                <a:solidFill>
                  <a:srgbClr val="745852"/>
                </a:solidFill>
                <a:latin typeface="Aptos"/>
              </a:defRPr>
            </a:pPr>
            <a:r>
              <a:t>W/(m2K)</a:t>
            </a:r>
          </a:p>
        </p:txBody>
      </p:sp>
      <p:sp>
        <p:nvSpPr>
          <p:cNvPr id="32" name="Rectangle 31"/>
          <p:cNvSpPr/>
          <p:nvPr/>
        </p:nvSpPr>
        <p:spPr>
          <a:xfrm>
            <a:off x="8915400" y="4892040"/>
            <a:ext cx="1874519" cy="960120"/>
          </a:xfrm>
          <a:prstGeom prst="rect">
            <a:avLst/>
          </a:prstGeom>
          <a:solidFill>
            <a:srgbClr val="FFEBE5"/>
          </a:solidFill>
          <a:ln>
            <a:solidFill>
              <a:srgbClr val="EBCA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025128" y="5001768"/>
            <a:ext cx="1655063" cy="182880"/>
          </a:xfrm>
          <a:prstGeom prst="rect">
            <a:avLst/>
          </a:prstGeom>
          <a:noFill/>
        </p:spPr>
        <p:txBody>
          <a:bodyPr wrap="square">
            <a:spAutoFit/>
          </a:bodyPr>
          <a:lstStyle/>
          <a:p>
            <a:pPr algn="ctr">
              <a:defRPr sz="800" b="1">
                <a:solidFill>
                  <a:srgbClr val="745852"/>
                </a:solidFill>
                <a:latin typeface="Aptos"/>
              </a:defRPr>
            </a:pPr>
            <a:r>
              <a:t>3D/Fin h</a:t>
            </a:r>
          </a:p>
        </p:txBody>
      </p:sp>
      <p:sp>
        <p:nvSpPr>
          <p:cNvPr id="35" name="TextBox 34"/>
          <p:cNvSpPr txBox="1"/>
          <p:nvPr/>
        </p:nvSpPr>
        <p:spPr>
          <a:xfrm>
            <a:off x="9025128" y="5605272"/>
            <a:ext cx="1655063" cy="182880"/>
          </a:xfrm>
          <a:prstGeom prst="rect">
            <a:avLst/>
          </a:prstGeom>
          <a:noFill/>
        </p:spPr>
        <p:txBody>
          <a:bodyPr wrap="square">
            <a:spAutoFit/>
          </a:bodyPr>
          <a:lstStyle/>
          <a:p>
            <a:pPr algn="ctr">
              <a:defRPr sz="700" b="0">
                <a:solidFill>
                  <a:srgbClr val="745852"/>
                </a:solidFill>
                <a:latin typeface="Aptos"/>
              </a:defRPr>
            </a:pPr>
            <a:r>
              <a:t>W/(m2K)</a:t>
            </a:r>
          </a:p>
        </p:txBody>
      </p:sp>
      <p:sp>
        <p:nvSpPr>
          <p:cNvPr id="36" name="Rectangle 35"/>
          <p:cNvSpPr/>
          <p:nvPr/>
        </p:nvSpPr>
        <p:spPr>
          <a:xfrm>
            <a:off x="0" y="0"/>
            <a:ext cx="12191695" cy="91440"/>
          </a:xfrm>
          <a:prstGeom prst="rect">
            <a:avLst/>
          </a:prstGeom>
          <a:solidFill>
            <a:srgbClr val="B82025"/>
          </a:solidFill>
          <a:ln>
            <a:solidFill>
              <a:srgbClr val="B820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02920" y="228600"/>
            <a:ext cx="9601200" cy="411480"/>
          </a:xfrm>
          <a:prstGeom prst="rect">
            <a:avLst/>
          </a:prstGeom>
          <a:noFill/>
        </p:spPr>
        <p:txBody>
          <a:bodyPr wrap="square">
            <a:normAutofit/>
          </a:bodyPr>
          <a:lstStyle/>
          <a:p>
            <a:r>
              <a:rPr sz="2000" b="1">
                <a:solidFill>
                  <a:srgbClr val="1C232B"/>
                </a:solidFill>
                <a:latin typeface="Arial"/>
              </a:rPr>
              <a:t>Intro: From the Reference Paper to This Thesis</a:t>
            </a:r>
          </a:p>
        </p:txBody>
      </p:sp>
      <p:sp>
        <p:nvSpPr>
          <p:cNvPr id="38" name="TextBox 37"/>
          <p:cNvSpPr txBox="1"/>
          <p:nvPr/>
        </p:nvSpPr>
        <p:spPr>
          <a:xfrm>
            <a:off x="530352" y="713232"/>
            <a:ext cx="3840480" cy="182880"/>
          </a:xfrm>
          <a:prstGeom prst="rect">
            <a:avLst/>
          </a:prstGeom>
          <a:noFill/>
        </p:spPr>
        <p:txBody>
          <a:bodyPr wrap="square">
            <a:normAutofit/>
          </a:bodyPr>
          <a:lstStyle/>
          <a:p>
            <a:r>
              <a:rPr sz="850" b="1">
                <a:solidFill>
                  <a:srgbClr val="B82025"/>
                </a:solidFill>
                <a:latin typeface="Arial"/>
              </a:rPr>
              <a:t>INTRODUCTION</a:t>
            </a:r>
          </a:p>
        </p:txBody>
      </p:sp>
      <p:sp>
        <p:nvSpPr>
          <p:cNvPr id="39" name="Rectangle 38"/>
          <p:cNvSpPr/>
          <p:nvPr/>
        </p:nvSpPr>
        <p:spPr>
          <a:xfrm>
            <a:off x="502920" y="6364224"/>
            <a:ext cx="11155680" cy="9144"/>
          </a:xfrm>
          <a:prstGeom prst="rect">
            <a:avLst/>
          </a:prstGeom>
          <a:solidFill>
            <a:srgbClr val="DCDCDC"/>
          </a:solidFill>
          <a:ln>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02920" y="6428232"/>
            <a:ext cx="2286000" cy="201168"/>
          </a:xfrm>
          <a:prstGeom prst="rect">
            <a:avLst/>
          </a:prstGeom>
          <a:noFill/>
        </p:spPr>
        <p:txBody>
          <a:bodyPr wrap="square">
            <a:normAutofit/>
          </a:bodyPr>
          <a:lstStyle/>
          <a:p>
            <a:r>
              <a:rPr sz="850" b="1">
                <a:solidFill>
                  <a:srgbClr val="B82025"/>
                </a:solidFill>
                <a:latin typeface="Arial"/>
              </a:rPr>
              <a:t>UiA | University of Agder</a:t>
            </a:r>
          </a:p>
        </p:txBody>
      </p:sp>
      <p:sp>
        <p:nvSpPr>
          <p:cNvPr id="41" name="TextBox 40"/>
          <p:cNvSpPr txBox="1"/>
          <p:nvPr/>
        </p:nvSpPr>
        <p:spPr>
          <a:xfrm>
            <a:off x="2788920" y="6428232"/>
            <a:ext cx="2743200" cy="201168"/>
          </a:xfrm>
          <a:prstGeom prst="rect">
            <a:avLst/>
          </a:prstGeom>
          <a:noFill/>
        </p:spPr>
        <p:txBody>
          <a:bodyPr wrap="square">
            <a:normAutofit/>
          </a:bodyPr>
          <a:lstStyle/>
          <a:p>
            <a:r>
              <a:rPr sz="850" b="0">
                <a:solidFill>
                  <a:srgbClr val="646C75"/>
                </a:solidFill>
                <a:latin typeface="Arial"/>
              </a:rPr>
              <a:t>Master Thesis Defense</a:t>
            </a:r>
          </a:p>
        </p:txBody>
      </p:sp>
      <p:sp>
        <p:nvSpPr>
          <p:cNvPr id="42" name="TextBox 41"/>
          <p:cNvSpPr txBox="1"/>
          <p:nvPr/>
        </p:nvSpPr>
        <p:spPr>
          <a:xfrm>
            <a:off x="11247120" y="6428232"/>
            <a:ext cx="457200" cy="201168"/>
          </a:xfrm>
          <a:prstGeom prst="rect">
            <a:avLst/>
          </a:prstGeom>
          <a:noFill/>
        </p:spPr>
        <p:txBody>
          <a:bodyPr wrap="square">
            <a:normAutofit/>
          </a:bodyPr>
          <a:lstStyle/>
          <a:p>
            <a:pPr algn="r"/>
            <a:r>
              <a:rPr sz="850" b="0">
                <a:solidFill>
                  <a:srgbClr val="646C75"/>
                </a:solidFill>
                <a:latin typeface="Arial"/>
              </a:rPr>
              <a:t>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