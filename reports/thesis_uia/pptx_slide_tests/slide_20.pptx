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52" r:id="rId_B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_B3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2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from"/>
          <p:cNvSpPr>
            <a:spLocks noGrp="1"/>
          </p:cNvSpPr>
          <p:nvPr/>
        </p:nvSpPr>
        <p:spPr>
          <a:xfrm>
            <a:off x="457200" y="2400000"/>
            <a:ext cx="2800000" cy="800000"/>
          </a:xfrm>
          <a:prstGeom prst="rect">
            <a:avLst/>
          </a:prstGeom>
          <a:solidFill>
            <a:srgbClr val="6B1515"/>
          </a:solidFill>
          <a:ln>
            <a:solidFill>
              <a:srgbClr val="F5DCDC"/>
            </a:solidFill>
            <a:d w="12700"/>
          </a:ln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F5DCDC"/>
                </a:solidFill>
                <a:latin typeface="Aptos"/>
              </a:rPr>
              <a:t>NAS-PINN</a:t>
            </a:r>
          </a:p>
        </p:txBody>
      </p:sp>
      <p:sp>
        <p:nvSpPr>
          <p:cNvPr id="4" name="arrow"/>
          <p:cNvSpPr>
            <a:spLocks noGrp="1"/>
          </p:cNvSpPr>
          <p:nvPr/>
        </p:nvSpPr>
        <p:spPr>
          <a:xfrm>
            <a:off x="3400000" y="2600000"/>
            <a:ext cx="1000000" cy="4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3600" b="0" dirty="0">
                <a:solidFill>
                  <a:srgbClr val="FFE8B0"/>
                </a:solidFill>
                <a:latin typeface="Aptos"/>
              </a:rPr>
              <a:t>→</a:t>
            </a:r>
          </a:p>
        </p:txBody>
      </p:sp>
      <p:sp>
        <p:nvSpPr>
          <p:cNvPr id="5" name="to"/>
          <p:cNvSpPr>
            <a:spLocks noGrp="1"/>
          </p:cNvSpPr>
          <p:nvPr/>
        </p:nvSpPr>
        <p:spPr>
          <a:xfrm>
            <a:off x="4600000" y="2400000"/>
            <a:ext cx="3200000" cy="800000"/>
          </a:xfrm>
          <a:prstGeom prst="rect">
            <a:avLst/>
          </a:prstGeom>
          <a:solidFill>
            <a:srgbClr val="FFFFFF"/>
          </a:solidFill>
          <a:ln>
            <a:solidFill>
              <a:srgbClr val="8B2020"/>
            </a:solidFill>
            <a:d w="19050"/>
          </a:ln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8B2020"/>
                </a:solidFill>
                <a:latin typeface="Aptos"/>
              </a:rPr>
              <a:t>MSWP</a:t>
            </a:r>
          </a:p>
        </p:txBody>
      </p:sp>
      <p:sp>
        <p:nvSpPr>
          <p:cNvPr id="6" name="sub"/>
          <p:cNvSpPr>
            <a:spLocks noGrp="1"/>
          </p:cNvSpPr>
          <p:nvPr/>
        </p:nvSpPr>
        <p:spPr>
          <a:xfrm>
            <a:off x="914400" y="3500000"/>
            <a:ext cx="7500000" cy="6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600" b="0" i="1" dirty="0">
                <a:solidFill>
                  <a:srgbClr val="FFE8B0"/>
                </a:solidFill>
                <a:latin typeface="Aptos"/>
              </a:rPr>
              <a:t>We have the architecture. Now: how do FEM + NAS-PINN work together?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NAS-PINN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