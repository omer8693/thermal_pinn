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63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9728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2422"/>
                </a:solidFill>
                <a:latin typeface="Aptos"/>
              </a:defRPr>
            </a:pPr>
            <a:r>
              <a:t>Mortensen, D., Noorsumar, G., Fjaer, H. G., Babaei, R., &amp; Dronen, P. E. (2026). Mitigating distortions in cast automotive subframes: A finite element simulation approach. The International Journal of Advanced Manufacturing Technology, 142, 5879-5898.</a:t>
            </a:r>
          </a:p>
          <a:p>
            <a:pPr>
              <a:spcAft>
                <a:spcPts val="300"/>
              </a:spcAft>
              <a:defRPr sz="1100">
                <a:solidFill>
                  <a:srgbClr val="302422"/>
                </a:solidFill>
                <a:latin typeface="Aptos"/>
              </a:defRPr>
            </a:pPr>
            <a:r>
              <a:t>Wang, Y., &amp; Zhong, L. (2024). NAS-PINN: Neural architecture search-guided physics-informed neural network for solving PDEs. Journal of Computational Physics, 496, 112603.</a:t>
            </a:r>
          </a:p>
          <a:p>
            <a:pPr>
              <a:spcAft>
                <a:spcPts val="300"/>
              </a:spcAft>
              <a:defRPr sz="1100">
                <a:solidFill>
                  <a:srgbClr val="302422"/>
                </a:solidFill>
                <a:latin typeface="Aptos"/>
              </a:defRPr>
            </a:pPr>
            <a:r>
              <a:t>Raissi, M., Perdikaris, P., &amp; Karniadakis, G. E. (2019). Physics-informed neural networks. Journal of Computational Physics, 378, 686-707.</a:t>
            </a:r>
          </a:p>
          <a:p>
            <a:pPr>
              <a:spcAft>
                <a:spcPts val="300"/>
              </a:spcAft>
              <a:defRPr sz="1100">
                <a:solidFill>
                  <a:srgbClr val="302422"/>
                </a:solidFill>
                <a:latin typeface="Aptos"/>
              </a:defRPr>
            </a:pPr>
            <a:r>
              <a:t>Deb, K. et al. (2002). A fast and elitist multiobjective genetic algorithm: NSGA-II. IEEE Transactions on Evolutionary Computation.</a:t>
            </a:r>
          </a:p>
          <a:p>
            <a:pPr>
              <a:spcAft>
                <a:spcPts val="300"/>
              </a:spcAft>
              <a:defRPr sz="1100">
                <a:solidFill>
                  <a:srgbClr val="302422"/>
                </a:solidFill>
                <a:latin typeface="Aptos"/>
              </a:defRPr>
            </a:pPr>
            <a:r>
              <a:t>Deb, K., &amp; Jain, H. (2014). An evolutionary many-objective optimization algorithm using reference-point-based nondominated sorting: NSGA-III. IEEE Transactions on Evolutionary Computation.</a:t>
            </a:r>
          </a:p>
          <a:p>
            <a:pPr>
              <a:spcAft>
                <a:spcPts val="300"/>
              </a:spcAft>
              <a:defRPr sz="1100">
                <a:solidFill>
                  <a:srgbClr val="302422"/>
                </a:solidFill>
                <a:latin typeface="Aptos"/>
              </a:defRPr>
            </a:pPr>
            <a:r>
              <a:t>Akiba, T. et al. (2019). Optuna: A next-generation hyperparameter optimization framework. KDD.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