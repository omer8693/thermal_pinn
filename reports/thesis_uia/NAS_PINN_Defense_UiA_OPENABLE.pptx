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" Type="http://schemas.openxmlformats.org/officeDocument/2006/relationships/presProps" Target="presProps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" Type="http://schemas.openxmlformats.org/officeDocument/2006/relationships/viewProps" Target="viewProps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" Type="http://schemas.openxmlformats.org/officeDocument/2006/relationships/theme" Target="theme/theme1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411480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400" b="1">
                <a:solidFill>
                  <a:srgbClr val="FFFFFF"/>
                </a:solidFill>
                <a:latin typeface="Arial"/>
              </a:rPr>
              <a:t>UiA | University of Agder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27632"/>
            <a:ext cx="1078992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2800" b="1">
                <a:solidFill>
                  <a:srgbClr val="1C232B"/>
                </a:solidFill>
                <a:latin typeface="Arial"/>
              </a:rPr>
              <a:t>NAS-Guided FEM-Anchored PINNs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240280"/>
            <a:ext cx="105156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550" b="1">
                <a:solidFill>
                  <a:srgbClr val="B82025"/>
                </a:solidFill>
                <a:latin typeface="Arial"/>
              </a:rPr>
              <a:t>Multi-Step Window Prediction for Transient A356 Water Quenching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816352"/>
            <a:ext cx="10241280" cy="42062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450" b="0">
                <a:solidFill>
                  <a:srgbClr val="1C232B"/>
                </a:solidFill>
                <a:latin typeface="Arial"/>
              </a:rPr>
              <a:t>Step Optimization in Thermal Simulation Using Selective Finite Element Method Step Skipping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4069080"/>
            <a:ext cx="77724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350" b="1">
                <a:solidFill>
                  <a:srgbClr val="1C232B"/>
                </a:solidFill>
                <a:latin typeface="Arial"/>
              </a:rPr>
              <a:t>Omer Cetinkaya | University of Agder |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443984"/>
            <a:ext cx="777240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150" b="0">
                <a:solidFill>
                  <a:srgbClr val="646C75"/>
                </a:solidFill>
                <a:latin typeface="Arial"/>
              </a:rPr>
              <a:t>Supervisor: Prof. Turgay Celik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6428232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219456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6473952"/>
            <a:ext cx="27432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473952"/>
            <a:ext cx="5029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760" b="0">
                <a:solidFill>
                  <a:srgbClr val="646C75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800" b="1">
                <a:solidFill>
                  <a:srgbClr val="1C232B"/>
                </a:solidFill>
                <a:latin typeface="Arial"/>
              </a:rPr>
              <a:t>Presentation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43891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1">
                <a:solidFill>
                  <a:srgbClr val="B82025"/>
                </a:solidFill>
                <a:latin typeface="Arial"/>
              </a:rPr>
              <a:t>INTRODUCTION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19456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73952"/>
            <a:ext cx="27432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5029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760" b="0">
                <a:solidFill>
                  <a:srgbClr val="646C75"/>
                </a:solidFill>
                <a:latin typeface="Arial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143000"/>
            <a:ext cx="3337560" cy="507492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325880"/>
            <a:ext cx="28346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15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664208"/>
            <a:ext cx="2788920" cy="425196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1010">
                <a:solidFill>
                  <a:srgbClr val="1C232B"/>
                </a:solidFill>
                <a:latin typeface="Arial"/>
              </a:rPr>
              <a:t>- The talk moves from problem to evidence.</a:t>
            </a:r>
          </a:p>
          <a:p>
            <a:pPr>
              <a:spcAft>
                <a:spcPts val="100"/>
              </a:spcAft>
            </a:pPr>
            <a:r>
              <a:rPr sz="1010">
                <a:solidFill>
                  <a:srgbClr val="1C232B"/>
                </a:solidFill>
                <a:latin typeface="Arial"/>
              </a:rPr>
              <a:t>- First: theory and method. Then: benchmarks and results.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69080" y="1143000"/>
            <a:ext cx="7406640" cy="5074920"/>
          </a:xfrm>
          <a:prstGeom prst="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371600"/>
            <a:ext cx="6858000" cy="457200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Intro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Why this problem · what we built · how we test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Theory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Heat equation · FEM · PINN · NAS-PINN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Method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How FEM works · How NAS-PINN works · How MSWP works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Results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- 2D · 3D · Thermal Fin · MAE and FEM saving numbers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450" b="1">
                <a:solidFill>
                  <a:srgbClr val="1C232B"/>
                </a:solidFill>
                <a:latin typeface="Arial"/>
              </a:rPr>
              <a:t>The project begins with an industrial A356 aluminium quenching problem and asks whether Finite Element Method (FEM) time-step calls can be reduced without losing useful temperature accuracy.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43891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1">
                <a:solidFill>
                  <a:srgbClr val="B82025"/>
                </a:solidFill>
                <a:latin typeface="Arial"/>
              </a:rPr>
              <a:t>INTRODUCTION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19456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73952"/>
            <a:ext cx="27432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5029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760" b="0">
                <a:solidFill>
                  <a:srgbClr val="646C75"/>
                </a:solidFill>
                <a:latin typeface="Arial"/>
              </a:rP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143000"/>
            <a:ext cx="3337560" cy="507492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325880"/>
            <a:ext cx="28346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15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664208"/>
            <a:ext cx="2788920" cy="425196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1010">
                <a:solidFill>
                  <a:srgbClr val="1C232B"/>
                </a:solidFill>
                <a:latin typeface="Arial"/>
              </a:rPr>
              <a:t>- We simulate water quenching of hot A356 aluminium.</a:t>
            </a:r>
          </a:p>
          <a:p>
            <a:pPr>
              <a:spcAft>
                <a:spcPts val="100"/>
              </a:spcAft>
            </a:pPr>
            <a:r>
              <a:rPr sz="1010">
                <a:solidFill>
                  <a:srgbClr val="1C232B"/>
                </a:solidFill>
                <a:latin typeface="Arial"/>
              </a:rPr>
              <a:t>- The goal is to reduce repeated FEM work with anchors.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69080" y="1143000"/>
            <a:ext cx="7406640" cy="5074920"/>
          </a:xfrm>
          <a:prstGeom prst="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371600"/>
            <a:ext cx="6858000" cy="457200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The project begins with an industrial A356 aluminium quenching problem and asks whether Finite Element Method (FEM) time-step calls can be reduced without losing useful temperature accuracy.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Reference paper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The reference study models water quenching of cast A356 automotive subframes. Its FEM simulation gives the industrial motivation: temperature gradients during quenching drive distortion.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Our approach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We keep the same physical process setting, but test a different route: FEM provides anchor snapshots and NAS-PINN predicts selected intermediate windows.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Validation path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Because the real industrial data arrived late, the workflow starts with controlled surrogate geometries and then moves toward more complex 3D and Thermal Fin benchmarks.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Material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800" b="1">
                <a:solidFill>
                  <a:srgbClr val="1C232B"/>
                </a:solidFill>
                <a:latin typeface="Arial"/>
              </a:rPr>
              <a:t>What is A356 aluminium? - T6 heat treatment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43891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1">
                <a:solidFill>
                  <a:srgbClr val="B82025"/>
                </a:solidFill>
                <a:latin typeface="Arial"/>
              </a:rPr>
              <a:t>INTRODUCTION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19456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73952"/>
            <a:ext cx="27432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5029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760" b="0">
                <a:solidFill>
                  <a:srgbClr val="646C75"/>
                </a:solidFill>
                <a:latin typeface="Arial"/>
              </a:rP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143000"/>
            <a:ext cx="3337560" cy="507492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325880"/>
            <a:ext cx="28346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15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664208"/>
            <a:ext cx="2788920" cy="425196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1010">
                <a:solidFill>
                  <a:srgbClr val="1C232B"/>
                </a:solidFill>
                <a:latin typeface="Arial"/>
              </a:rPr>
              <a:t>- A356 is a cast aluminium alloy used in engineering parts.</a:t>
            </a:r>
          </a:p>
          <a:p>
            <a:pPr>
              <a:spcAft>
                <a:spcPts val="100"/>
              </a:spcAft>
            </a:pPr>
            <a:r>
              <a:rPr sz="1010">
                <a:solidFill>
                  <a:srgbClr val="1C232B"/>
                </a:solidFill>
                <a:latin typeface="Arial"/>
              </a:rPr>
              <a:t>- Quenching controls cooling history after heat treatment.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69080" y="1143000"/>
            <a:ext cx="7406640" cy="5074920"/>
          </a:xfrm>
          <a:prstGeom prst="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371600"/>
            <a:ext cx="6858000" cy="457200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A356 aluminium A356 is an aluminium-silicon casting alloy. It is common in cast automotive parts because it is light and has useful mechanical properties.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Water quenching After heating, the hot part is cooled quickly in water. This fast cooling changes the temperature field inside the part.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Why simulation is needed Fast cooling can create strong temperature gradients. These gradients can cause distortion and residual stress.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Connection to this thesis Mortensen et al. (2026) use FEM for A356 automotive subframe quenching. This thesis uses that industrial problem as motivation for FEM-step reduction.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Source: Mortensen et al. (2026), finite element simulation of water quenching in cast A356 automotive subframes.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450" b="1">
                <a:solidFill>
                  <a:srgbClr val="1C232B"/>
                </a:solidFill>
                <a:latin typeface="Arial"/>
              </a:rPr>
              <a:t>We follow the industrial quenching problem from the reference paper, then test whether FEM time-step calls can be reduced with a FEM-anchored NAS-PINN strategy.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43891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1">
                <a:solidFill>
                  <a:srgbClr val="B82025"/>
                </a:solidFill>
                <a:latin typeface="Arial"/>
              </a:rPr>
              <a:t>INTRODUCTION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19456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73952"/>
            <a:ext cx="27432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5029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760" b="0">
                <a:solidFill>
                  <a:srgbClr val="646C75"/>
                </a:solidFill>
                <a:latin typeface="Arial"/>
              </a:rPr>
              <a:t>5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4085" y="1197864"/>
            <a:ext cx="6213348" cy="414223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40080" y="5541264"/>
            <a:ext cx="10881360" cy="694944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5650992"/>
            <a:ext cx="123444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980" b="1">
                <a:solidFill>
                  <a:srgbClr val="B82025"/>
                </a:solidFill>
                <a:latin typeface="Arial"/>
              </a:rPr>
              <a:t>Reading 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5614416"/>
            <a:ext cx="9144000" cy="438912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890">
                <a:solidFill>
                  <a:srgbClr val="1C232B"/>
                </a:solidFill>
                <a:latin typeface="Arial"/>
              </a:rPr>
              <a:t>- The reference paper gives the FEM-quenching background.</a:t>
            </a:r>
          </a:p>
          <a:p>
            <a:pPr>
              <a:spcAft>
                <a:spcPts val="100"/>
              </a:spcAft>
            </a:pPr>
            <a:r>
              <a:rPr sz="890">
                <a:solidFill>
                  <a:srgbClr val="1C232B"/>
                </a:solidFill>
                <a:latin typeface="Arial"/>
              </a:rPr>
              <a:t>- This thesis tests FEM-anchored NAS-PINN prediction.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800" b="1">
                <a:solidFill>
                  <a:srgbClr val="1C232B"/>
                </a:solidFill>
                <a:latin typeface="Arial"/>
              </a:rPr>
              <a:t>Table 3.1: what is taken from the reference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43891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1">
                <a:solidFill>
                  <a:srgbClr val="B82025"/>
                </a:solidFill>
                <a:latin typeface="Arial"/>
              </a:rPr>
              <a:t>INTRODUCTION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19456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73952"/>
            <a:ext cx="27432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5029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760" b="0">
                <a:solidFill>
                  <a:srgbClr val="646C75"/>
                </a:solidFill>
                <a:latin typeface="Arial"/>
              </a:rPr>
              <a:t>6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7352" y="1197864"/>
            <a:ext cx="3486815" cy="414223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40080" y="5541264"/>
            <a:ext cx="10881360" cy="694944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5650992"/>
            <a:ext cx="123444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980" b="1">
                <a:solidFill>
                  <a:srgbClr val="B82025"/>
                </a:solidFill>
                <a:latin typeface="Arial"/>
              </a:rPr>
              <a:t>Reading 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5614416"/>
            <a:ext cx="9144000" cy="438912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890">
                <a:solidFill>
                  <a:srgbClr val="1C232B"/>
                </a:solidFill>
                <a:latin typeface="Arial"/>
              </a:rPr>
              <a:t>- The table separates reference-paper inputs from thesis use.</a:t>
            </a:r>
          </a:p>
          <a:p>
            <a:pPr>
              <a:spcAft>
                <a:spcPts val="100"/>
              </a:spcAft>
            </a:pPr>
            <a:r>
              <a:rPr sz="890">
                <a:solidFill>
                  <a:srgbClr val="1C232B"/>
                </a:solidFill>
                <a:latin typeface="Arial"/>
              </a:rPr>
              <a:t>- FEM remains the trusted source; NAS-PINN predicts between anchors.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800" b="1">
                <a:solidFill>
                  <a:srgbClr val="1C232B"/>
                </a:solidFill>
                <a:latin typeface="Arial"/>
              </a:rPr>
              <a:t>Research Question and Contributions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43891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1">
                <a:solidFill>
                  <a:srgbClr val="B82025"/>
                </a:solidFill>
                <a:latin typeface="Arial"/>
              </a:rPr>
              <a:t>INTRODUCTION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19456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73952"/>
            <a:ext cx="27432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5029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760" b="0">
                <a:solidFill>
                  <a:srgbClr val="646C75"/>
                </a:solidFill>
                <a:latin typeface="Arial"/>
              </a:rPr>
              <a:t>7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143000"/>
            <a:ext cx="3337560" cy="507492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325880"/>
            <a:ext cx="28346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15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664208"/>
            <a:ext cx="2788920" cy="425196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1010">
                <a:solidFill>
                  <a:srgbClr val="1C232B"/>
                </a:solidFill>
                <a:latin typeface="Arial"/>
              </a:rPr>
              <a:t>- Main question: how many FEM calls can be skipped?</a:t>
            </a:r>
          </a:p>
          <a:p>
            <a:pPr>
              <a:spcAft>
                <a:spcPts val="100"/>
              </a:spcAft>
            </a:pPr>
            <a:r>
              <a:rPr sz="1010">
                <a:solidFill>
                  <a:srgbClr val="1C232B"/>
                </a:solidFill>
                <a:latin typeface="Arial"/>
              </a:rPr>
              <a:t>- The answer must balance FEM saving and useful accuracy.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69080" y="1143000"/>
            <a:ext cx="7406640" cy="5074920"/>
          </a:xfrm>
          <a:prstGeom prst="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371600"/>
            <a:ext cx="6858000" cy="457200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How many FEM solver calls can be replaced by PINN predictions while keeping temperature error within engineering limits?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We built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A FEM-anchored NAS-PINN framework that predicts intermediate thermal fields while FEM snapshots remain the correction source.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We tested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Fixed-k, adaptive-k and PINN-only modes were evaluated from simple 2D domains to complex 3D and Thermal Fin cases.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We measured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MAE, relative L2 error, skip-factor schedule and FEM-call reduction are reported together.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Error limits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450" b="1">
                <a:solidFill>
                  <a:srgbClr val="1C232B"/>
                </a:solidFill>
                <a:latin typeface="Arial"/>
              </a:rPr>
              <a:t>The whole framework is built on transient heat transfer during water quenching.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43891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1">
                <a:solidFill>
                  <a:srgbClr val="B82025"/>
                </a:solidFill>
                <a:latin typeface="Arial"/>
              </a:rPr>
              <a:t>THEORY AND FEM BACKGROUND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19456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73952"/>
            <a:ext cx="27432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5029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760" b="0">
                <a:solidFill>
                  <a:srgbClr val="646C75"/>
                </a:solidFill>
                <a:latin typeface="Arial"/>
              </a:rPr>
              <a:t>8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143000"/>
            <a:ext cx="3337560" cy="507492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325880"/>
            <a:ext cx="28346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15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664208"/>
            <a:ext cx="2788920" cy="425196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1010">
                <a:solidFill>
                  <a:srgbClr val="1C232B"/>
                </a:solidFill>
                <a:latin typeface="Arial"/>
              </a:rPr>
              <a:t>- FEM and PINN use the same heat-transfer physics.</a:t>
            </a:r>
          </a:p>
          <a:p>
            <a:pPr>
              <a:spcAft>
                <a:spcPts val="100"/>
              </a:spcAft>
            </a:pPr>
            <a:r>
              <a:rPr sz="1010">
                <a:solidFill>
                  <a:srgbClr val="1C232B"/>
                </a:solidFill>
                <a:latin typeface="Arial"/>
              </a:rPr>
              <a:t>- FEM solves it on a mesh; PINN uses it in the loss.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69080" y="1143000"/>
            <a:ext cx="7406640" cy="5074920"/>
          </a:xfrm>
          <a:prstGeom prst="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371600"/>
            <a:ext cx="6858000" cy="457200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The whole framework is built on transient heat transfer during water quenching.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Governing equation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rho cp dT/dt = div(kT grad T)  This describes how the temperature field evolves inside the solid part.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Boundary condition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-kT grad(T) . n = h (T - Tw)  This represents heat leaving the hot metal surface into the quench water.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Initial condition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T(x,0) = T0  In this thesis: T0 = 540 C and Tw = 20 C.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How Finite Element Method (FEM) uses 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450" b="1">
                <a:solidFill>
                  <a:srgbClr val="1C232B"/>
                </a:solidFill>
                <a:latin typeface="Arial"/>
              </a:rPr>
              <a:t>Finite Element Method (FEM), Physics-Informed Neural Network (PINN) and Neural Architecture Search PINN (NAS-PINN)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43891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1">
                <a:solidFill>
                  <a:srgbClr val="B82025"/>
                </a:solidFill>
                <a:latin typeface="Arial"/>
              </a:rPr>
              <a:t>THEORY AND FEM BACKGROUND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19456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73952"/>
            <a:ext cx="27432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5029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760" b="0">
                <a:solidFill>
                  <a:srgbClr val="646C75"/>
                </a:solidFill>
                <a:latin typeface="Arial"/>
              </a:rPr>
              <a:t>9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143000"/>
            <a:ext cx="3337560" cy="507492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325880"/>
            <a:ext cx="28346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15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664208"/>
            <a:ext cx="2788920" cy="425196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1010">
                <a:solidFill>
                  <a:srgbClr val="1C232B"/>
                </a:solidFill>
                <a:latin typeface="Arial"/>
              </a:rPr>
              <a:t>- FEM is the reliable reference.</a:t>
            </a:r>
          </a:p>
          <a:p>
            <a:pPr>
              <a:spcAft>
                <a:spcPts val="100"/>
              </a:spcAft>
            </a:pPr>
            <a:r>
              <a:rPr sz="1010">
                <a:solidFill>
                  <a:srgbClr val="1C232B"/>
                </a:solidFill>
                <a:latin typeface="Arial"/>
              </a:rPr>
              <a:t>- PINN predicts with physics loss; NAS-PINN searches the architecture.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69080" y="1143000"/>
            <a:ext cx="7406640" cy="5074920"/>
          </a:xfrm>
          <a:prstGeom prst="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371600"/>
            <a:ext cx="6858000" cy="457200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FEM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What is it? A numerical solver for the heat equation.  How we used it? It gives reliable anchor snapshots.  Key point: FEM is not removed.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PINN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What is it? A neural network for T(x,t).  How it learns? It uses data error + heat-equation error.  Key point: physics is inside the loss.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NAS-PINN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What is it? PINN + architecture search.  What is searched? Depth, width and activation.  Key point: we do not choose the network manually.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Defense message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We used FEM for trust, PINN for prediction, and NAS to choose a better neural architecture for different geometries.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800" b="1">
                <a:solidFill>
                  <a:srgbClr val="1C232B"/>
                </a:solidFill>
                <a:latin typeface="Arial"/>
              </a:rPr>
              <a:t>FEM Process: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43891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1">
                <a:solidFill>
                  <a:srgbClr val="B82025"/>
                </a:solidFill>
                <a:latin typeface="Arial"/>
              </a:rPr>
              <a:t>THEORY AND FEM BACKGROUND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19456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73952"/>
            <a:ext cx="27432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5029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760" b="0">
                <a:solidFill>
                  <a:srgbClr val="646C75"/>
                </a:solidFill>
                <a:latin typeface="Arial"/>
              </a:rPr>
              <a:t>10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4085" y="1197864"/>
            <a:ext cx="6213348" cy="414223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40080" y="5541264"/>
            <a:ext cx="10881360" cy="694944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5650992"/>
            <a:ext cx="123444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980" b="1">
                <a:solidFill>
                  <a:srgbClr val="B82025"/>
                </a:solidFill>
                <a:latin typeface="Arial"/>
              </a:rPr>
              <a:t>Reading 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5614416"/>
            <a:ext cx="9144000" cy="438912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890">
                <a:solidFill>
                  <a:srgbClr val="1C232B"/>
                </a:solidFill>
                <a:latin typeface="Arial"/>
              </a:rPr>
              <a:t>- FEM process: define physics, discretise, solve in time, save snapshots.</a:t>
            </a:r>
          </a:p>
          <a:p>
            <a:pPr>
              <a:spcAft>
                <a:spcPts val="100"/>
              </a:spcAft>
            </a:pPr>
            <a:r>
              <a:rPr sz="890">
                <a:solidFill>
                  <a:srgbClr val="1C232B"/>
                </a:solidFill>
                <a:latin typeface="Arial"/>
              </a:rPr>
              <a:t>- These snapshots become trusted anchors for the thesis.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800" b="1">
                <a:solidFill>
                  <a:srgbClr val="1C232B"/>
                </a:solidFill>
                <a:latin typeface="Arial"/>
              </a:rPr>
              <a:t>FEM Solver and Mesh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43891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1">
                <a:solidFill>
                  <a:srgbClr val="B82025"/>
                </a:solidFill>
                <a:latin typeface="Arial"/>
              </a:rPr>
              <a:t>THEORY AND FEM BACKGROUND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19456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73952"/>
            <a:ext cx="27432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5029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760" b="0">
                <a:solidFill>
                  <a:srgbClr val="646C75"/>
                </a:solidFill>
                <a:latin typeface="Arial"/>
              </a:rPr>
              <a:t>11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2298" y="1197864"/>
            <a:ext cx="5076923" cy="414223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40080" y="5541264"/>
            <a:ext cx="10881360" cy="694944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5650992"/>
            <a:ext cx="123444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980" b="1">
                <a:solidFill>
                  <a:srgbClr val="B82025"/>
                </a:solidFill>
                <a:latin typeface="Arial"/>
              </a:rPr>
              <a:t>Reading 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5614416"/>
            <a:ext cx="9144000" cy="438912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890">
                <a:solidFill>
                  <a:srgbClr val="1C232B"/>
                </a:solidFill>
                <a:latin typeface="Arial"/>
              </a:rPr>
              <a:t>- The table shows grid size and active nodes.</a:t>
            </a:r>
          </a:p>
          <a:p>
            <a:pPr>
              <a:spcAft>
                <a:spcPts val="100"/>
              </a:spcAft>
            </a:pPr>
            <a:r>
              <a:rPr sz="890">
                <a:solidFill>
                  <a:srgbClr val="1C232B"/>
                </a:solidFill>
                <a:latin typeface="Arial"/>
              </a:rPr>
              <a:t>- This defines the FEM reference used for anchors and metrics.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800" b="1">
                <a:solidFill>
                  <a:srgbClr val="1C232B"/>
                </a:solidFill>
                <a:latin typeface="Arial"/>
              </a:rPr>
              <a:t>FEM vs PINN: Runtime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43891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1">
                <a:solidFill>
                  <a:srgbClr val="B82025"/>
                </a:solidFill>
                <a:latin typeface="Arial"/>
              </a:rPr>
              <a:t>THEORY AND FEM BACKGROUND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19456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73952"/>
            <a:ext cx="27432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5029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760" b="0">
                <a:solidFill>
                  <a:srgbClr val="646C75"/>
                </a:solidFill>
                <a:latin typeface="Arial"/>
              </a:rP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143000"/>
            <a:ext cx="3337560" cy="507492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325880"/>
            <a:ext cx="28346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15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664208"/>
            <a:ext cx="2788920" cy="425196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1010">
                <a:solidFill>
                  <a:srgbClr val="1C232B"/>
                </a:solidFill>
                <a:latin typeface="Arial"/>
              </a:rPr>
              <a:t>- One FEM run may be acceptable, but many repeated runs are costly.</a:t>
            </a:r>
          </a:p>
          <a:p>
            <a:pPr>
              <a:spcAft>
                <a:spcPts val="100"/>
              </a:spcAft>
            </a:pPr>
            <a:r>
              <a:rPr sz="1010">
                <a:solidFill>
                  <a:srgbClr val="1C232B"/>
                </a:solidFill>
                <a:latin typeface="Arial"/>
              </a:rPr>
              <a:t>- PINN is trained first, then can predict faster later.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1170432"/>
            <a:ext cx="7406640" cy="49834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0">
                <a:solidFill>
                  <a:srgbClr val="1C232B"/>
                </a:solidFill>
                <a:latin typeface="Arial"/>
              </a:rPr>
              <a:t>Method | First use | Repeated use | Why it matters
FEM | Can be fast for one small case | Must solve again for each new case | Cost grows with many runs
PINN | Training can be slower | Inference is very fast | Good for repeated prediction
MSWP | Uses FEM anchors | Skips selected FEM calls | Keeps trust while reducing cost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800" b="1">
                <a:solidFill>
                  <a:srgbClr val="1C232B"/>
                </a:solidFill>
                <a:latin typeface="Arial"/>
              </a:rPr>
              <a:t>FEM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43891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1">
                <a:solidFill>
                  <a:srgbClr val="B82025"/>
                </a:solidFill>
                <a:latin typeface="Arial"/>
              </a:rPr>
              <a:t>METHOD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19456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73952"/>
            <a:ext cx="27432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5029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760" b="0">
                <a:solidFill>
                  <a:srgbClr val="646C75"/>
                </a:solidFill>
                <a:latin typeface="Arial"/>
              </a:rPr>
              <a:t>13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143000"/>
            <a:ext cx="3337560" cy="507492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325880"/>
            <a:ext cx="28346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15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664208"/>
            <a:ext cx="2788920" cy="425196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1010">
                <a:solidFill>
                  <a:srgbClr val="1C232B"/>
                </a:solidFill>
                <a:latin typeface="Arial"/>
              </a:rPr>
              <a:t>- FEM gives trusted states.</a:t>
            </a:r>
          </a:p>
          <a:p>
            <a:pPr>
              <a:spcAft>
                <a:spcPts val="100"/>
              </a:spcAft>
            </a:pPr>
            <a:r>
              <a:rPr sz="1010">
                <a:solidFill>
                  <a:srgbClr val="1C232B"/>
                </a:solidFill>
                <a:latin typeface="Arial"/>
              </a:rPr>
              <a:t>- Next, the neural model predicts between these states.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69080" y="1143000"/>
            <a:ext cx="7406640" cy="5074920"/>
          </a:xfrm>
          <a:prstGeom prst="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371600"/>
            <a:ext cx="6858000" cy="457200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FEM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→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PINN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FEM gives us the reference. Now: how does PINN learn to predict without FEM?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800" b="1">
                <a:solidFill>
                  <a:srgbClr val="1C232B"/>
                </a:solidFill>
                <a:latin typeface="Arial"/>
              </a:rPr>
              <a:t>Method Source: NAS-PINN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43891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1">
                <a:solidFill>
                  <a:srgbClr val="B82025"/>
                </a:solidFill>
                <a:latin typeface="Arial"/>
              </a:rPr>
              <a:t>METHOD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19456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73952"/>
            <a:ext cx="27432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5029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760" b="0">
                <a:solidFill>
                  <a:srgbClr val="646C75"/>
                </a:solidFill>
                <a:latin typeface="Arial"/>
              </a:rPr>
              <a:t>14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157" y="1197864"/>
            <a:ext cx="9595205" cy="414223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40080" y="5541264"/>
            <a:ext cx="10881360" cy="694944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5650992"/>
            <a:ext cx="123444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980" b="1">
                <a:solidFill>
                  <a:srgbClr val="B82025"/>
                </a:solidFill>
                <a:latin typeface="Arial"/>
              </a:rPr>
              <a:t>Reading 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5614416"/>
            <a:ext cx="9144000" cy="438912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890">
                <a:solidFill>
                  <a:srgbClr val="1C232B"/>
                </a:solidFill>
                <a:latin typeface="Arial"/>
              </a:rPr>
              <a:t>- NAS-PINN searches for a strong network architecture.</a:t>
            </a:r>
          </a:p>
          <a:p>
            <a:pPr>
              <a:spcAft>
                <a:spcPts val="100"/>
              </a:spcAft>
            </a:pPr>
            <a:r>
              <a:rPr sz="890">
                <a:solidFill>
                  <a:srgbClr val="1C232B"/>
                </a:solidFill>
                <a:latin typeface="Arial"/>
              </a:rPr>
              <a:t>- This avoids manually choosing one fixed model.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800" b="1">
                <a:solidFill>
                  <a:srgbClr val="1C232B"/>
                </a:solidFill>
                <a:latin typeface="Arial"/>
              </a:rPr>
              <a:t>PINN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43891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1">
                <a:solidFill>
                  <a:srgbClr val="B82025"/>
                </a:solidFill>
                <a:latin typeface="Arial"/>
              </a:rPr>
              <a:t>METHOD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19456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73952"/>
            <a:ext cx="27432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5029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760" b="0">
                <a:solidFill>
                  <a:srgbClr val="646C75"/>
                </a:solidFill>
                <a:latin typeface="Arial"/>
              </a:rPr>
              <a:t>15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143000"/>
            <a:ext cx="3337560" cy="507492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325880"/>
            <a:ext cx="28346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15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664208"/>
            <a:ext cx="2788920" cy="425196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1010">
                <a:solidFill>
                  <a:srgbClr val="1C232B"/>
                </a:solidFill>
                <a:latin typeface="Arial"/>
              </a:rPr>
              <a:t>- PINN gives physics-based learning.</a:t>
            </a:r>
          </a:p>
          <a:p>
            <a:pPr>
              <a:spcAft>
                <a:spcPts val="100"/>
              </a:spcAft>
            </a:pPr>
            <a:r>
              <a:rPr sz="1010">
                <a:solidFill>
                  <a:srgbClr val="1C232B"/>
                </a:solidFill>
                <a:latin typeface="Arial"/>
              </a:rPr>
              <a:t>- NAS-PINN adds architecture search.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69080" y="1143000"/>
            <a:ext cx="7406640" cy="5074920"/>
          </a:xfrm>
          <a:prstGeom prst="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371600"/>
            <a:ext cx="6858000" cy="457200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PINN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→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NAS-PINN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PINN works. But which architecture? Enter: Neural Architecture Search.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800" b="1">
                <a:solidFill>
                  <a:srgbClr val="1C232B"/>
                </a:solidFill>
                <a:latin typeface="Arial"/>
              </a:rPr>
              <a:t>NAS-PINN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43891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1">
                <a:solidFill>
                  <a:srgbClr val="B82025"/>
                </a:solidFill>
                <a:latin typeface="Arial"/>
              </a:rPr>
              <a:t>METHOD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19456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73952"/>
            <a:ext cx="27432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5029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760" b="0">
                <a:solidFill>
                  <a:srgbClr val="646C75"/>
                </a:solidFill>
                <a:latin typeface="Arial"/>
              </a:rPr>
              <a:t>16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024128"/>
            <a:ext cx="6903720" cy="5230368"/>
          </a:xfrm>
          <a:prstGeom prst="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1247"/>
            <a:ext cx="6629400" cy="42309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99248" y="1024128"/>
            <a:ext cx="37033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250" b="1">
                <a:solidFill>
                  <a:srgbClr val="B82025"/>
                </a:solidFill>
                <a:latin typeface="Arial"/>
              </a:rPr>
              <a:t>Seven-step reading path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1353312"/>
            <a:ext cx="3977639" cy="585216"/>
          </a:xfrm>
          <a:prstGeom prst="roundRect">
            <a:avLst/>
          </a:prstGeom>
          <a:solidFill>
            <a:srgbClr val="FFF6F3"/>
          </a:solidFill>
          <a:ln w="11430">
            <a:solidFill>
              <a:srgbClr val="DBA6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>
            <a:normAutofit/>
          </a:bodyPr>
          <a:lstStyle/>
          <a:p>
            <a:pPr algn="ctr"/>
            <a:r>
              <a:rPr sz="960" b="1">
                <a:solidFill>
                  <a:srgbClr val="B82025"/>
                </a:solidFill>
                <a:latin typeface="Arial"/>
              </a:rPr>
              <a:t>1. FEM anchor</a:t>
            </a:r>
          </a:p>
          <a:p>
            <a:pPr>
              <a:spcBef>
                <a:spcPts val="100"/>
              </a:spcBef>
            </a:pPr>
            <a:r>
              <a:rPr sz="840">
                <a:solidFill>
                  <a:srgbClr val="1C232B"/>
                </a:solidFill>
                <a:latin typeface="Arial"/>
              </a:rPr>
              <a:t>FEM gives the anchor temperature field at the start of the window.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048256"/>
            <a:ext cx="3977639" cy="585216"/>
          </a:xfrm>
          <a:prstGeom prst="roundRect">
            <a:avLst/>
          </a:prstGeom>
          <a:solidFill>
            <a:srgbClr val="FFF6F3"/>
          </a:solidFill>
          <a:ln w="11430">
            <a:solidFill>
              <a:srgbClr val="DBA6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>
            <a:normAutofit/>
          </a:bodyPr>
          <a:lstStyle/>
          <a:p>
            <a:pPr algn="ctr"/>
            <a:r>
              <a:rPr sz="960" b="1">
                <a:solidFill>
                  <a:srgbClr val="B82025"/>
                </a:solidFill>
                <a:latin typeface="Arial"/>
              </a:rPr>
              <a:t>2. Initial condition</a:t>
            </a:r>
          </a:p>
          <a:p>
            <a:pPr>
              <a:spcBef>
                <a:spcPts val="100"/>
              </a:spcBef>
            </a:pPr>
            <a:r>
              <a:rPr sz="840">
                <a:solidFill>
                  <a:srgbClr val="1C232B"/>
                </a:solidFill>
                <a:latin typeface="Arial"/>
              </a:rPr>
              <a:t>This FEM field becomes the initial condition for the PINN.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2743200"/>
            <a:ext cx="3977639" cy="585216"/>
          </a:xfrm>
          <a:prstGeom prst="roundRect">
            <a:avLst/>
          </a:prstGeom>
          <a:solidFill>
            <a:srgbClr val="FFF6F3"/>
          </a:solidFill>
          <a:ln w="11430">
            <a:solidFill>
              <a:srgbClr val="DBA6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>
            <a:normAutofit/>
          </a:bodyPr>
          <a:lstStyle/>
          <a:p>
            <a:pPr algn="ctr"/>
            <a:r>
              <a:rPr sz="960" b="1">
                <a:solidFill>
                  <a:srgbClr val="B82025"/>
                </a:solidFill>
                <a:latin typeface="Arial"/>
              </a:rPr>
              <a:t>3. Coordinates</a:t>
            </a:r>
          </a:p>
          <a:p>
            <a:pPr>
              <a:spcBef>
                <a:spcPts val="100"/>
              </a:spcBef>
            </a:pPr>
            <a:r>
              <a:rPr sz="840">
                <a:solidFill>
                  <a:srgbClr val="1C232B"/>
                </a:solidFill>
                <a:latin typeface="Arial"/>
              </a:rPr>
              <a:t>The model takes space and time coordinates as input.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3438144"/>
            <a:ext cx="3977639" cy="585216"/>
          </a:xfrm>
          <a:prstGeom prst="roundRect">
            <a:avLst/>
          </a:prstGeom>
          <a:solidFill>
            <a:srgbClr val="FFF6F3"/>
          </a:solidFill>
          <a:ln w="11430">
            <a:solidFill>
              <a:srgbClr val="DBA6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>
            <a:normAutofit/>
          </a:bodyPr>
          <a:lstStyle/>
          <a:p>
            <a:pPr algn="ctr"/>
            <a:r>
              <a:rPr sz="960" b="1">
                <a:solidFill>
                  <a:srgbClr val="B82025"/>
                </a:solidFill>
                <a:latin typeface="Arial"/>
              </a:rPr>
              <a:t>4. NAS search</a:t>
            </a:r>
          </a:p>
          <a:p>
            <a:pPr>
              <a:spcBef>
                <a:spcPts val="100"/>
              </a:spcBef>
            </a:pPr>
            <a:r>
              <a:rPr sz="840">
                <a:solidFill>
                  <a:srgbClr val="1C232B"/>
                </a:solidFill>
                <a:latin typeface="Arial"/>
              </a:rPr>
              <a:t>NAS searches different network architectures.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4133087"/>
            <a:ext cx="3977639" cy="585216"/>
          </a:xfrm>
          <a:prstGeom prst="roundRect">
            <a:avLst/>
          </a:prstGeom>
          <a:solidFill>
            <a:srgbClr val="FFF6F3"/>
          </a:solidFill>
          <a:ln w="11430">
            <a:solidFill>
              <a:srgbClr val="DBA6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>
            <a:normAutofit/>
          </a:bodyPr>
          <a:lstStyle/>
          <a:p>
            <a:pPr algn="ctr"/>
            <a:r>
              <a:rPr sz="960" b="1">
                <a:solidFill>
                  <a:srgbClr val="B82025"/>
                </a:solidFill>
                <a:latin typeface="Arial"/>
              </a:rPr>
              <a:t>5. PINN network</a:t>
            </a:r>
          </a:p>
          <a:p>
            <a:pPr>
              <a:spcBef>
                <a:spcPts val="100"/>
              </a:spcBef>
            </a:pPr>
            <a:r>
              <a:rPr sz="840">
                <a:solidFill>
                  <a:srgbClr val="1C232B"/>
                </a:solidFill>
                <a:latin typeface="Arial"/>
              </a:rPr>
              <a:t>The selected PINN predicts the temperature field.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5240" y="4828031"/>
            <a:ext cx="3977639" cy="585216"/>
          </a:xfrm>
          <a:prstGeom prst="roundRect">
            <a:avLst/>
          </a:prstGeom>
          <a:solidFill>
            <a:srgbClr val="FFF6F3"/>
          </a:solidFill>
          <a:ln w="11430">
            <a:solidFill>
              <a:srgbClr val="DBA6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>
            <a:normAutofit/>
          </a:bodyPr>
          <a:lstStyle/>
          <a:p>
            <a:pPr algn="ctr"/>
            <a:r>
              <a:rPr sz="960" b="1">
                <a:solidFill>
                  <a:srgbClr val="B82025"/>
                </a:solidFill>
                <a:latin typeface="Arial"/>
              </a:rPr>
              <a:t>6. IC-consistent output</a:t>
            </a:r>
          </a:p>
          <a:p>
            <a:pPr>
              <a:spcBef>
                <a:spcPts val="100"/>
              </a:spcBef>
            </a:pPr>
            <a:r>
              <a:rPr sz="840">
                <a:solidFill>
                  <a:srgbClr val="1C232B"/>
                </a:solidFill>
                <a:latin typeface="Arial"/>
              </a:rPr>
              <a:t>The output matches the initial condition at the window start.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5522976"/>
            <a:ext cx="3977639" cy="585216"/>
          </a:xfrm>
          <a:prstGeom prst="roundRect">
            <a:avLst/>
          </a:prstGeom>
          <a:solidFill>
            <a:srgbClr val="FFF6F3"/>
          </a:solidFill>
          <a:ln w="11430">
            <a:solidFill>
              <a:srgbClr val="DBA6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>
            <a:normAutofit/>
          </a:bodyPr>
          <a:lstStyle/>
          <a:p>
            <a:pPr algn="ctr"/>
            <a:r>
              <a:rPr sz="960" b="1">
                <a:solidFill>
                  <a:srgbClr val="B82025"/>
                </a:solidFill>
                <a:latin typeface="Arial"/>
              </a:rPr>
              <a:t>7. Physics-guided losses</a:t>
            </a:r>
          </a:p>
          <a:p>
            <a:pPr>
              <a:spcBef>
                <a:spcPts val="100"/>
              </a:spcBef>
            </a:pPr>
            <a:r>
              <a:rPr sz="840">
                <a:solidFill>
                  <a:srgbClr val="1C232B"/>
                </a:solidFill>
                <a:latin typeface="Arial"/>
              </a:rPr>
              <a:t>Physics, boundary, initial and endpoint losses train the model.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6236208"/>
            <a:ext cx="11064240" cy="164592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6254496"/>
            <a:ext cx="10698480" cy="11887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770" b="1">
                <a:solidFill>
                  <a:srgbClr val="FFFFFF"/>
                </a:solidFill>
                <a:latin typeface="Arial"/>
              </a:rPr>
              <a:t>Key idea: FEM gives trust, NAS chooses the network, and PINN predicts the temperature inside each window.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800" b="1">
                <a:solidFill>
                  <a:srgbClr val="1C232B"/>
                </a:solidFill>
                <a:latin typeface="Arial"/>
              </a:rPr>
              <a:t>Architecture Search and Training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43891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1">
                <a:solidFill>
                  <a:srgbClr val="B82025"/>
                </a:solidFill>
                <a:latin typeface="Arial"/>
              </a:rPr>
              <a:t>METHOD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19456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73952"/>
            <a:ext cx="27432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5029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760" b="0">
                <a:solidFill>
                  <a:srgbClr val="646C75"/>
                </a:solidFill>
                <a:latin typeface="Arial"/>
              </a:rPr>
              <a:t>17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143000"/>
            <a:ext cx="3337560" cy="507492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325880"/>
            <a:ext cx="28346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15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664208"/>
            <a:ext cx="2788920" cy="425196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1010">
                <a:solidFill>
                  <a:srgbClr val="1C232B"/>
                </a:solidFill>
                <a:latin typeface="Arial"/>
              </a:rPr>
              <a:t>- Architecture search is done first.</a:t>
            </a:r>
          </a:p>
          <a:p>
            <a:pPr>
              <a:spcAft>
                <a:spcPts val="100"/>
              </a:spcAft>
            </a:pPr>
            <a:r>
              <a:rPr sz="1010">
                <a:solidFill>
                  <a:srgbClr val="1C232B"/>
                </a:solidFill>
                <a:latin typeface="Arial"/>
              </a:rPr>
              <a:t>- Adam gives broad progress; L-BFGS improves final fit.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1170432"/>
            <a:ext cx="7406640" cy="49834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0">
                <a:solidFill>
                  <a:srgbClr val="1C232B"/>
                </a:solidFill>
                <a:latin typeface="Arial"/>
              </a:rPr>
              <a:t>Strategy | Selected architecture | Role in method
Bayesian/TPE | 5 layers x 151, ReLU | High-capacity accuracy-focused model
NSGA-II | 3 layers x 153, tanh | Accuracy-size trade-off
NSGA-III | 3 layers x 75, tanh | Compact Pareto-diverse model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800" b="1">
                <a:solidFill>
                  <a:srgbClr val="1C232B"/>
                </a:solidFill>
                <a:latin typeface="Arial"/>
              </a:rPr>
              <a:t>Optimisation Methods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43891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1">
                <a:solidFill>
                  <a:srgbClr val="B82025"/>
                </a:solidFill>
                <a:latin typeface="Arial"/>
              </a:rPr>
              <a:t>METHOD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19456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73952"/>
            <a:ext cx="27432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5029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760" b="0">
                <a:solidFill>
                  <a:srgbClr val="646C75"/>
                </a:solidFill>
                <a:latin typeface="Arial"/>
              </a:rPr>
              <a:t>18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143000"/>
            <a:ext cx="3337560" cy="507492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325880"/>
            <a:ext cx="28346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15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664208"/>
            <a:ext cx="2788920" cy="425196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1010">
                <a:solidFill>
                  <a:srgbClr val="1C232B"/>
                </a:solidFill>
                <a:latin typeface="Arial"/>
              </a:rPr>
              <a:t>- All three search methods use the same search space.</a:t>
            </a:r>
          </a:p>
          <a:p>
            <a:pPr>
              <a:spcAft>
                <a:spcPts val="100"/>
              </a:spcAft>
            </a:pPr>
            <a:r>
              <a:rPr sz="1010">
                <a:solidFill>
                  <a:srgbClr val="1C232B"/>
                </a:solidFill>
                <a:latin typeface="Arial"/>
              </a:rPr>
              <a:t>- This makes the comparison fair.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1170432"/>
            <a:ext cx="7406640" cy="49834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0">
                <a:solidFill>
                  <a:srgbClr val="1C232B"/>
                </a:solidFill>
                <a:latin typeface="Arial"/>
              </a:rPr>
              <a:t>Method | Search idea | Why used here | Architecture
Bayesian/TPE | Single-objective probabilistic search | Find an accurate architecture with limited trials | 5 x 151, ReLU
NSGA-II | Multi-objective evolutionary search | Balance accuracy and compactness | 3 x 153, tanh
NSGA-III | Reference-point many-objective search | Promote diverse compact Pareto solutions | 3 x 75, tanh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800" b="1">
                <a:solidFill>
                  <a:srgbClr val="1C232B"/>
                </a:solidFill>
                <a:latin typeface="Arial"/>
              </a:rPr>
              <a:t>NAS Hyperparameter Search 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43891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1">
                <a:solidFill>
                  <a:srgbClr val="B82025"/>
                </a:solidFill>
                <a:latin typeface="Arial"/>
              </a:rPr>
              <a:t>METHOD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19456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73952"/>
            <a:ext cx="27432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5029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760" b="0">
                <a:solidFill>
                  <a:srgbClr val="646C75"/>
                </a:solidFill>
                <a:latin typeface="Arial"/>
              </a:rPr>
              <a:t>19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589" y="1197864"/>
            <a:ext cx="8842340" cy="414223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40080" y="5541264"/>
            <a:ext cx="10881360" cy="694944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5650992"/>
            <a:ext cx="123444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980" b="1">
                <a:solidFill>
                  <a:srgbClr val="B82025"/>
                </a:solidFill>
                <a:latin typeface="Arial"/>
              </a:rPr>
              <a:t>Reading 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5614416"/>
            <a:ext cx="9144000" cy="438912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890">
                <a:solidFill>
                  <a:srgbClr val="1C232B"/>
                </a:solidFill>
                <a:latin typeface="Arial"/>
              </a:rPr>
              <a:t>- The search space defines what NAS can choose.</a:t>
            </a:r>
          </a:p>
          <a:p>
            <a:pPr>
              <a:spcAft>
                <a:spcPts val="100"/>
              </a:spcAft>
            </a:pPr>
            <a:r>
              <a:rPr sz="890">
                <a:solidFill>
                  <a:srgbClr val="1C232B"/>
                </a:solidFill>
                <a:latin typeface="Arial"/>
              </a:rPr>
              <a:t>- It makes the experiment reproducible.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800" b="1">
                <a:solidFill>
                  <a:srgbClr val="1C232B"/>
                </a:solidFill>
                <a:latin typeface="Arial"/>
              </a:rPr>
              <a:t>NAS-PINN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43891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1">
                <a:solidFill>
                  <a:srgbClr val="B82025"/>
                </a:solidFill>
                <a:latin typeface="Arial"/>
              </a:rPr>
              <a:t>METHOD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19456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73952"/>
            <a:ext cx="27432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5029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760" b="0">
                <a:solidFill>
                  <a:srgbClr val="646C75"/>
                </a:solidFill>
                <a:latin typeface="Arial"/>
              </a:rPr>
              <a:t>20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143000"/>
            <a:ext cx="3337560" cy="507492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325880"/>
            <a:ext cx="28346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15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664208"/>
            <a:ext cx="2788920" cy="425196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1010">
                <a:solidFill>
                  <a:srgbClr val="1C232B"/>
                </a:solidFill>
                <a:latin typeface="Arial"/>
              </a:rPr>
              <a:t>- The selected NAS-PINN is ready.</a:t>
            </a:r>
          </a:p>
          <a:p>
            <a:pPr>
              <a:spcAft>
                <a:spcPts val="100"/>
              </a:spcAft>
            </a:pPr>
            <a:r>
              <a:rPr sz="1010">
                <a:solidFill>
                  <a:srgbClr val="1C232B"/>
                </a:solidFill>
                <a:latin typeface="Arial"/>
              </a:rPr>
              <a:t>- Next: how it is used over time.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69080" y="1143000"/>
            <a:ext cx="7406640" cy="5074920"/>
          </a:xfrm>
          <a:prstGeom prst="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371600"/>
            <a:ext cx="6858000" cy="457200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NAS-PINN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→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MSWP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We have the architecture. Now: how do FEM + NAS-PINN work together?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800" b="1">
                <a:solidFill>
                  <a:srgbClr val="1C232B"/>
                </a:solidFill>
                <a:latin typeface="Arial"/>
              </a:rPr>
              <a:t>MSWP Framework: Working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43891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1">
                <a:solidFill>
                  <a:srgbClr val="B82025"/>
                </a:solidFill>
                <a:latin typeface="Arial"/>
              </a:rPr>
              <a:t>METHOD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19456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73952"/>
            <a:ext cx="27432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5029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760" b="0">
                <a:solidFill>
                  <a:srgbClr val="646C75"/>
                </a:solidFill>
                <a:latin typeface="Arial"/>
              </a:rPr>
              <a:t>21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4085" y="1197864"/>
            <a:ext cx="6213348" cy="414223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40080" y="5541264"/>
            <a:ext cx="10881360" cy="694944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5650992"/>
            <a:ext cx="123444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980" b="1">
                <a:solidFill>
                  <a:srgbClr val="B82025"/>
                </a:solidFill>
                <a:latin typeface="Arial"/>
              </a:rPr>
              <a:t>Reading 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5614416"/>
            <a:ext cx="9144000" cy="438912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890">
                <a:solidFill>
                  <a:srgbClr val="1C232B"/>
                </a:solidFill>
                <a:latin typeface="Arial"/>
              </a:rPr>
              <a:t>- MSWP: FEM anchor, NAS-PINN window prediction, next FEM anchor.</a:t>
            </a:r>
          </a:p>
          <a:p>
            <a:pPr>
              <a:spcAft>
                <a:spcPts val="100"/>
              </a:spcAft>
            </a:pPr>
            <a:r>
              <a:rPr sz="890">
                <a:solidFill>
                  <a:srgbClr val="1C232B"/>
                </a:solidFill>
                <a:latin typeface="Arial"/>
              </a:rPr>
              <a:t>- The next anchor limits drift.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800" b="1">
                <a:solidFill>
                  <a:srgbClr val="1C232B"/>
                </a:solidFill>
                <a:latin typeface="Arial"/>
              </a:rPr>
              <a:t>Skip Factor and Operating Modes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43891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1">
                <a:solidFill>
                  <a:srgbClr val="B82025"/>
                </a:solidFill>
                <a:latin typeface="Arial"/>
              </a:rPr>
              <a:t>METHOD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19456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73952"/>
            <a:ext cx="27432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5029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760" b="0">
                <a:solidFill>
                  <a:srgbClr val="646C75"/>
                </a:solidFill>
                <a:latin typeface="Arial"/>
              </a:rPr>
              <a:t>22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4085" y="1197864"/>
            <a:ext cx="6213348" cy="414223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40080" y="5541264"/>
            <a:ext cx="10881360" cy="694944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5650992"/>
            <a:ext cx="123444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980" b="1">
                <a:solidFill>
                  <a:srgbClr val="B82025"/>
                </a:solidFill>
                <a:latin typeface="Arial"/>
              </a:rPr>
              <a:t>Reading 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5614416"/>
            <a:ext cx="9144000" cy="438912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890">
                <a:solidFill>
                  <a:srgbClr val="1C232B"/>
                </a:solidFill>
                <a:latin typeface="Arial"/>
              </a:rPr>
              <a:t>- Small k means more FEM correction. Large k saves more FEM calls but is harder.</a:t>
            </a:r>
          </a:p>
          <a:p>
            <a:pPr>
              <a:spcAft>
                <a:spcPts val="100"/>
              </a:spcAft>
            </a:pPr>
            <a:r>
              <a:rPr sz="890">
                <a:solidFill>
                  <a:srgbClr val="1C232B"/>
                </a:solidFill>
                <a:latin typeface="Arial"/>
              </a:rPr>
              <a:t>- The modes test different correction levels.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800" b="1">
                <a:solidFill>
                  <a:srgbClr val="1C232B"/>
                </a:solidFill>
                <a:latin typeface="Arial"/>
              </a:rPr>
              <a:t>Benchmark Domains: 2D Domain Groups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43891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1">
                <a:solidFill>
                  <a:srgbClr val="B82025"/>
                </a:solidFill>
                <a:latin typeface="Arial"/>
              </a:rPr>
              <a:t>BENCHMARKS AND METRICS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19456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73952"/>
            <a:ext cx="27432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5029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760" b="0">
                <a:solidFill>
                  <a:srgbClr val="646C75"/>
                </a:solidFill>
                <a:latin typeface="Arial"/>
              </a:rPr>
              <a:t>23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936242"/>
            <a:ext cx="5330952" cy="2665476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5624" y="1754322"/>
            <a:ext cx="5330952" cy="3029314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40080" y="5541264"/>
            <a:ext cx="10881360" cy="694944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5650992"/>
            <a:ext cx="123444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980" b="1">
                <a:solidFill>
                  <a:srgbClr val="B82025"/>
                </a:solidFill>
                <a:latin typeface="Arial"/>
              </a:rPr>
              <a:t>Reading note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5614416"/>
            <a:ext cx="9144000" cy="438912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890">
                <a:solidFill>
                  <a:srgbClr val="1C232B"/>
                </a:solidFill>
                <a:latin typeface="Arial"/>
              </a:rPr>
              <a:t>- 2D domains are easier to inspect visually.</a:t>
            </a:r>
          </a:p>
          <a:p>
            <a:pPr>
              <a:spcAft>
                <a:spcPts val="100"/>
              </a:spcAft>
            </a:pPr>
            <a:r>
              <a:rPr sz="890">
                <a:solidFill>
                  <a:srgbClr val="1C232B"/>
                </a:solidFill>
                <a:latin typeface="Arial"/>
              </a:rPr>
              <a:t>- They test transfer and geometry sensitivity.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800" b="1">
                <a:solidFill>
                  <a:srgbClr val="1C232B"/>
                </a:solidFill>
                <a:latin typeface="Arial"/>
              </a:rPr>
              <a:t>Benchmark Domains: 3D and Thermal Fin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43891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1">
                <a:solidFill>
                  <a:srgbClr val="B82025"/>
                </a:solidFill>
                <a:latin typeface="Arial"/>
              </a:rPr>
              <a:t>BENCHMARKS AND METRICS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19456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73952"/>
            <a:ext cx="27432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5029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760" b="0">
                <a:solidFill>
                  <a:srgbClr val="646C75"/>
                </a:solidFill>
                <a:latin typeface="Arial"/>
              </a:rPr>
              <a:t>24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936242"/>
            <a:ext cx="5330952" cy="2665476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5624" y="1491996"/>
            <a:ext cx="5330952" cy="355396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40080" y="5541264"/>
            <a:ext cx="10881360" cy="694944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5650992"/>
            <a:ext cx="123444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980" b="1">
                <a:solidFill>
                  <a:srgbClr val="B82025"/>
                </a:solidFill>
                <a:latin typeface="Arial"/>
              </a:rPr>
              <a:t>Reading note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5614416"/>
            <a:ext cx="9144000" cy="438912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890">
                <a:solidFill>
                  <a:srgbClr val="1C232B"/>
                </a:solidFill>
                <a:latin typeface="Arial"/>
              </a:rPr>
              <a:t>- 3D and Thermal Fin test volumetric stability.</a:t>
            </a:r>
          </a:p>
          <a:p>
            <a:pPr>
              <a:spcAft>
                <a:spcPts val="100"/>
              </a:spcAft>
            </a:pPr>
            <a:r>
              <a:rPr sz="890">
                <a:solidFill>
                  <a:srgbClr val="1C232B"/>
                </a:solidFill>
                <a:latin typeface="Arial"/>
              </a:rPr>
              <a:t>- Thermal Fin is hardest because of thin, sharp geometry.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800" b="1">
                <a:solidFill>
                  <a:srgbClr val="1C232B"/>
                </a:solidFill>
                <a:latin typeface="Arial"/>
              </a:rPr>
              <a:t>Evaluation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43891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1">
                <a:solidFill>
                  <a:srgbClr val="B82025"/>
                </a:solidFill>
                <a:latin typeface="Arial"/>
              </a:rPr>
              <a:t>BENCHMARKS AND METRICS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19456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73952"/>
            <a:ext cx="27432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5029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760" b="0">
                <a:solidFill>
                  <a:srgbClr val="646C75"/>
                </a:solidFill>
                <a:latin typeface="Arial"/>
              </a:rPr>
              <a:t>25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143000"/>
            <a:ext cx="3337560" cy="507492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325880"/>
            <a:ext cx="28346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15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664208"/>
            <a:ext cx="2788920" cy="425196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1010">
                <a:solidFill>
                  <a:srgbClr val="1C232B"/>
                </a:solidFill>
                <a:latin typeface="Arial"/>
              </a:rPr>
              <a:t>- MAE measures average temperature error.</a:t>
            </a:r>
          </a:p>
          <a:p>
            <a:pPr>
              <a:spcAft>
                <a:spcPts val="100"/>
              </a:spcAft>
            </a:pPr>
            <a:r>
              <a:rPr sz="1010">
                <a:solidFill>
                  <a:srgbClr val="1C232B"/>
                </a:solidFill>
                <a:latin typeface="Arial"/>
              </a:rPr>
              <a:t>- Relative L2 checks final field quality; FEM reduction measures saved calls.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69080" y="1143000"/>
            <a:ext cx="7406640" cy="5074920"/>
          </a:xfrm>
          <a:prstGeom prst="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371600"/>
            <a:ext cx="6858000" cy="457200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Mean Absolute Error (MAE) MAE = (1/N) sum_i |T_i^PINN - T_i^FEM| Main accuracy metric. It is reported as mean-window MAE over the prediction windows.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Relative L2 Error Rel. L2 = ||T_hat - T_FEM||_2 / ||T_FEM - T_w||_2 Full-field error, normalised by the temperature change above the water bath. Here T_w = 20 deg C.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FEM Anchor Reduction R(k) = (1 - N_win(k)/20) x 100% Efficiency metric. It shows how many FEM anchor calls are saved when the PINN predicts longer windows.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How I read the numbers MAE: average temperature error in deg C. Relative L2: spatial field quality at 30 s. R(k): saved FEM solver calls. Together, they show the trade-off between accuracy and computational cost.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Important note from the report Final-window MAE alone can be misleading in PINN-only tests. Near 30 s, the field naturally moves toward the water temperature. So the mean-window MAE is used as the primary metric.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Source: Chapter 3, Evaluation Metrics.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800" b="1">
                <a:solidFill>
                  <a:srgbClr val="1C232B"/>
                </a:solidFill>
                <a:latin typeface="Arial"/>
              </a:rPr>
              <a:t>2D Adaptive-k: MAE and L2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43891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1">
                <a:solidFill>
                  <a:srgbClr val="B82025"/>
                </a:solidFill>
                <a:latin typeface="Arial"/>
              </a:rPr>
              <a:t>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19456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73952"/>
            <a:ext cx="27432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5029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760" b="0">
                <a:solidFill>
                  <a:srgbClr val="646C75"/>
                </a:solidFill>
                <a:latin typeface="Arial"/>
              </a:rPr>
              <a:t>26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437790"/>
            <a:ext cx="5330952" cy="3662378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7343" y="1197864"/>
            <a:ext cx="4907512" cy="414223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40080" y="5541264"/>
            <a:ext cx="10881360" cy="694944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5650992"/>
            <a:ext cx="123444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980" b="1">
                <a:solidFill>
                  <a:srgbClr val="B82025"/>
                </a:solidFill>
                <a:latin typeface="Arial"/>
              </a:rPr>
              <a:t>Reading note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5614416"/>
            <a:ext cx="9144000" cy="438912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890">
                <a:solidFill>
                  <a:srgbClr val="1C232B"/>
                </a:solidFill>
                <a:latin typeface="Arial"/>
              </a:rPr>
              <a:t>- 2D NAS-transfer results: MAE shows average error, L2 shows final field quality.</a:t>
            </a:r>
          </a:p>
          <a:p>
            <a:pPr>
              <a:spcAft>
                <a:spcPts val="100"/>
              </a:spcAft>
            </a:pPr>
            <a:r>
              <a:rPr sz="890">
                <a:solidFill>
                  <a:srgbClr val="1C232B"/>
                </a:solidFill>
                <a:latin typeface="Arial"/>
              </a:rPr>
              <a:t>- Low error with FEM saving means the method works here.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800" b="1">
                <a:solidFill>
                  <a:srgbClr val="1C232B"/>
                </a:solidFill>
                <a:latin typeface="Arial"/>
              </a:rPr>
              <a:t>2D Adaptive-k: Figure 4.1 FEM-PINN Curves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43891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1">
                <a:solidFill>
                  <a:srgbClr val="B82025"/>
                </a:solidFill>
                <a:latin typeface="Arial"/>
              </a:rPr>
              <a:t>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19456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73952"/>
            <a:ext cx="27432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5029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760" b="0">
                <a:solidFill>
                  <a:srgbClr val="646C75"/>
                </a:solidFill>
                <a:latin typeface="Arial"/>
              </a:rPr>
              <a:t>27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3" y="1226076"/>
            <a:ext cx="5330952" cy="1959827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5624" y="1226076"/>
            <a:ext cx="5330952" cy="1959827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3" y="3352056"/>
            <a:ext cx="5330952" cy="1959827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5624" y="3352056"/>
            <a:ext cx="5330952" cy="1959827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40080" y="5541264"/>
            <a:ext cx="10881360" cy="694944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5650992"/>
            <a:ext cx="123444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980" b="1">
                <a:solidFill>
                  <a:srgbClr val="B82025"/>
                </a:solidFill>
                <a:latin typeface="Arial"/>
              </a:rPr>
              <a:t>Reading note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5614416"/>
            <a:ext cx="9144000" cy="438912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890">
                <a:solidFill>
                  <a:srgbClr val="1C232B"/>
                </a:solidFill>
                <a:latin typeface="Arial"/>
              </a:rPr>
              <a:t>- The curves compare FEM cooling history with PINN prediction.</a:t>
            </a:r>
          </a:p>
          <a:p>
            <a:pPr>
              <a:spcAft>
                <a:spcPts val="100"/>
              </a:spcAft>
            </a:pPr>
            <a:r>
              <a:rPr sz="890">
                <a:solidFill>
                  <a:srgbClr val="1C232B"/>
                </a:solidFill>
                <a:latin typeface="Arial"/>
              </a:rPr>
              <a:t>- Close curves mean the transient behaviour is followed well.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800" b="1">
                <a:solidFill>
                  <a:srgbClr val="1C232B"/>
                </a:solidFill>
                <a:latin typeface="Arial"/>
              </a:rPr>
              <a:t>Canonical 2D: Setup and Adaptive-k 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43891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1">
                <a:solidFill>
                  <a:srgbClr val="B82025"/>
                </a:solidFill>
                <a:latin typeface="Arial"/>
              </a:rPr>
              <a:t>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19456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73952"/>
            <a:ext cx="27432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5029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760" b="0">
                <a:solidFill>
                  <a:srgbClr val="646C75"/>
                </a:solidFill>
                <a:latin typeface="Arial"/>
              </a:rPr>
              <a:t>28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848306"/>
            <a:ext cx="5330952" cy="2841347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5624" y="1624716"/>
            <a:ext cx="5330952" cy="328852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40080" y="5541264"/>
            <a:ext cx="10881360" cy="694944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5650992"/>
            <a:ext cx="123444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980" b="1">
                <a:solidFill>
                  <a:srgbClr val="B82025"/>
                </a:solidFill>
                <a:latin typeface="Arial"/>
              </a:rPr>
              <a:t>Reading note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5614416"/>
            <a:ext cx="9144000" cy="438912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890">
                <a:solidFill>
                  <a:srgbClr val="1C232B"/>
                </a:solidFill>
                <a:latin typeface="Arial"/>
              </a:rPr>
              <a:t>- This setup explains when FEM calls are kept or skipped.</a:t>
            </a:r>
          </a:p>
          <a:p>
            <a:pPr>
              <a:spcAft>
                <a:spcPts val="100"/>
              </a:spcAft>
            </a:pPr>
            <a:r>
              <a:rPr sz="890">
                <a:solidFill>
                  <a:srgbClr val="1C232B"/>
                </a:solidFill>
                <a:latin typeface="Arial"/>
              </a:rPr>
              <a:t>- It prepares the 2D MAE and L2 result tables.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800" b="1">
                <a:solidFill>
                  <a:srgbClr val="1C232B"/>
                </a:solidFill>
                <a:latin typeface="Arial"/>
              </a:rPr>
              <a:t>Canonical 2D: MAE and L2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43891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1">
                <a:solidFill>
                  <a:srgbClr val="B82025"/>
                </a:solidFill>
                <a:latin typeface="Arial"/>
              </a:rPr>
              <a:t>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19456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73952"/>
            <a:ext cx="27432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5029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760" b="0">
                <a:solidFill>
                  <a:srgbClr val="646C75"/>
                </a:solidFill>
                <a:latin typeface="Arial"/>
              </a:rPr>
              <a:t>29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850117"/>
            <a:ext cx="5330952" cy="2837724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5624" y="1819666"/>
            <a:ext cx="5330952" cy="289862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40080" y="5541264"/>
            <a:ext cx="10881360" cy="694944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5650992"/>
            <a:ext cx="123444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980" b="1">
                <a:solidFill>
                  <a:srgbClr val="B82025"/>
                </a:solidFill>
                <a:latin typeface="Arial"/>
              </a:rPr>
              <a:t>Reading note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5614416"/>
            <a:ext cx="9144000" cy="438912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890">
                <a:solidFill>
                  <a:srgbClr val="1C232B"/>
                </a:solidFill>
                <a:latin typeface="Arial"/>
              </a:rPr>
              <a:t>- MAE and L2 are read together.</a:t>
            </a:r>
          </a:p>
          <a:p>
            <a:pPr>
              <a:spcAft>
                <a:spcPts val="100"/>
              </a:spcAft>
            </a:pPr>
            <a:r>
              <a:rPr sz="890">
                <a:solidFill>
                  <a:srgbClr val="1C232B"/>
                </a:solidFill>
                <a:latin typeface="Arial"/>
              </a:rPr>
              <a:t>- Low MAE plus low L2 means reliable prediction.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800" b="1">
                <a:solidFill>
                  <a:srgbClr val="1C232B"/>
                </a:solidFill>
                <a:latin typeface="Arial"/>
              </a:rPr>
              <a:t>Canonical 2D: MAE Variability and L2 Curves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43891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1">
                <a:solidFill>
                  <a:srgbClr val="B82025"/>
                </a:solidFill>
                <a:latin typeface="Arial"/>
              </a:rPr>
              <a:t>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19456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73952"/>
            <a:ext cx="27432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5029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760" b="0">
                <a:solidFill>
                  <a:srgbClr val="646C75"/>
                </a:solidFill>
                <a:latin typeface="Arial"/>
              </a:rPr>
              <a:t>30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384523"/>
            <a:ext cx="5330952" cy="3768913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5624" y="2432679"/>
            <a:ext cx="5330952" cy="1672601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40080" y="5541264"/>
            <a:ext cx="10881360" cy="694944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5650992"/>
            <a:ext cx="123444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980" b="1">
                <a:solidFill>
                  <a:srgbClr val="B82025"/>
                </a:solidFill>
                <a:latin typeface="Arial"/>
              </a:rPr>
              <a:t>Reading note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5614416"/>
            <a:ext cx="9144000" cy="438912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890">
                <a:solidFill>
                  <a:srgbClr val="1C232B"/>
                </a:solidFill>
                <a:latin typeface="Arial"/>
              </a:rPr>
              <a:t>- Variability shows seed stability.</a:t>
            </a:r>
          </a:p>
          <a:p>
            <a:pPr>
              <a:spcAft>
                <a:spcPts val="100"/>
              </a:spcAft>
            </a:pPr>
            <a:r>
              <a:rPr sz="890">
                <a:solidFill>
                  <a:srgbClr val="1C232B"/>
                </a:solidFill>
                <a:latin typeface="Arial"/>
              </a:rPr>
              <a:t>- L2 curves show field error through time.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800" b="1">
                <a:solidFill>
                  <a:srgbClr val="1C232B"/>
                </a:solidFill>
                <a:latin typeface="Arial"/>
              </a:rPr>
              <a:t>Canonical 2D Heat Maps: Best Geometry per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43891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1">
                <a:solidFill>
                  <a:srgbClr val="B82025"/>
                </a:solidFill>
                <a:latin typeface="Arial"/>
              </a:rPr>
              <a:t>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19456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73952"/>
            <a:ext cx="27432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5029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760" b="0">
                <a:solidFill>
                  <a:srgbClr val="646C75"/>
                </a:solidFill>
                <a:latin typeface="Arial"/>
              </a:rPr>
              <a:t>31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3543" y="1197864"/>
            <a:ext cx="2933752" cy="2016252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339" y="1197864"/>
            <a:ext cx="3219520" cy="2016252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0659" y="3323844"/>
            <a:ext cx="3219520" cy="20162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40080" y="5541264"/>
            <a:ext cx="10881360" cy="694944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5650992"/>
            <a:ext cx="123444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980" b="1">
                <a:solidFill>
                  <a:srgbClr val="B82025"/>
                </a:solidFill>
                <a:latin typeface="Arial"/>
              </a:rPr>
              <a:t>Reading note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5614416"/>
            <a:ext cx="9144000" cy="438912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890">
                <a:solidFill>
                  <a:srgbClr val="1C232B"/>
                </a:solidFill>
                <a:latin typeface="Arial"/>
              </a:rPr>
              <a:t>- Heat maps show where the error appears.</a:t>
            </a:r>
          </a:p>
          <a:p>
            <a:pPr>
              <a:spcAft>
                <a:spcPts val="100"/>
              </a:spcAft>
            </a:pPr>
            <a:r>
              <a:rPr sz="890">
                <a:solidFill>
                  <a:srgbClr val="1C232B"/>
                </a:solidFill>
                <a:latin typeface="Arial"/>
              </a:rPr>
              <a:t>- They support the numerical tables visually.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800" b="1">
                <a:solidFill>
                  <a:srgbClr val="1C232B"/>
                </a:solidFill>
                <a:latin typeface="Arial"/>
              </a:rPr>
              <a:t>3D Results: MAE and L2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43891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1">
                <a:solidFill>
                  <a:srgbClr val="B82025"/>
                </a:solidFill>
                <a:latin typeface="Arial"/>
              </a:rPr>
              <a:t>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19456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73952"/>
            <a:ext cx="27432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5029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760" b="0">
                <a:solidFill>
                  <a:srgbClr val="646C75"/>
                </a:solidFill>
                <a:latin typeface="Arial"/>
              </a:rPr>
              <a:t>32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561364"/>
            <a:ext cx="5330952" cy="341523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5624" y="1580529"/>
            <a:ext cx="5330952" cy="3376901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40080" y="5541264"/>
            <a:ext cx="10881360" cy="694944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5650992"/>
            <a:ext cx="123444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980" b="1">
                <a:solidFill>
                  <a:srgbClr val="B82025"/>
                </a:solidFill>
                <a:latin typeface="Arial"/>
              </a:rPr>
              <a:t>Reading note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5614416"/>
            <a:ext cx="9144000" cy="438912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890">
                <a:solidFill>
                  <a:srgbClr val="1C232B"/>
                </a:solidFill>
                <a:latin typeface="Arial"/>
              </a:rPr>
              <a:t>- 3D tables show average volumetric error and final field quality.</a:t>
            </a:r>
          </a:p>
          <a:p>
            <a:pPr>
              <a:spcAft>
                <a:spcPts val="100"/>
              </a:spcAft>
            </a:pPr>
            <a:r>
              <a:rPr sz="890">
                <a:solidFill>
                  <a:srgbClr val="1C232B"/>
                </a:solidFill>
                <a:latin typeface="Arial"/>
              </a:rPr>
              <a:t>- 3D geometry makes prediction harder than 2D.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800" b="1">
                <a:solidFill>
                  <a:srgbClr val="1C232B"/>
                </a:solidFill>
                <a:latin typeface="Arial"/>
              </a:rPr>
              <a:t>3D Results: MAE Variability and L2 Curves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43891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1">
                <a:solidFill>
                  <a:srgbClr val="B82025"/>
                </a:solidFill>
                <a:latin typeface="Arial"/>
              </a:rPr>
              <a:t>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19456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73952"/>
            <a:ext cx="27432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5029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760" b="0">
                <a:solidFill>
                  <a:srgbClr val="646C75"/>
                </a:solidFill>
                <a:latin typeface="Arial"/>
              </a:rPr>
              <a:t>33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857794"/>
            <a:ext cx="5330952" cy="2822371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5624" y="2605322"/>
            <a:ext cx="5330952" cy="1327314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40080" y="5541264"/>
            <a:ext cx="10881360" cy="694944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5650992"/>
            <a:ext cx="123444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980" b="1">
                <a:solidFill>
                  <a:srgbClr val="B82025"/>
                </a:solidFill>
                <a:latin typeface="Arial"/>
              </a:rPr>
              <a:t>Reading note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5614416"/>
            <a:ext cx="9144000" cy="438912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890">
                <a:solidFill>
                  <a:srgbClr val="1C232B"/>
                </a:solidFill>
                <a:latin typeface="Arial"/>
              </a:rPr>
              <a:t>- These plots show 3D stability and time trends.</a:t>
            </a:r>
          </a:p>
          <a:p>
            <a:pPr>
              <a:spcAft>
                <a:spcPts val="100"/>
              </a:spcAft>
            </a:pPr>
            <a:r>
              <a:rPr sz="890">
                <a:solidFill>
                  <a:srgbClr val="1C232B"/>
                </a:solidFill>
                <a:latin typeface="Arial"/>
              </a:rPr>
              <a:t>- The best k depends on geometry.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800" b="1">
                <a:solidFill>
                  <a:srgbClr val="1C232B"/>
                </a:solidFill>
                <a:latin typeface="Arial"/>
              </a:rPr>
              <a:t>Canonical 3D Heat Maps: Best Geometry per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43891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1">
                <a:solidFill>
                  <a:srgbClr val="B82025"/>
                </a:solidFill>
                <a:latin typeface="Arial"/>
              </a:rPr>
              <a:t>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19456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73952"/>
            <a:ext cx="27432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5029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760" b="0">
                <a:solidFill>
                  <a:srgbClr val="646C75"/>
                </a:solidFill>
                <a:latin typeface="Arial"/>
              </a:rPr>
              <a:t>34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0606" y="1197864"/>
            <a:ext cx="3419627" cy="2016252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1286" y="1197864"/>
            <a:ext cx="3419627" cy="2016252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0606" y="3323844"/>
            <a:ext cx="3419627" cy="20162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40080" y="5541264"/>
            <a:ext cx="10881360" cy="694944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5650992"/>
            <a:ext cx="123444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980" b="1">
                <a:solidFill>
                  <a:srgbClr val="B82025"/>
                </a:solidFill>
                <a:latin typeface="Arial"/>
              </a:rPr>
              <a:t>Reading note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5614416"/>
            <a:ext cx="9144000" cy="438912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890">
                <a:solidFill>
                  <a:srgbClr val="1C232B"/>
                </a:solidFill>
                <a:latin typeface="Arial"/>
              </a:rPr>
              <a:t>- The 3D heat map shows volumetric behaviour.</a:t>
            </a:r>
          </a:p>
          <a:p>
            <a:pPr>
              <a:spcAft>
                <a:spcPts val="100"/>
              </a:spcAft>
            </a:pPr>
            <a:r>
              <a:rPr sz="890">
                <a:solidFill>
                  <a:srgbClr val="1C232B"/>
                </a:solidFill>
                <a:latin typeface="Arial"/>
              </a:rPr>
              <a:t>- It helps identify local error regions.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800" b="1">
                <a:solidFill>
                  <a:srgbClr val="1C232B"/>
                </a:solidFill>
                <a:latin typeface="Arial"/>
              </a:rPr>
              <a:t>Thermal Fin: MAE and L2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43891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1">
                <a:solidFill>
                  <a:srgbClr val="B82025"/>
                </a:solidFill>
                <a:latin typeface="Arial"/>
              </a:rPr>
              <a:t>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19456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73952"/>
            <a:ext cx="27432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5029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760" b="0">
                <a:solidFill>
                  <a:srgbClr val="646C75"/>
                </a:solidFill>
                <a:latin typeface="Arial"/>
              </a:rPr>
              <a:t>35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7840" y="1197864"/>
            <a:ext cx="8185839" cy="414223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40080" y="5541264"/>
            <a:ext cx="10881360" cy="694944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5650992"/>
            <a:ext cx="123444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980" b="1">
                <a:solidFill>
                  <a:srgbClr val="B82025"/>
                </a:solidFill>
                <a:latin typeface="Arial"/>
              </a:rPr>
              <a:t>Reading 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5614416"/>
            <a:ext cx="9144000" cy="438912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890">
                <a:solidFill>
                  <a:srgbClr val="1C232B"/>
                </a:solidFill>
                <a:latin typeface="Arial"/>
              </a:rPr>
              <a:t>- Thermal Fin is the hardest benchmark.</a:t>
            </a:r>
          </a:p>
          <a:p>
            <a:pPr>
              <a:spcAft>
                <a:spcPts val="100"/>
              </a:spcAft>
            </a:pPr>
            <a:r>
              <a:rPr sz="890">
                <a:solidFill>
                  <a:srgbClr val="1C232B"/>
                </a:solidFill>
                <a:latin typeface="Arial"/>
              </a:rPr>
              <a:t>- Bayesian/TPE with Fourier gives the strongest field accuracy.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800" b="1">
                <a:solidFill>
                  <a:srgbClr val="1C232B"/>
                </a:solidFill>
                <a:latin typeface="Arial"/>
              </a:rPr>
              <a:t>Thermal Fin: MAE Variability and L2 Curves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43891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1">
                <a:solidFill>
                  <a:srgbClr val="B82025"/>
                </a:solidFill>
                <a:latin typeface="Arial"/>
              </a:rPr>
              <a:t>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19456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73952"/>
            <a:ext cx="27432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5029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760" b="0">
                <a:solidFill>
                  <a:srgbClr val="646C75"/>
                </a:solidFill>
                <a:latin typeface="Arial"/>
              </a:rPr>
              <a:t>36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2506526"/>
            <a:ext cx="5330952" cy="1524906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5624" y="2624144"/>
            <a:ext cx="5330952" cy="1289671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40080" y="5541264"/>
            <a:ext cx="10881360" cy="694944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5650992"/>
            <a:ext cx="123444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980" b="1">
                <a:solidFill>
                  <a:srgbClr val="B82025"/>
                </a:solidFill>
                <a:latin typeface="Arial"/>
              </a:rPr>
              <a:t>Reading note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5614416"/>
            <a:ext cx="9144000" cy="438912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890">
                <a:solidFill>
                  <a:srgbClr val="1C232B"/>
                </a:solidFill>
                <a:latin typeface="Arial"/>
              </a:rPr>
              <a:t>- Higher k makes Thermal Fin prediction harder.</a:t>
            </a:r>
          </a:p>
          <a:p>
            <a:pPr>
              <a:spcAft>
                <a:spcPts val="100"/>
              </a:spcAft>
            </a:pPr>
            <a:r>
              <a:rPr sz="890">
                <a:solidFill>
                  <a:srgbClr val="1C232B"/>
                </a:solidFill>
                <a:latin typeface="Arial"/>
              </a:rPr>
              <a:t>- Fourier features improve Bayesian/TPE stability.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800" b="1">
                <a:solidFill>
                  <a:srgbClr val="1C232B"/>
                </a:solidFill>
                <a:latin typeface="Arial"/>
              </a:rPr>
              <a:t>Thermal Fin: Fixed-k Heat Maps (2D)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43891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1">
                <a:solidFill>
                  <a:srgbClr val="B82025"/>
                </a:solidFill>
                <a:latin typeface="Arial"/>
              </a:rPr>
              <a:t>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19456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73952"/>
            <a:ext cx="27432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5029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760" b="0">
                <a:solidFill>
                  <a:srgbClr val="646C75"/>
                </a:solidFill>
                <a:latin typeface="Arial"/>
              </a:rPr>
              <a:t>37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5556" y="1197864"/>
            <a:ext cx="1709727" cy="2016252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6957" y="1197864"/>
            <a:ext cx="1708284" cy="2016252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6277" y="3323844"/>
            <a:ext cx="1708284" cy="20162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40080" y="5541264"/>
            <a:ext cx="10881360" cy="694944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5650992"/>
            <a:ext cx="123444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980" b="1">
                <a:solidFill>
                  <a:srgbClr val="B82025"/>
                </a:solidFill>
                <a:latin typeface="Arial"/>
              </a:rPr>
              <a:t>Reading note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5614416"/>
            <a:ext cx="9144000" cy="438912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890">
                <a:solidFill>
                  <a:srgbClr val="1C232B"/>
                </a:solidFill>
                <a:latin typeface="Arial"/>
              </a:rPr>
              <a:t>- Cross-section heat maps compare FEM, PINN, and error.</a:t>
            </a:r>
          </a:p>
          <a:p>
            <a:pPr>
              <a:spcAft>
                <a:spcPts val="100"/>
              </a:spcAft>
            </a:pPr>
            <a:r>
              <a:rPr sz="890">
                <a:solidFill>
                  <a:srgbClr val="1C232B"/>
                </a:solidFill>
                <a:latin typeface="Arial"/>
              </a:rPr>
              <a:t>- They show where local errors remain.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800" b="1">
                <a:solidFill>
                  <a:srgbClr val="1C232B"/>
                </a:solidFill>
                <a:latin typeface="Arial"/>
              </a:rPr>
              <a:t>Thermal Fin: Adaptive vs PINN-only Heat Maps (2D)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43891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1">
                <a:solidFill>
                  <a:srgbClr val="B82025"/>
                </a:solidFill>
                <a:latin typeface="Arial"/>
              </a:rPr>
              <a:t>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19456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73952"/>
            <a:ext cx="27432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5029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760" b="0">
                <a:solidFill>
                  <a:srgbClr val="646C75"/>
                </a:solidFill>
                <a:latin typeface="Arial"/>
              </a:rPr>
              <a:t>38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3" y="1288798"/>
            <a:ext cx="5330952" cy="3960363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5624" y="1295094"/>
            <a:ext cx="5330952" cy="3947771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40080" y="5541264"/>
            <a:ext cx="10881360" cy="694944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5650992"/>
            <a:ext cx="123444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980" b="1">
                <a:solidFill>
                  <a:srgbClr val="B82025"/>
                </a:solidFill>
                <a:latin typeface="Arial"/>
              </a:rPr>
              <a:t>Reading note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5614416"/>
            <a:ext cx="9144000" cy="438912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890">
                <a:solidFill>
                  <a:srgbClr val="1C232B"/>
                </a:solidFill>
                <a:latin typeface="Arial"/>
              </a:rPr>
              <a:t>- Adaptive-k uses FEM anchors to correct the field.</a:t>
            </a:r>
          </a:p>
          <a:p>
            <a:pPr>
              <a:spcAft>
                <a:spcPts val="100"/>
              </a:spcAft>
            </a:pPr>
            <a:r>
              <a:rPr sz="890">
                <a:solidFill>
                  <a:srgbClr val="1C232B"/>
                </a:solidFill>
                <a:latin typeface="Arial"/>
              </a:rPr>
              <a:t>- PINN-only removes corrections, so errors can accumulate.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800" b="1">
                <a:solidFill>
                  <a:srgbClr val="1C232B"/>
                </a:solidFill>
                <a:latin typeface="Arial"/>
              </a:rPr>
              <a:t>Thermal Fin: Fixed-k Volumetric Views (3D)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43891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1">
                <a:solidFill>
                  <a:srgbClr val="B82025"/>
                </a:solidFill>
                <a:latin typeface="Arial"/>
              </a:rPr>
              <a:t>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19456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73952"/>
            <a:ext cx="27432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5029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760" b="0">
                <a:solidFill>
                  <a:srgbClr val="646C75"/>
                </a:solidFill>
                <a:latin typeface="Arial"/>
              </a:rPr>
              <a:t>39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4673" y="1197864"/>
            <a:ext cx="3631493" cy="2016252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353" y="1197864"/>
            <a:ext cx="3631493" cy="2016252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4673" y="3323844"/>
            <a:ext cx="3631493" cy="20162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40080" y="5541264"/>
            <a:ext cx="10881360" cy="694944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5650992"/>
            <a:ext cx="123444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980" b="1">
                <a:solidFill>
                  <a:srgbClr val="B82025"/>
                </a:solidFill>
                <a:latin typeface="Arial"/>
              </a:rPr>
              <a:t>Reading note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5614416"/>
            <a:ext cx="9144000" cy="438912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890">
                <a:solidFill>
                  <a:srgbClr val="1C232B"/>
                </a:solidFill>
                <a:latin typeface="Arial"/>
              </a:rPr>
              <a:t>- The volumetric view checks the full 3D field.</a:t>
            </a:r>
          </a:p>
          <a:p>
            <a:pPr>
              <a:spcAft>
                <a:spcPts val="100"/>
              </a:spcAft>
            </a:pPr>
            <a:r>
              <a:rPr sz="890">
                <a:solidFill>
                  <a:srgbClr val="1C232B"/>
                </a:solidFill>
                <a:latin typeface="Arial"/>
              </a:rPr>
              <a:t>- Sharp fin regions are difficult.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800" b="1">
                <a:solidFill>
                  <a:srgbClr val="1C232B"/>
                </a:solidFill>
                <a:latin typeface="Arial"/>
              </a:rPr>
              <a:t>Thermal Fin: Adaptive vs PINN-only Volumetric Views (3D)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43891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1">
                <a:solidFill>
                  <a:srgbClr val="B82025"/>
                </a:solidFill>
                <a:latin typeface="Arial"/>
              </a:rPr>
              <a:t>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19456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73952"/>
            <a:ext cx="27432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5029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760" b="0">
                <a:solidFill>
                  <a:srgbClr val="646C75"/>
                </a:solidFill>
                <a:latin typeface="Arial"/>
              </a:rPr>
              <a:t>40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11" y="1197864"/>
            <a:ext cx="4855616" cy="4142232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291" y="1197864"/>
            <a:ext cx="4855616" cy="414223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40080" y="5541264"/>
            <a:ext cx="10881360" cy="694944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5650992"/>
            <a:ext cx="123444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980" b="1">
                <a:solidFill>
                  <a:srgbClr val="B82025"/>
                </a:solidFill>
                <a:latin typeface="Arial"/>
              </a:rPr>
              <a:t>Reading note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5614416"/>
            <a:ext cx="9144000" cy="438912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890">
                <a:solidFill>
                  <a:srgbClr val="1C232B"/>
                </a:solidFill>
                <a:latin typeface="Arial"/>
              </a:rPr>
              <a:t>- Anchored prediction keeps the 3D field more stable.</a:t>
            </a:r>
          </a:p>
          <a:p>
            <a:pPr>
              <a:spcAft>
                <a:spcPts val="100"/>
              </a:spcAft>
            </a:pPr>
            <a:r>
              <a:rPr sz="890">
                <a:solidFill>
                  <a:srgbClr val="1C232B"/>
                </a:solidFill>
                <a:latin typeface="Arial"/>
              </a:rPr>
              <a:t>- PINN-only makes drift easier to see.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800" b="1">
                <a:solidFill>
                  <a:srgbClr val="1C232B"/>
                </a:solidFill>
                <a:latin typeface="Arial"/>
              </a:rPr>
              <a:t>Thermal Fin: Ablation Tables F.1 and F.2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43891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1">
                <a:solidFill>
                  <a:srgbClr val="B82025"/>
                </a:solidFill>
                <a:latin typeface="Arial"/>
              </a:rPr>
              <a:t>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19456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73952"/>
            <a:ext cx="27432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5029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760" b="0">
                <a:solidFill>
                  <a:srgbClr val="646C75"/>
                </a:solidFill>
                <a:latin typeface="Arial"/>
              </a:rPr>
              <a:t>41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2283309"/>
            <a:ext cx="5330952" cy="1971341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5624" y="2523906"/>
            <a:ext cx="5330952" cy="149014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40080" y="5541264"/>
            <a:ext cx="10881360" cy="694944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5650992"/>
            <a:ext cx="123444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980" b="1">
                <a:solidFill>
                  <a:srgbClr val="B82025"/>
                </a:solidFill>
                <a:latin typeface="Arial"/>
              </a:rPr>
              <a:t>Reading note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5614416"/>
            <a:ext cx="9144000" cy="438912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890">
                <a:solidFill>
                  <a:srgbClr val="1C232B"/>
                </a:solidFill>
                <a:latin typeface="Arial"/>
              </a:rPr>
              <a:t>- Fourier features help complex spatial patterns.</a:t>
            </a:r>
          </a:p>
          <a:p>
            <a:pPr>
              <a:spcAft>
                <a:spcPts val="100"/>
              </a:spcAft>
            </a:pPr>
            <a:r>
              <a:rPr sz="890">
                <a:solidFill>
                  <a:srgbClr val="1C232B"/>
                </a:solidFill>
                <a:latin typeface="Arial"/>
              </a:rPr>
              <a:t>- Endpoint supervision controls window drift.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800" b="1">
                <a:solidFill>
                  <a:srgbClr val="1C232B"/>
                </a:solidFill>
                <a:latin typeface="Arial"/>
              </a:rPr>
              <a:t>Discussion: 2D Adaptive-k and Canonical 2D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43891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1">
                <a:solidFill>
                  <a:srgbClr val="B82025"/>
                </a:solidFill>
                <a:latin typeface="Arial"/>
              </a:rPr>
              <a:t>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19456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73952"/>
            <a:ext cx="27432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5029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760" b="0">
                <a:solidFill>
                  <a:srgbClr val="646C75"/>
                </a:solidFill>
                <a:latin typeface="Arial"/>
              </a:rPr>
              <a:t>42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143000"/>
            <a:ext cx="3337560" cy="507492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325880"/>
            <a:ext cx="28346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15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664208"/>
            <a:ext cx="2788920" cy="425196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1010">
                <a:solidFill>
                  <a:srgbClr val="1C232B"/>
                </a:solidFill>
                <a:latin typeface="Arial"/>
              </a:rPr>
              <a:t>- 2D results show useful FEM saving with low error.</a:t>
            </a:r>
          </a:p>
          <a:p>
            <a:pPr>
              <a:spcAft>
                <a:spcPts val="100"/>
              </a:spcAft>
            </a:pPr>
            <a:r>
              <a:rPr sz="1010">
                <a:solidFill>
                  <a:srgbClr val="1C232B"/>
                </a:solidFill>
                <a:latin typeface="Arial"/>
              </a:rPr>
              <a:t>- Complex boundaries and high k make prediction harder.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69080" y="1143000"/>
            <a:ext cx="7406640" cy="5074920"/>
          </a:xfrm>
          <a:prstGeom prst="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371600"/>
            <a:ext cx="6858000" cy="457200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- 2D adaptive-k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What I found: all architectures achieved about 83-85% FEM saving with low MAE.  Why: the controller keeps short windows during the early rapid cooling phase and promotes k only after the field becomes smoother.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Canonical 2D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What I found: Bayesian/TPE stays strongest as k increases. Circle and L-Shape expose geometry sensitivity at high k.  Why: compact architectures lose accuracy faster when boundaries are curved or gradients are concentrated.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Key explanation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MAE growth is not only a training issue. It is linked to physical gradient structure, boundary shape and the length of unsupported prediction windows.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800" b="1">
                <a:solidFill>
                  <a:srgbClr val="1C232B"/>
                </a:solidFill>
                <a:latin typeface="Arial"/>
              </a:rPr>
              <a:t>Discussion: 3D and Thermal Fin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43891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1">
                <a:solidFill>
                  <a:srgbClr val="B82025"/>
                </a:solidFill>
                <a:latin typeface="Arial"/>
              </a:rPr>
              <a:t>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19456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73952"/>
            <a:ext cx="27432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5029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760" b="0">
                <a:solidFill>
                  <a:srgbClr val="646C75"/>
                </a:solidFill>
                <a:latin typeface="Arial"/>
              </a:rPr>
              <a:t>43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143000"/>
            <a:ext cx="3337560" cy="507492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325880"/>
            <a:ext cx="28346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15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664208"/>
            <a:ext cx="2788920" cy="425196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1010">
                <a:solidFill>
                  <a:srgbClr val="1C232B"/>
                </a:solidFill>
                <a:latin typeface="Arial"/>
              </a:rPr>
              <a:t>- 3D and Thermal Fin show stronger geometry sensitivity.</a:t>
            </a:r>
          </a:p>
          <a:p>
            <a:pPr>
              <a:spcAft>
                <a:spcPts val="100"/>
              </a:spcAft>
            </a:pPr>
            <a:r>
              <a:rPr sz="1010">
                <a:solidFill>
                  <a:srgbClr val="1C232B"/>
                </a:solidFill>
                <a:latin typeface="Arial"/>
              </a:rPr>
              <a:t>- Thermal Fin confirms that anchors are important.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69080" y="1143000"/>
            <a:ext cx="7406640" cy="5074920"/>
          </a:xfrm>
          <a:prstGeom prst="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371600"/>
            <a:ext cx="6858000" cy="457200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Canonical 3D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Bayesian/TPE reaches k=5 on all four 3D domains within the 15 C band. NSGA-II/III are more geometry-sensitive at high k.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Thermal Fin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Bayesian/TPE + Fourier remains within the 15 C band at all k values. NSGA-II/III are acceptable through k=4, but k=5 becomes too demanding.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PINN-only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PINN-only errors are much larger because each imperfect prediction becomes the next initial condition. I use this to confirm that periodic FEM correction is necessary.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800" b="1">
                <a:solidFill>
                  <a:srgbClr val="1C232B"/>
                </a:solidFill>
                <a:latin typeface="Arial"/>
              </a:rPr>
              <a:t>Discussion: Cross-Domain Guidance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43891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1">
                <a:solidFill>
                  <a:srgbClr val="B82025"/>
                </a:solidFill>
                <a:latin typeface="Arial"/>
              </a:rPr>
              <a:t>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19456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73952"/>
            <a:ext cx="27432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5029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760" b="0">
                <a:solidFill>
                  <a:srgbClr val="646C75"/>
                </a:solidFill>
                <a:latin typeface="Arial"/>
              </a:rPr>
              <a:t>44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143000"/>
            <a:ext cx="3337560" cy="507492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325880"/>
            <a:ext cx="28346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15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664208"/>
            <a:ext cx="2788920" cy="425196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1010">
                <a:solidFill>
                  <a:srgbClr val="1C232B"/>
                </a:solidFill>
                <a:latin typeface="Arial"/>
              </a:rPr>
              <a:t>- Accuracy, FEM saving, and stability must be balanced.</a:t>
            </a:r>
          </a:p>
          <a:p>
            <a:pPr>
              <a:spcAft>
                <a:spcPts val="100"/>
              </a:spcAft>
            </a:pPr>
            <a:r>
              <a:rPr sz="1010">
                <a:solidFill>
                  <a:srgbClr val="1C232B"/>
                </a:solidFill>
                <a:latin typeface="Arial"/>
              </a:rPr>
              <a:t>- The best choice is not always the largest 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1170432"/>
            <a:ext cx="7406640" cy="49834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0">
                <a:solidFill>
                  <a:srgbClr val="1C232B"/>
                </a:solidFill>
                <a:latin typeface="Arial"/>
              </a:rPr>
              <a:t>Question | Discussion answer | Practical guidance
Which architecture transfers best? | Bayesian/TPE is strongest in 7 of 8 canonical cases and robust on Thermal Fin. | Use Bayesian/TPE as default deployment architecture.
When is adaptive-k useful? | It protects the early steep-gradient phase and increases k as the field relaxes. | Use adaptive-k for simple/intermediate geometries.
Can FEM be removed? | No. PINN-only accumulates error and fails especially on complex geometries. | Keep periodic FEM anchoring.
What is MSWP's role? | It maps geometry and architecture to maximum useful k. | Use it as a FEM-reduction strategy, not replacement.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800" b="1">
                <a:solidFill>
                  <a:srgbClr val="1C232B"/>
                </a:solidFill>
                <a:latin typeface="Arial"/>
              </a:rPr>
              <a:t>Conclusion: Summary of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43891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1">
                <a:solidFill>
                  <a:srgbClr val="B82025"/>
                </a:solidFill>
                <a:latin typeface="Arial"/>
              </a:rP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19456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73952"/>
            <a:ext cx="27432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5029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760" b="0">
                <a:solidFill>
                  <a:srgbClr val="646C75"/>
                </a:solidFill>
                <a:latin typeface="Arial"/>
              </a:rPr>
              <a:t>45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143000"/>
            <a:ext cx="3337560" cy="507492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325880"/>
            <a:ext cx="28346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15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664208"/>
            <a:ext cx="2788920" cy="425196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1010">
                <a:solidFill>
                  <a:srgbClr val="1C232B"/>
                </a:solidFill>
                <a:latin typeface="Arial"/>
              </a:rPr>
              <a:t>- The thesis builds a FEM-anchored NAS-PINN workflow.</a:t>
            </a:r>
          </a:p>
          <a:p>
            <a:pPr>
              <a:spcAft>
                <a:spcPts val="100"/>
              </a:spcAft>
            </a:pPr>
            <a:r>
              <a:rPr sz="1010">
                <a:solidFill>
                  <a:srgbClr val="1C232B"/>
                </a:solidFill>
                <a:latin typeface="Arial"/>
              </a:rPr>
              <a:t>- Selected FEM calls can be reduced with useful accuracy.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1170432"/>
            <a:ext cx="7406640" cy="49834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0">
                <a:solidFill>
                  <a:srgbClr val="1C232B"/>
                </a:solidFill>
                <a:latin typeface="Arial"/>
              </a:rPr>
              <a:t>Finding | Evidence | Meaning
FEM calls can be reduced | 65-85% saving in many anchored cases | MSWP is effective as an accelerator
Bayesian/TPE is most robust | Strong 2D, 3D and Thermal Fin performance | Recommended default architecture
Adaptive-k helps | 83-85% saving with low MAE in 2D transfer study | Useful for early steep gradients
PINN-only fails | Thermal Fin best PINN-only is 59.20 C | FEM correction is necessary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800" b="1">
                <a:solidFill>
                  <a:srgbClr val="1C232B"/>
                </a:solidFill>
                <a:latin typeface="Arial"/>
              </a:rPr>
              <a:t>Conclusion: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43891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1">
                <a:solidFill>
                  <a:srgbClr val="B82025"/>
                </a:solidFill>
                <a:latin typeface="Arial"/>
              </a:rP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19456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73952"/>
            <a:ext cx="27432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5029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760" b="0">
                <a:solidFill>
                  <a:srgbClr val="646C75"/>
                </a:solidFill>
                <a:latin typeface="Arial"/>
              </a:rPr>
              <a:t>46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143000"/>
            <a:ext cx="3337560" cy="507492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325880"/>
            <a:ext cx="28346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15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664208"/>
            <a:ext cx="2788920" cy="425196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1010">
                <a:solidFill>
                  <a:srgbClr val="1C232B"/>
                </a:solidFill>
                <a:latin typeface="Arial"/>
              </a:rPr>
              <a:t>- The material model is simplified.</a:t>
            </a:r>
          </a:p>
          <a:p>
            <a:pPr>
              <a:spcAft>
                <a:spcPts val="100"/>
              </a:spcAft>
            </a:pPr>
            <a:r>
              <a:rPr sz="1010">
                <a:solidFill>
                  <a:srgbClr val="1C232B"/>
                </a:solidFill>
                <a:latin typeface="Arial"/>
              </a:rPr>
              <a:t>- The benchmarks are controlled, not full industrial validation.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69080" y="1143000"/>
            <a:ext cx="7406640" cy="5074920"/>
          </a:xfrm>
          <a:prstGeom prst="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371600"/>
            <a:ext cx="6858000" cy="457200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Physics simplification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Constant kT, rho cp and h. Real quenching uses temperature-dependent material properties and five boiling regimes.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Solver validation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Reference fields come from the in-house Crank-Nicolson solver, not from StaMiSim or Abaqus. Mesh independence remains future work.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NAS and data scope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NAS budget and benchmark geometries are finite. The real Mortensen mesh is the next deployment target, not yet the main experiment.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800" b="1">
                <a:solidFill>
                  <a:srgbClr val="1C232B"/>
                </a:solidFill>
                <a:latin typeface="Arial"/>
              </a:rPr>
              <a:t>Conclusion: Future Work and Closing Remarks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43891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1">
                <a:solidFill>
                  <a:srgbClr val="B82025"/>
                </a:solidFill>
                <a:latin typeface="Arial"/>
              </a:rP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19456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73952"/>
            <a:ext cx="27432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5029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760" b="0">
                <a:solidFill>
                  <a:srgbClr val="646C75"/>
                </a:solidFill>
                <a:latin typeface="Arial"/>
              </a:rPr>
              <a:t>47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143000"/>
            <a:ext cx="3337560" cy="507492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325880"/>
            <a:ext cx="28346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15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664208"/>
            <a:ext cx="2788920" cy="425196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1010">
                <a:solidFill>
                  <a:srgbClr val="1C232B"/>
                </a:solidFill>
                <a:latin typeface="Arial"/>
              </a:rPr>
              <a:t>- Future work should use temperature-dependent properties and industrial geometries.</a:t>
            </a:r>
          </a:p>
          <a:p>
            <a:pPr>
              <a:spcAft>
                <a:spcPts val="100"/>
              </a:spcAft>
            </a:pPr>
            <a:r>
              <a:rPr sz="1010">
                <a:solidFill>
                  <a:srgbClr val="1C232B"/>
                </a:solidFill>
                <a:latin typeface="Arial"/>
              </a:rPr>
              <a:t>- Goal: faster repeated simulation with controlled error.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1170432"/>
            <a:ext cx="7406640" cy="49834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0">
                <a:solidFill>
                  <a:srgbClr val="1C232B"/>
                </a:solidFill>
                <a:latin typeface="Arial"/>
              </a:rPr>
              <a:t>Future step | Why it matters
Apply to Mortensen industrial mesh | Direct test on the target deployment geometry
Use full h(T) boiling curve | Closer physics to industrial water quenching
Architecture-specific adaptive-k | Better thresholds for each architecture's baseline error
Residual-based sampling | More training effort where physics residual is hardest
Validate against StaMiSim/Abaqus | Confirm that benchmark errors reflect true physics accuracy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450" b="1">
                <a:solidFill>
                  <a:srgbClr val="1C232B"/>
                </a:solidFill>
                <a:latin typeface="Arial"/>
              </a:rPr>
              <a:t>Mortensen, D., Noorsumar, G., Fjaer, H. G., Babaei, R., &amp; Dronen, P. E. (2026). Mitigating distortions in cast automotive subframes: A finite element simulation approach. The International Journal of Advanced Manufacturing Technology, 142, 5879-5898.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43891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1">
                <a:solidFill>
                  <a:srgbClr val="B82025"/>
                </a:solidFill>
                <a:latin typeface="Arial"/>
              </a:rPr>
              <a:t>CLOSING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19456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73952"/>
            <a:ext cx="27432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5029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760" b="0">
                <a:solidFill>
                  <a:srgbClr val="646C75"/>
                </a:solidFill>
                <a:latin typeface="Arial"/>
              </a:rPr>
              <a:t>48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143000"/>
            <a:ext cx="3337560" cy="507492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325880"/>
            <a:ext cx="28346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15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664208"/>
            <a:ext cx="2788920" cy="425196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1010">
                <a:solidFill>
                  <a:srgbClr val="1C232B"/>
                </a:solidFill>
                <a:latin typeface="Arial"/>
              </a:rPr>
              <a:t>- The references connect the industrial quenching problem and the NAS-PINN method.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69080" y="1143000"/>
            <a:ext cx="7406640" cy="5074920"/>
          </a:xfrm>
          <a:prstGeom prst="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371600"/>
            <a:ext cx="6858000" cy="457200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Mortensen, D., Noorsumar, G., Fjaer, H. G., Babaei, R., &amp; Dronen, P. E. (2026). Mitigating distortions in cast automotive subframes: A finite element simulation approach. The International Journal of Advanced Manufacturing Technology, 142, 5879-5898. Wang, Y., &amp; Zhong, L. (2024). NAS-PINN: Neural architecture search-guided physics-informed neural network for solving PDEs. Journal of Computational Physics, 496, 112603. Raissi, M., Perdikaris, P., &amp; Karniadakis, G. E. (2019). Physics-informed neural networks. Journal of Computational Physics, 378, 686-707. Deb, K. et al. (2002). A fast and elitist multiobjective genetic algorithm: NSGA-II. IEEE Transactions on Evolutionary Computation. Deb, K., &amp; Jain, H. (2014). An evolutionary many-objective optimization algorithm using reference-point-based nondominated sorting: NSGA-III. IEEE Transactions on Evolutionary Computation. Akiba, T. et al. (2019). Optuna: A next-generation hyperparameter optimization framework. KDD.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800" b="1">
                <a:solidFill>
                  <a:srgbClr val="1C232B"/>
                </a:solidFill>
                <a:latin typeface="Arial"/>
              </a:rPr>
              <a:t>Q&amp;A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43891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1">
                <a:solidFill>
                  <a:srgbClr val="B82025"/>
                </a:solidFill>
                <a:latin typeface="Arial"/>
              </a:rPr>
              <a:t>CLOSING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19456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73952"/>
            <a:ext cx="27432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5029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760" b="0">
                <a:solidFill>
                  <a:srgbClr val="646C75"/>
                </a:solidFill>
                <a:latin typeface="Arial"/>
              </a:rPr>
              <a:t>49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143000"/>
            <a:ext cx="3337560" cy="507492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325880"/>
            <a:ext cx="28346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15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664208"/>
            <a:ext cx="2788920" cy="425196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1010">
                <a:solidFill>
                  <a:srgbClr val="1C232B"/>
                </a:solidFill>
                <a:latin typeface="Arial"/>
              </a:rPr>
              <a:t>- For accuracy questions: use MAE and L2.</a:t>
            </a:r>
          </a:p>
          <a:p>
            <a:pPr>
              <a:spcAft>
                <a:spcPts val="100"/>
              </a:spcAft>
            </a:pPr>
            <a:r>
              <a:rPr sz="1010">
                <a:solidFill>
                  <a:srgbClr val="1C232B"/>
                </a:solidFill>
                <a:latin typeface="Arial"/>
              </a:rPr>
              <a:t>- For speed questions: use FEM anchor reduction.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1170432"/>
            <a:ext cx="7406640" cy="49834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0">
                <a:solidFill>
                  <a:srgbClr val="1C232B"/>
                </a:solidFill>
                <a:latin typeface="Arial"/>
              </a:rPr>
              <a:t>Question | Short answer | Result link
What is FEM? | A trusted numerical solver used as reference and anchor. | It gives the correction snapshots.
What is PINN? | A neural network trained with data error and heat-equation physics. | It predicts between FEM anchors.
What is NAS-PINN? | A PINN whose architecture is selected by search, not by hand. | Bayesian/TPE is the most robust choice.
MAE vs L2? | MAE is average Celsius error; L2 is field error at t=30 s. | Both are needed to judge accuracy.
Why adaptive-k? | It changes window length based on error. | It saves FEM calls safely in simpler cases.
Why not PINN-only? | Without FEM anchors, errors accumulate. | Thermal Fin PINN-only fails clearly.
Why is PINN useful if training is slow? | Training is paid once; inference is fast for repeated use. | Useful when many FEM solves are needed.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0584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800" b="1">
                <a:solidFill>
                  <a:srgbClr val="1C232B"/>
                </a:solidFill>
                <a:latin typeface="Arial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43891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70" b="1">
                <a:solidFill>
                  <a:srgbClr val="B82025"/>
                </a:solidFill>
                <a:latin typeface="Arial"/>
              </a:rPr>
              <a:t>CLOSING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55680" cy="9144"/>
          </a:xfrm>
          <a:prstGeom prst="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219456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73952"/>
            <a:ext cx="27432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76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50292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/>
            <a:r>
              <a:rPr sz="760" b="0">
                <a:solidFill>
                  <a:srgbClr val="646C75"/>
                </a:solidFill>
                <a:latin typeface="Arial"/>
              </a:rPr>
              <a:t>50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143000"/>
            <a:ext cx="3337560" cy="5074920"/>
          </a:xfrm>
          <a:prstGeom prst="rect">
            <a:avLst/>
          </a:prstGeom>
          <a:solidFill>
            <a:srgbClr val="F8F9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325880"/>
            <a:ext cx="28346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150" b="1">
                <a:solidFill>
                  <a:srgbClr val="B82025"/>
                </a:solidFill>
                <a:latin typeface="Arial"/>
              </a:rPr>
              <a:t>What this slide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664208"/>
            <a:ext cx="2788920" cy="425196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1010">
                <a:solidFill>
                  <a:srgbClr val="1C232B"/>
                </a:solidFill>
                <a:latin typeface="Arial"/>
              </a:rPr>
              <a:t>- Final message: FEM is not removed.</a:t>
            </a:r>
          </a:p>
          <a:p>
            <a:pPr>
              <a:spcAft>
                <a:spcPts val="100"/>
              </a:spcAft>
            </a:pPr>
            <a:r>
              <a:rPr sz="1010">
                <a:solidFill>
                  <a:srgbClr val="1C232B"/>
                </a:solidFill>
                <a:latin typeface="Arial"/>
              </a:rPr>
              <a:t>- FEM anchors give trust; NAS-PINN reduces selected repeated FEM work.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69080" y="1143000"/>
            <a:ext cx="7406640" cy="5074920"/>
          </a:xfrm>
          <a:prstGeom prst="rect">
            <a:avLst/>
          </a:prstGeom>
          <a:solidFill>
            <a:srgbClr val="FFFFFF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371600"/>
            <a:ext cx="6858000" cy="457200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Thank you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Questions and discussion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Main takeaway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1C232B"/>
                </a:solidFill>
                <a:latin typeface="Arial"/>
              </a:rPr>
              <a:t>- FEM-anchored NAS-PINN can reduce FEM calls while keeping useful thermal-field accuracy. FEM is accelerated, not removed.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