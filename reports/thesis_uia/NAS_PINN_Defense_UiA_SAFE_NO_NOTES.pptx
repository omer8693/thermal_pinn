
<file path=[Content_Types].xml><?xml version="1.0" encoding="utf-8"?>
<ct:Types xmlns:ct="http://schemas.openxmlformats.org/package/2006/content-types">
  <ct:Default Extension="bin" ContentType="application/vnd.openxmlformats-officedocument.presentationml.printerSettings"/>
  <ct:Default Extension="jpeg" ContentType="image/jpeg"/>
  <ct:Default Extension="png" ContentType="image/png"/>
  <ct:Default Extension="rels" ContentType="application/vnd.openxmlformats-package.relationships+xml"/>
  <ct:Default Extension="xml" ContentType="application/xml"/>
  <ct:Override PartName="/docProps/app.xml" ContentType="application/vnd.openxmlformats-officedocument.extended-properties+xml"/>
  <ct:Override PartName="/docProps/core.xml" ContentType="application/vnd.openxmlformats-package.core-properties+xml"/>
  <ct:Override PartName="/ppt/presProps.xml" ContentType="application/vnd.openxmlformats-officedocument.presentationml.presProps+xml"/>
  <ct:Override PartName="/ppt/presentation.xml" ContentType="application/vnd.openxmlformats-officedocument.presentationml.presentation.main+xml"/>
  <ct:Override PartName="/ppt/slideLayouts/slideLayout1.xml" ContentType="application/vnd.openxmlformats-officedocument.presentationml.slideLayout+xml"/>
  <ct:Override PartName="/ppt/slideLayouts/slideLayout10.xml" ContentType="application/vnd.openxmlformats-officedocument.presentationml.slideLayout+xml"/>
  <ct:Override PartName="/ppt/slideLayouts/slideLayout11.xml" ContentType="application/vnd.openxmlformats-officedocument.presentationml.slideLayout+xml"/>
  <ct:Override PartName="/ppt/slideLayouts/slideLayout2.xml" ContentType="application/vnd.openxmlformats-officedocument.presentationml.slideLayout+xml"/>
  <ct:Override PartName="/ppt/slideLayouts/slideLayout3.xml" ContentType="application/vnd.openxmlformats-officedocument.presentationml.slideLayout+xml"/>
  <ct:Override PartName="/ppt/slideLayouts/slideLayout4.xml" ContentType="application/vnd.openxmlformats-officedocument.presentationml.slideLayout+xml"/>
  <ct:Override PartName="/ppt/slideLayouts/slideLayout5.xml" ContentType="application/vnd.openxmlformats-officedocument.presentationml.slideLayout+xml"/>
  <ct:Override PartName="/ppt/slideLayouts/slideLayout6.xml" ContentType="application/vnd.openxmlformats-officedocument.presentationml.slideLayout+xml"/>
  <ct:Override PartName="/ppt/slideLayouts/slideLayout7.xml" ContentType="application/vnd.openxmlformats-officedocument.presentationml.slideLayout+xml"/>
  <ct:Override PartName="/ppt/slideLayouts/slideLayout8.xml" ContentType="application/vnd.openxmlformats-officedocument.presentationml.slideLayout+xml"/>
  <ct:Override PartName="/ppt/slideLayouts/slideLayout9.xml" ContentType="application/vnd.openxmlformats-officedocument.presentationml.slideLayout+xml"/>
  <ct:Override PartName="/ppt/slideMasters/slideMaster1.xml" ContentType="application/vnd.openxmlformats-officedocument.presentationml.slideMaster+xml"/>
  <ct:Override PartName="/ppt/slides/slide1.xml" ContentType="application/vnd.openxmlformats-officedocument.presentationml.slide+xml"/>
  <ct:Override PartName="/ppt/slides/slide10.xml" ContentType="application/vnd.openxmlformats-officedocument.presentationml.slide+xml"/>
  <ct:Override PartName="/ppt/slides/slide11.xml" ContentType="application/vnd.openxmlformats-officedocument.presentationml.slide+xml"/>
  <ct:Override PartName="/ppt/slides/slide12.xml" ContentType="application/vnd.openxmlformats-officedocument.presentationml.slide+xml"/>
  <ct:Override PartName="/ppt/slides/slide13.xml" ContentType="application/vnd.openxmlformats-officedocument.presentationml.slide+xml"/>
  <ct:Override PartName="/ppt/slides/slide14.xml" ContentType="application/vnd.openxmlformats-officedocument.presentationml.slide+xml"/>
  <ct:Override PartName="/ppt/slides/slide15.xml" ContentType="application/vnd.openxmlformats-officedocument.presentationml.slide+xml"/>
  <ct:Override PartName="/ppt/slides/slide16.xml" ContentType="application/vnd.openxmlformats-officedocument.presentationml.slide+xml"/>
  <ct:Override PartName="/ppt/slides/slide17.xml" ContentType="application/vnd.openxmlformats-officedocument.presentationml.slide+xml"/>
  <ct:Override PartName="/ppt/slides/slide18.xml" ContentType="application/vnd.openxmlformats-officedocument.presentationml.slide+xml"/>
  <ct:Override PartName="/ppt/slides/slide19.xml" ContentType="application/vnd.openxmlformats-officedocument.presentationml.slide+xml"/>
  <ct:Override PartName="/ppt/slides/slide2.xml" ContentType="application/vnd.openxmlformats-officedocument.presentationml.slide+xml"/>
  <ct:Override PartName="/ppt/slides/slide20.xml" ContentType="application/vnd.openxmlformats-officedocument.presentationml.slide+xml"/>
  <ct:Override PartName="/ppt/slides/slide21.xml" ContentType="application/vnd.openxmlformats-officedocument.presentationml.slide+xml"/>
  <ct:Override PartName="/ppt/slides/slide22.xml" ContentType="application/vnd.openxmlformats-officedocument.presentationml.slide+xml"/>
  <ct:Override PartName="/ppt/slides/slide23.xml" ContentType="application/vnd.openxmlformats-officedocument.presentationml.slide+xml"/>
  <ct:Override PartName="/ppt/slides/slide24.xml" ContentType="application/vnd.openxmlformats-officedocument.presentationml.slide+xml"/>
  <ct:Override PartName="/ppt/slides/slide25.xml" ContentType="application/vnd.openxmlformats-officedocument.presentationml.slide+xml"/>
  <ct:Override PartName="/ppt/slides/slide26.xml" ContentType="application/vnd.openxmlformats-officedocument.presentationml.slide+xml"/>
  <ct:Override PartName="/ppt/slides/slide27.xml" ContentType="application/vnd.openxmlformats-officedocument.presentationml.slide+xml"/>
  <ct:Override PartName="/ppt/slides/slide28.xml" ContentType="application/vnd.openxmlformats-officedocument.presentationml.slide+xml"/>
  <ct:Override PartName="/ppt/slides/slide29.xml" ContentType="application/vnd.openxmlformats-officedocument.presentationml.slide+xml"/>
  <ct:Override PartName="/ppt/slides/slide3.xml" ContentType="application/vnd.openxmlformats-officedocument.presentationml.slide+xml"/>
  <ct:Override PartName="/ppt/slides/slide30.xml" ContentType="application/vnd.openxmlformats-officedocument.presentationml.slide+xml"/>
  <ct:Override PartName="/ppt/slides/slide31.xml" ContentType="application/vnd.openxmlformats-officedocument.presentationml.slide+xml"/>
  <ct:Override PartName="/ppt/slides/slide32.xml" ContentType="application/vnd.openxmlformats-officedocument.presentationml.slide+xml"/>
  <ct:Override PartName="/ppt/slides/slide33.xml" ContentType="application/vnd.openxmlformats-officedocument.presentationml.slide+xml"/>
  <ct:Override PartName="/ppt/slides/slide34.xml" ContentType="application/vnd.openxmlformats-officedocument.presentationml.slide+xml"/>
  <ct:Override PartName="/ppt/slides/slide35.xml" ContentType="application/vnd.openxmlformats-officedocument.presentationml.slide+xml"/>
  <ct:Override PartName="/ppt/slides/slide36.xml" ContentType="application/vnd.openxmlformats-officedocument.presentationml.slide+xml"/>
  <ct:Override PartName="/ppt/slides/slide37.xml" ContentType="application/vnd.openxmlformats-officedocument.presentationml.slide+xml"/>
  <ct:Override PartName="/ppt/slides/slide38.xml" ContentType="application/vnd.openxmlformats-officedocument.presentationml.slide+xml"/>
  <ct:Override PartName="/ppt/slides/slide39.xml" ContentType="application/vnd.openxmlformats-officedocument.presentationml.slide+xml"/>
  <ct:Override PartName="/ppt/slides/slide4.xml" ContentType="application/vnd.openxmlformats-officedocument.presentationml.slide+xml"/>
  <ct:Override PartName="/ppt/slides/slide40.xml" ContentType="application/vnd.openxmlformats-officedocument.presentationml.slide+xml"/>
  <ct:Override PartName="/ppt/slides/slide41.xml" ContentType="application/vnd.openxmlformats-officedocument.presentationml.slide+xml"/>
  <ct:Override PartName="/ppt/slides/slide42.xml" ContentType="application/vnd.openxmlformats-officedocument.presentationml.slide+xml"/>
  <ct:Override PartName="/ppt/slides/slide43.xml" ContentType="application/vnd.openxmlformats-officedocument.presentationml.slide+xml"/>
  <ct:Override PartName="/ppt/slides/slide44.xml" ContentType="application/vnd.openxmlformats-officedocument.presentationml.slide+xml"/>
  <ct:Override PartName="/ppt/slides/slide45.xml" ContentType="application/vnd.openxmlformats-officedocument.presentationml.slide+xml"/>
  <ct:Override PartName="/ppt/slides/slide46.xml" ContentType="application/vnd.openxmlformats-officedocument.presentationml.slide+xml"/>
  <ct:Override PartName="/ppt/slides/slide47.xml" ContentType="application/vnd.openxmlformats-officedocument.presentationml.slide+xml"/>
  <ct:Override PartName="/ppt/slides/slide48.xml" ContentType="application/vnd.openxmlformats-officedocument.presentationml.slide+xml"/>
  <ct:Override PartName="/ppt/slides/slide49.xml" ContentType="application/vnd.openxmlformats-officedocument.presentationml.slide+xml"/>
  <ct:Override PartName="/ppt/slides/slide5.xml" ContentType="application/vnd.openxmlformats-officedocument.presentationml.slide+xml"/>
  <ct:Override PartName="/ppt/slides/slide50.xml" ContentType="application/vnd.openxmlformats-officedocument.presentationml.slide+xml"/>
  <ct:Override PartName="/ppt/slides/slide6.xml" ContentType="application/vnd.openxmlformats-officedocument.presentationml.slide+xml"/>
  <ct:Override PartName="/ppt/slides/slide7.xml" ContentType="application/vnd.openxmlformats-officedocument.presentationml.slide+xml"/>
  <ct:Override PartName="/ppt/slides/slide8.xml" ContentType="application/vnd.openxmlformats-officedocument.presentationml.slide+xml"/>
  <ct:Override PartName="/ppt/slides/slide9.xml" ContentType="application/vnd.openxmlformats-officedocument.presentationml.slide+xml"/>
  <ct:Override PartName="/ppt/tableStyles.xml" ContentType="application/vnd.openxmlformats-officedocument.presentationml.tableStyles+xml"/>
  <ct:Override PartName="/ppt/theme/theme1.xml" ContentType="application/vnd.openxmlformats-officedocument.theme+xml"/>
  <ct:Override PartName="/ppt/theme/theme2.xml" ContentType="application/vnd.openxmlformats-officedocument.theme+xml"/>
  <ct:Override PartName="/ppt/viewProps.xml" ContentType="application/vnd.openxmlformats-officedocument.presentationml.viewProps+xml"/>
</ct: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360" r:id="rId_A356"/>
    <p:sldId id="259" r:id="rId11"/>
    <p:sldId id="361" r:id="rId55"/>
    <p:sldId id="262" r:id="rId14"/>
    <p:sldId id="264" r:id="rId16"/>
    <p:sldId id="265" r:id="rId17"/>
    <p:sldId id="269" r:id="rId22"/>
    <p:sldId id="271" r:id="rId23"/>
    <p:sldId id="272" r:id="rId24"/>
    <p:sldId id="350" r:id="rId_B1"/>
    <p:sldId id="261" r:id="rId13"/>
    <p:sldId id="351" r:id="rId_B2"/>
    <p:sldId id="274" r:id="rId26"/>
    <p:sldId id="275" r:id="rId27"/>
    <p:sldId id="266" r:id="rId18"/>
    <p:sldId id="276" r:id="rId28"/>
    <p:sldId id="352" r:id="rId_B3"/>
    <p:sldId id="268" r:id="rId21"/>
    <p:sldId id="273" r:id="rId25"/>
    <p:sldId id="277" r:id="rId29"/>
    <p:sldId id="278" r:id="rId30"/>
    <p:sldId id="279" r:id="rId31"/>
    <p:sldId id="282" r:id="rId34"/>
    <p:sldId id="283" r:id="rId35"/>
    <p:sldId id="284" r:id="rId36"/>
    <p:sldId id="285" r:id="rId37"/>
    <p:sldId id="286" r:id="rId38"/>
    <p:sldId id="287" r:id="rId39"/>
    <p:sldId id="289" r:id="rId41"/>
    <p:sldId id="291" r:id="rId43"/>
    <p:sldId id="292" r:id="rId44"/>
    <p:sldId id="294" r:id="rId46"/>
    <p:sldId id="297" r:id="rId49"/>
    <p:sldId id="298" r:id="rId50"/>
    <p:sldId id="299" r:id="rId51"/>
    <p:sldId id="300" r:id="rId52"/>
    <p:sldId id="301" r:id="rId53"/>
    <p:sldId id="302" r:id="rId54"/>
    <p:sldId id="304" r:id="rId56"/>
    <p:sldId id="305" r:id="rId57"/>
    <p:sldId id="306" r:id="rId58"/>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3.xml" /><Relationship Id="rId11" Type="http://schemas.openxmlformats.org/officeDocument/2006/relationships/slide" Target="slides/slide5.xml" /><Relationship Id="rId13" Type="http://schemas.openxmlformats.org/officeDocument/2006/relationships/slide" Target="slides/slide14.xml" /><Relationship Id="rId14"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8.xml" /><Relationship Id="rId2" Type="http://schemas.openxmlformats.org/officeDocument/2006/relationships/printerSettings" Target="printerSettings/printerSettings1.bin" /><Relationship Id="rId21" Type="http://schemas.openxmlformats.org/officeDocument/2006/relationships/slide" Target="slides/slide21.xml" /><Relationship Id="rId22" Type="http://schemas.openxmlformats.org/officeDocument/2006/relationships/slide" Target="slides/slide10.xml" /><Relationship Id="rId23" Type="http://schemas.openxmlformats.org/officeDocument/2006/relationships/slide" Target="slides/slide11.xml" /><Relationship Id="rId24" Type="http://schemas.openxmlformats.org/officeDocument/2006/relationships/slide" Target="slides/slide12.xml" /><Relationship Id="rId25" Type="http://schemas.openxmlformats.org/officeDocument/2006/relationships/slide" Target="slides/slide22.xml"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9.xml" /><Relationship Id="rId29" Type="http://schemas.openxmlformats.org/officeDocument/2006/relationships/slide" Target="slides/slide23.xml" /><Relationship Id="rId3" Type="http://schemas.openxmlformats.org/officeDocument/2006/relationships/presProps" Target="presProps.xml" /><Relationship Id="rId30" Type="http://schemas.openxmlformats.org/officeDocument/2006/relationships/slide" Target="slides/slide24.xml" /><Relationship Id="rId31"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 Type="http://schemas.openxmlformats.org/officeDocument/2006/relationships/viewProps" Target="viewProps.xml" /><Relationship Id="rId41" Type="http://schemas.openxmlformats.org/officeDocument/2006/relationships/slide" Target="slides/slide32.xml" /><Relationship Id="rId43" Type="http://schemas.openxmlformats.org/officeDocument/2006/relationships/slide" Target="slides/slide33.xml" /><Relationship Id="rId44" Type="http://schemas.openxmlformats.org/officeDocument/2006/relationships/slide" Target="slides/slide34.xml" /><Relationship Id="rId46" Type="http://schemas.openxmlformats.org/officeDocument/2006/relationships/slide" Target="slides/slide35.xml" /><Relationship Id="rId49" Type="http://schemas.openxmlformats.org/officeDocument/2006/relationships/slide" Target="slides/slide36.xml" /><Relationship Id="rId5" Type="http://schemas.openxmlformats.org/officeDocument/2006/relationships/theme" Target="theme/theme1.xml" /><Relationship Id="rId50" Type="http://schemas.openxmlformats.org/officeDocument/2006/relationships/slide" Target="slides/slide37.xml" /><Relationship Id="rId51" Type="http://schemas.openxmlformats.org/officeDocument/2006/relationships/slide" Target="slides/slide38.xml" /><Relationship Id="rId52" Type="http://schemas.openxmlformats.org/officeDocument/2006/relationships/slide" Target="slides/slide39.xml" /><Relationship Id="rId53" Type="http://schemas.openxmlformats.org/officeDocument/2006/relationships/slide" Target="slides/slide40.xml" /><Relationship Id="rId54" Type="http://schemas.openxmlformats.org/officeDocument/2006/relationships/slide" Target="slides/slide41.xml" /><Relationship Id="rId55" Type="http://schemas.openxmlformats.org/officeDocument/2006/relationships/slide" Target="slides/slide6.xml" /><Relationship Id="rId56" Type="http://schemas.openxmlformats.org/officeDocument/2006/relationships/slide" Target="slides/slide42.xml" /><Relationship Id="rId57" Type="http://schemas.openxmlformats.org/officeDocument/2006/relationships/slide" Target="slides/slide43.xml" /><Relationship Id="rId58" Type="http://schemas.openxmlformats.org/officeDocument/2006/relationships/slide" Target="slides/slide44.xml" /><Relationship Id="rId6" Type="http://schemas.openxmlformats.org/officeDocument/2006/relationships/tableStyles" Target="tableStyles.xml" /><Relationship Id="rId60" Type="http://schemas.openxmlformats.org/officeDocument/2006/relationships/slide" Target="slides/slide45.xml" /><Relationship Id="rId61" Type="http://schemas.openxmlformats.org/officeDocument/2006/relationships/slide" Target="slides/slide46.xml" /><Relationship Id="rId62" Type="http://schemas.openxmlformats.org/officeDocument/2006/relationships/slide" Target="slides/slide47.xml" /><Relationship Id="rId63" Type="http://schemas.openxmlformats.org/officeDocument/2006/relationships/slide" Target="slides/slide48.xml" /><Relationship Id="rId64" Type="http://schemas.openxmlformats.org/officeDocument/2006/relationships/slide" Target="slides/slide49.xml" /><Relationship Id="rId65" Type="http://schemas.openxmlformats.org/officeDocument/2006/relationships/slide" Target="slides/slide50.xml" /><Relationship Id="rId7" Type="http://schemas.openxmlformats.org/officeDocument/2006/relationships/slide" Target="slides/slide1.xml" /><Relationship Id="rId9" Type="http://schemas.openxmlformats.org/officeDocument/2006/relationships/slide" Target="slides/slide2.xml" /><Relationship Id="rId_A356" Type="http://schemas.openxmlformats.org/officeDocument/2006/relationships/slide" Target="slides/slide4.xml" /><Relationship Id="rId_B1" Type="http://schemas.openxmlformats.org/officeDocument/2006/relationships/slide" Target="slides/slide13.xml" /><Relationship Id="rId_B2" Type="http://schemas.openxmlformats.org/officeDocument/2006/relationships/slide" Target="slides/slide15.xml" /><Relationship Id="rId_B3" Type="http://schemas.openxmlformats.org/officeDocument/2006/relationships/slide" Target="slides/slide2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_a356_infographic.png"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png" /><Relationship Id="rId4" Type="http://schemas.openxmlformats.org/officeDocument/2006/relationships/image" Target="../media/image_mortensen_fig1.png"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2.png"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5.png"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6.pn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_naspinn_diagram.png" /><Relationship Id="rId4" Type="http://schemas.openxmlformats.org/officeDocument/2006/relationships/image" Target="../media/image_naspinn_diagram.pn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7.pn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8.pn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4.pn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pn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3.png" /><Relationship Id="rId4" Type="http://schemas.openxmlformats.org/officeDocument/2006/relationships/image" Target="../media/image9.pn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10.png" /><Relationship Id="rId4" Type="http://schemas.openxmlformats.org/officeDocument/2006/relationships/image" Target="../media/image11.pn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13.png" /><Relationship Id="rId4" Type="http://schemas.openxmlformats.org/officeDocument/2006/relationships/image" Target="../media/image14.pn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15.png" /><Relationship Id="rId4" Type="http://schemas.openxmlformats.org/officeDocument/2006/relationships/image" Target="../media/image16.png" /><Relationship Id="rId5" Type="http://schemas.openxmlformats.org/officeDocument/2006/relationships/image" Target="../media/image17.png" /><Relationship Id="rId6" Type="http://schemas.openxmlformats.org/officeDocument/2006/relationships/image" Target="../media/image18.pn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19.png" /><Relationship Id="rId4" Type="http://schemas.openxmlformats.org/officeDocument/2006/relationships/image" Target="../media/image20.pn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1.png" /><Relationship Id="rId4" Type="http://schemas.openxmlformats.org/officeDocument/2006/relationships/image" Target="../media/image22.pn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3.png" /><Relationship Id="rId4" Type="http://schemas.openxmlformats.org/officeDocument/2006/relationships/image" Target="../media/image24.pn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5.png" /><Relationship Id="rId4" Type="http://schemas.openxmlformats.org/officeDocument/2006/relationships/image" Target="../media/image26.png" /><Relationship Id="rId5" Type="http://schemas.openxmlformats.org/officeDocument/2006/relationships/image" Target="../media/image27.pn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29.png" /><Relationship Id="rId4" Type="http://schemas.openxmlformats.org/officeDocument/2006/relationships/image" Target="../media/image30.pn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33.png" /><Relationship Id="rId4" Type="http://schemas.openxmlformats.org/officeDocument/2006/relationships/image" Target="../media/image34.pn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35.png" /><Relationship Id="rId4" Type="http://schemas.openxmlformats.org/officeDocument/2006/relationships/image" Target="../media/image36.png" /><Relationship Id="rId5" Type="http://schemas.openxmlformats.org/officeDocument/2006/relationships/image" Target="../media/image37.pn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38.pn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42.png" /><Relationship Id="rId4" Type="http://schemas.openxmlformats.org/officeDocument/2006/relationships/image" Target="../media/image43.pn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44.png" /><Relationship Id="rId4" Type="http://schemas.openxmlformats.org/officeDocument/2006/relationships/image" Target="../media/image45.png" /><Relationship Id="rId5" Type="http://schemas.openxmlformats.org/officeDocument/2006/relationships/image" Target="../media/image46.pn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47.png" /><Relationship Id="rId4" Type="http://schemas.openxmlformats.org/officeDocument/2006/relationships/image" Target="../media/image48.pn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49.png" /><Relationship Id="rId4" Type="http://schemas.openxmlformats.org/officeDocument/2006/relationships/image" Target="../media/image50.png" /><Relationship Id="rId5" Type="http://schemas.openxmlformats.org/officeDocument/2006/relationships/image" Target="../media/image51.pn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52.png" /><Relationship Id="rId4" Type="http://schemas.openxmlformats.org/officeDocument/2006/relationships/image" Target="../media/image53.pn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7.xml" /><Relationship Id="rId3" Type="http://schemas.openxmlformats.org/officeDocument/2006/relationships/image" Target="../media/image54.png" /><Relationship Id="rId4" Type="http://schemas.openxmlformats.org/officeDocument/2006/relationships/image" Target="../media/image55.pn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4114800" cy="274320"/>
          </a:xfrm>
          <a:prstGeom prst="rect">
            <a:avLst/>
          </a:prstGeom>
          <a:noFill/>
        </p:spPr>
        <p:txBody>
          <a:bodyPr wrap="square">
            <a:normAutofit/>
          </a:bodyPr>
          <a:lstStyle/>
          <a:p>
            <a:r>
              <a:rPr sz="1500" b="1">
                <a:solidFill>
                  <a:srgbClr val="FFFFFF"/>
                </a:solidFill>
                <a:latin typeface="Arial"/>
              </a:rPr>
              <a:t>UiA | University of Agder</a:t>
            </a:r>
          </a:p>
        </p:txBody>
      </p:sp>
      <p:sp>
        <p:nvSpPr>
          <p:cNvPr id="4" name="TextBox 3"/>
          <p:cNvSpPr txBox="1"/>
          <p:nvPr/>
        </p:nvSpPr>
        <p:spPr>
          <a:xfrm>
            <a:off x="685800" y="1600200"/>
            <a:ext cx="10789920" cy="502920"/>
          </a:xfrm>
          <a:prstGeom prst="rect">
            <a:avLst/>
          </a:prstGeom>
          <a:noFill/>
        </p:spPr>
        <p:txBody>
          <a:bodyPr wrap="square">
            <a:normAutofit/>
          </a:bodyPr>
          <a:lstStyle/>
          <a:p>
            <a:r>
              <a:rPr sz="2900" b="1">
                <a:solidFill>
                  <a:srgbClr val="1C232B"/>
                </a:solidFill>
                <a:latin typeface="Arial"/>
              </a:rPr>
              <a:t>NAS-Guided FEM-Anchored PINNs</a:t>
            </a:r>
          </a:p>
        </p:txBody>
      </p:sp>
      <p:sp>
        <p:nvSpPr>
          <p:cNvPr id="5" name="TextBox 4"/>
          <p:cNvSpPr txBox="1"/>
          <p:nvPr/>
        </p:nvSpPr>
        <p:spPr>
          <a:xfrm>
            <a:off x="713232" y="2221992"/>
            <a:ext cx="10515600" cy="384048"/>
          </a:xfrm>
          <a:prstGeom prst="rect">
            <a:avLst/>
          </a:prstGeom>
          <a:noFill/>
        </p:spPr>
        <p:txBody>
          <a:bodyPr wrap="square">
            <a:normAutofit/>
          </a:bodyPr>
          <a:lstStyle/>
          <a:p>
            <a:r>
              <a:rPr sz="1600" b="1">
                <a:solidFill>
                  <a:srgbClr val="B82025"/>
                </a:solidFill>
                <a:latin typeface="Arial"/>
              </a:rPr>
              <a:t>Multi-Step Window Prediction for Transient A356 Water Quenching</a:t>
            </a:r>
          </a:p>
        </p:txBody>
      </p:sp>
      <p:sp>
        <p:nvSpPr>
          <p:cNvPr id="6" name="TextBox 5"/>
          <p:cNvSpPr txBox="1"/>
          <p:nvPr/>
        </p:nvSpPr>
        <p:spPr>
          <a:xfrm>
            <a:off x="713232" y="2788920"/>
            <a:ext cx="10241280" cy="502920"/>
          </a:xfrm>
          <a:prstGeom prst="rect">
            <a:avLst/>
          </a:prstGeom>
          <a:noFill/>
        </p:spPr>
        <p:txBody>
          <a:bodyPr wrap="square">
            <a:normAutofit/>
          </a:bodyPr>
          <a:lstStyle/>
          <a:p>
            <a:r>
              <a:rPr sz="1500" b="0">
                <a:solidFill>
                  <a:srgbClr val="1C232B"/>
                </a:solidFill>
                <a:latin typeface="Arial"/>
              </a:rPr>
              <a:t>Step Optimization in Thermal Simulation Using Selective Finite Element Method Step Skipping</a:t>
            </a:r>
          </a:p>
        </p:txBody>
      </p:sp>
      <p:sp>
        <p:nvSpPr>
          <p:cNvPr id="7" name="TextBox 6"/>
          <p:cNvSpPr txBox="1"/>
          <p:nvPr/>
        </p:nvSpPr>
        <p:spPr>
          <a:xfrm>
            <a:off x="713232" y="4069080"/>
            <a:ext cx="7772400" cy="320040"/>
          </a:xfrm>
          <a:prstGeom prst="rect">
            <a:avLst/>
          </a:prstGeom>
          <a:noFill/>
        </p:spPr>
        <p:txBody>
          <a:bodyPr wrap="square">
            <a:normAutofit/>
          </a:bodyPr>
          <a:lstStyle/>
          <a:p>
            <a:r>
              <a:rPr sz="1400" b="1">
                <a:solidFill>
                  <a:srgbClr val="1C232B"/>
                </a:solidFill>
                <a:latin typeface="Arial"/>
              </a:rPr>
              <a:t>Omer Cetinkaya | University of Agder | 2026</a:t>
            </a:r>
          </a:p>
        </p:txBody>
      </p:sp>
      <p:sp>
        <p:nvSpPr>
          <p:cNvPr id="8" name="TextBox 7"/>
          <p:cNvSpPr txBox="1"/>
          <p:nvPr/>
        </p:nvSpPr>
        <p:spPr>
          <a:xfrm>
            <a:off x="713232" y="4462272"/>
            <a:ext cx="7772400" cy="274320"/>
          </a:xfrm>
          <a:prstGeom prst="rect">
            <a:avLst/>
          </a:prstGeom>
          <a:noFill/>
        </p:spPr>
        <p:txBody>
          <a:bodyPr wrap="square">
            <a:normAutofit/>
          </a:bodyPr>
          <a:lstStyle/>
          <a:p>
            <a:r>
              <a:rPr sz="1200" b="0">
                <a:solidFill>
                  <a:srgbClr val="646C75"/>
                </a:solidFill>
                <a:latin typeface="Arial"/>
              </a:rPr>
              <a:t>Supervisor: Prof. Turgay Celik</a:t>
            </a:r>
          </a:p>
        </p:txBody>
      </p:sp>
      <p:sp>
        <p:nvSpPr>
          <p:cNvPr id="9" name="Rectangle 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2" name="TextBox 1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3" name="TextBox 1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868680"/>
            <a:ext cx="2788920" cy="16459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4632" y="1033271"/>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7" y="1014983"/>
            <a:ext cx="1965960" cy="310896"/>
          </a:xfrm>
          <a:prstGeom prst="rect">
            <a:avLst/>
          </a:prstGeom>
          <a:noFill/>
        </p:spPr>
        <p:txBody>
          <a:bodyPr wrap="square">
            <a:spAutoFit/>
          </a:bodyPr>
          <a:lstStyle/>
          <a:p>
            <a:pPr algn="l">
              <a:defRPr sz="1200" b="1">
                <a:solidFill>
                  <a:srgbClr val="97423E"/>
                </a:solidFill>
                <a:latin typeface="Aptos"/>
              </a:defRPr>
            </a:pPr>
            <a:r>
              <a:t>Intro</a:t>
            </a:r>
          </a:p>
        </p:txBody>
      </p:sp>
      <p:sp>
        <p:nvSpPr>
          <p:cNvPr id="11" name="TextBox 10"/>
          <p:cNvSpPr txBox="1"/>
          <p:nvPr/>
        </p:nvSpPr>
        <p:spPr>
          <a:xfrm>
            <a:off x="521207" y="1527048"/>
            <a:ext cx="2386584" cy="859536"/>
          </a:xfrm>
          <a:prstGeom prst="rect">
            <a:avLst/>
          </a:prstGeom>
          <a:noFill/>
        </p:spPr>
        <p:txBody>
          <a:bodyPr wrap="square">
            <a:spAutoFit/>
          </a:bodyPr>
          <a:lstStyle/>
          <a:p>
            <a:pPr algn="l">
              <a:defRPr sz="900" b="0">
                <a:solidFill>
                  <a:srgbClr val="302422"/>
                </a:solidFill>
                <a:latin typeface="Aptos"/>
              </a:defRPr>
            </a:pPr>
            <a:r>
              <a:t>Why this problem · what we built · how we test</a:t>
            </a:r>
          </a:p>
        </p:txBody>
      </p:sp>
      <p:sp>
        <p:nvSpPr>
          <p:cNvPr id="12" name="Rectangle 11"/>
          <p:cNvSpPr/>
          <p:nvPr/>
        </p:nvSpPr>
        <p:spPr>
          <a:xfrm>
            <a:off x="3246120" y="868680"/>
            <a:ext cx="2788920" cy="16459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0712" y="1033271"/>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04487" y="1014983"/>
            <a:ext cx="1965960" cy="310896"/>
          </a:xfrm>
          <a:prstGeom prst="rect">
            <a:avLst/>
          </a:prstGeom>
          <a:noFill/>
        </p:spPr>
        <p:txBody>
          <a:bodyPr wrap="square">
            <a:spAutoFit/>
          </a:bodyPr>
          <a:lstStyle/>
          <a:p>
            <a:pPr algn="l">
              <a:defRPr sz="1200" b="1">
                <a:solidFill>
                  <a:srgbClr val="97423E"/>
                </a:solidFill>
                <a:latin typeface="Aptos"/>
              </a:defRPr>
            </a:pPr>
            <a:r>
              <a:t>Theory</a:t>
            </a:r>
          </a:p>
        </p:txBody>
      </p:sp>
      <p:sp>
        <p:nvSpPr>
          <p:cNvPr id="16" name="TextBox 15"/>
          <p:cNvSpPr txBox="1"/>
          <p:nvPr/>
        </p:nvSpPr>
        <p:spPr>
          <a:xfrm>
            <a:off x="3447288" y="1527048"/>
            <a:ext cx="2386584" cy="859536"/>
          </a:xfrm>
          <a:prstGeom prst="rect">
            <a:avLst/>
          </a:prstGeom>
          <a:noFill/>
        </p:spPr>
        <p:txBody>
          <a:bodyPr wrap="square">
            <a:spAutoFit/>
          </a:bodyPr>
          <a:lstStyle/>
          <a:p>
            <a:pPr algn="l">
              <a:defRPr sz="900" b="0">
                <a:solidFill>
                  <a:srgbClr val="302422"/>
                </a:solidFill>
                <a:latin typeface="Aptos"/>
              </a:defRPr>
            </a:pPr>
            <a:r>
              <a:t>Heat equation · FEM · PINN · NAS-PINN</a:t>
            </a:r>
          </a:p>
        </p:txBody>
      </p:sp>
      <p:sp>
        <p:nvSpPr>
          <p:cNvPr id="17" name="Rectangle 16"/>
          <p:cNvSpPr/>
          <p:nvPr/>
        </p:nvSpPr>
        <p:spPr>
          <a:xfrm>
            <a:off x="6172200" y="868680"/>
            <a:ext cx="2788920" cy="16459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36792" y="1033271"/>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1014983"/>
            <a:ext cx="1965960" cy="310896"/>
          </a:xfrm>
          <a:prstGeom prst="rect">
            <a:avLst/>
          </a:prstGeom>
          <a:noFill/>
        </p:spPr>
        <p:txBody>
          <a:bodyPr wrap="square">
            <a:spAutoFit/>
          </a:bodyPr>
          <a:lstStyle/>
          <a:p>
            <a:pPr algn="l">
              <a:defRPr sz="1200" b="1">
                <a:solidFill>
                  <a:srgbClr val="97423E"/>
                </a:solidFill>
                <a:latin typeface="Aptos"/>
              </a:defRPr>
            </a:pPr>
            <a:r>
              <a:t>Method</a:t>
            </a:r>
          </a:p>
        </p:txBody>
      </p:sp>
      <p:sp>
        <p:nvSpPr>
          <p:cNvPr id="21" name="TextBox 20"/>
          <p:cNvSpPr txBox="1"/>
          <p:nvPr/>
        </p:nvSpPr>
        <p:spPr>
          <a:xfrm>
            <a:off x="6373368" y="1527048"/>
            <a:ext cx="2386584" cy="859536"/>
          </a:xfrm>
          <a:prstGeom prst="rect">
            <a:avLst/>
          </a:prstGeom>
          <a:noFill/>
        </p:spPr>
        <p:txBody>
          <a:bodyPr wrap="square">
            <a:spAutoFit/>
          </a:bodyPr>
          <a:lstStyle/>
          <a:p>
            <a:pPr algn="l">
              <a:defRPr sz="900" b="0">
                <a:solidFill>
                  <a:srgbClr val="302422"/>
                </a:solidFill>
                <a:latin typeface="Aptos"/>
              </a:defRPr>
            </a:pPr>
            <a:r>
              <a:t>How FEM works · How NAS-PINN works · How MSWP works</a:t>
            </a:r>
          </a:p>
        </p:txBody>
      </p:sp>
      <p:sp>
        <p:nvSpPr>
          <p:cNvPr id="22" name="Rectangle 21"/>
          <p:cNvSpPr/>
          <p:nvPr/>
        </p:nvSpPr>
        <p:spPr>
          <a:xfrm>
            <a:off x="9098280" y="868680"/>
            <a:ext cx="2743200" cy="16459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62872" y="1033271"/>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56648" y="1014983"/>
            <a:ext cx="1920240" cy="310896"/>
          </a:xfrm>
          <a:prstGeom prst="rect">
            <a:avLst/>
          </a:prstGeom>
          <a:noFill/>
        </p:spPr>
        <p:txBody>
          <a:bodyPr wrap="square">
            <a:spAutoFit/>
          </a:bodyPr>
          <a:lstStyle/>
          <a:p>
            <a:pPr algn="l">
              <a:defRPr sz="1200" b="1">
                <a:solidFill>
                  <a:srgbClr val="97423E"/>
                </a:solidFill>
                <a:latin typeface="Aptos"/>
              </a:defRPr>
            </a:pPr>
            <a:r>
              <a:t>Results</a:t>
            </a:r>
          </a:p>
        </p:txBody>
      </p:sp>
      <p:sp>
        <p:nvSpPr>
          <p:cNvPr id="26" name="TextBox 25"/>
          <p:cNvSpPr txBox="1"/>
          <p:nvPr/>
        </p:nvSpPr>
        <p:spPr>
          <a:xfrm>
            <a:off x="9299448" y="1527048"/>
            <a:ext cx="2340864" cy="859536"/>
          </a:xfrm>
          <a:prstGeom prst="rect">
            <a:avLst/>
          </a:prstGeom>
          <a:noFill/>
        </p:spPr>
        <p:txBody>
          <a:bodyPr wrap="square">
            <a:spAutoFit/>
          </a:bodyPr>
          <a:lstStyle/>
          <a:p>
            <a:pPr algn="l">
              <a:defRPr sz="900" b="0">
                <a:solidFill>
                  <a:srgbClr val="302422"/>
                </a:solidFill>
                <a:latin typeface="Aptos"/>
              </a:defRPr>
            </a:pPr>
            <a:r>
              <a:t>2D · 3D · Thermal Fin · MAE and FEM saving numbers</a:t>
            </a:r>
          </a:p>
        </p:txBody>
      </p:sp>
      <p:sp>
        <p:nvSpPr>
          <p:cNvPr id="27" name="Rectangle 26"/>
          <p:cNvSpPr/>
          <p:nvPr/>
        </p:nvSpPr>
        <p:spPr>
          <a:xfrm>
            <a:off x="320040" y="3063240"/>
            <a:ext cx="3611880" cy="22402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4632" y="3227832"/>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8407" y="3209544"/>
            <a:ext cx="2788920" cy="310896"/>
          </a:xfrm>
          <a:prstGeom prst="rect">
            <a:avLst/>
          </a:prstGeom>
          <a:noFill/>
        </p:spPr>
        <p:txBody>
          <a:bodyPr wrap="square">
            <a:spAutoFit/>
          </a:bodyPr>
          <a:lstStyle/>
          <a:p>
            <a:pPr algn="l">
              <a:defRPr sz="1200" b="1">
                <a:solidFill>
                  <a:srgbClr val="97423E"/>
                </a:solidFill>
                <a:latin typeface="Aptos"/>
              </a:defRPr>
            </a:pPr>
            <a:r>
              <a:t>Discussion</a:t>
            </a:r>
          </a:p>
        </p:txBody>
      </p:sp>
      <p:sp>
        <p:nvSpPr>
          <p:cNvPr id="31" name="TextBox 30"/>
          <p:cNvSpPr txBox="1"/>
          <p:nvPr/>
        </p:nvSpPr>
        <p:spPr>
          <a:xfrm>
            <a:off x="521207" y="3721608"/>
            <a:ext cx="3209544" cy="1453896"/>
          </a:xfrm>
          <a:prstGeom prst="rect">
            <a:avLst/>
          </a:prstGeom>
          <a:noFill/>
        </p:spPr>
        <p:txBody>
          <a:bodyPr wrap="square">
            <a:spAutoFit/>
          </a:bodyPr>
          <a:lstStyle/>
          <a:p>
            <a:pPr algn="l">
              <a:defRPr sz="900" b="0">
                <a:solidFill>
                  <a:srgbClr val="302422"/>
                </a:solidFill>
                <a:latin typeface="Aptos"/>
              </a:defRPr>
            </a:pPr>
            <a:r>
              <a:t>What the numbers mean · which architecture wins · when FEM is needed</a:t>
            </a:r>
          </a:p>
        </p:txBody>
      </p:sp>
      <p:sp>
        <p:nvSpPr>
          <p:cNvPr id="32" name="Rectangle 31"/>
          <p:cNvSpPr/>
          <p:nvPr/>
        </p:nvSpPr>
        <p:spPr>
          <a:xfrm>
            <a:off x="4251960" y="3063240"/>
            <a:ext cx="3611880" cy="22402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16552" y="3227832"/>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10328" y="3209544"/>
            <a:ext cx="2788920" cy="310896"/>
          </a:xfrm>
          <a:prstGeom prst="rect">
            <a:avLst/>
          </a:prstGeom>
          <a:noFill/>
        </p:spPr>
        <p:txBody>
          <a:bodyPr wrap="square">
            <a:spAutoFit/>
          </a:bodyPr>
          <a:lstStyle/>
          <a:p>
            <a:pPr algn="l">
              <a:defRPr sz="1200" b="1">
                <a:solidFill>
                  <a:srgbClr val="97423E"/>
                </a:solidFill>
                <a:latin typeface="Aptos"/>
              </a:defRPr>
            </a:pPr>
            <a:r>
              <a:t>Conclusion</a:t>
            </a:r>
          </a:p>
        </p:txBody>
      </p:sp>
      <p:sp>
        <p:nvSpPr>
          <p:cNvPr id="36" name="TextBox 35"/>
          <p:cNvSpPr txBox="1"/>
          <p:nvPr/>
        </p:nvSpPr>
        <p:spPr>
          <a:xfrm>
            <a:off x="4453128" y="3721608"/>
            <a:ext cx="3209544" cy="1453896"/>
          </a:xfrm>
          <a:prstGeom prst="rect">
            <a:avLst/>
          </a:prstGeom>
          <a:noFill/>
        </p:spPr>
        <p:txBody>
          <a:bodyPr wrap="square">
            <a:spAutoFit/>
          </a:bodyPr>
          <a:lstStyle/>
          <a:p>
            <a:r>
              <a:t>65-85% FEM saving · limitations · next steps</a:t>
            </a:r>
          </a:p>
        </p:txBody>
      </p:sp>
      <p:sp>
        <p:nvSpPr>
          <p:cNvPr id="37" name="Rectangle 36"/>
          <p:cNvSpPr/>
          <p:nvPr/>
        </p:nvSpPr>
        <p:spPr>
          <a:xfrm>
            <a:off x="8183879" y="3063240"/>
            <a:ext cx="3611880" cy="22402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48471" y="3227832"/>
            <a:ext cx="384048" cy="384048"/>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42248" y="3209544"/>
            <a:ext cx="2788920" cy="310896"/>
          </a:xfrm>
          <a:prstGeom prst="rect">
            <a:avLst/>
          </a:prstGeom>
          <a:noFill/>
        </p:spPr>
        <p:txBody>
          <a:bodyPr wrap="square">
            <a:spAutoFit/>
          </a:bodyPr>
          <a:lstStyle/>
          <a:p>
            <a:pPr algn="l">
              <a:defRPr sz="1200" b="1">
                <a:solidFill>
                  <a:srgbClr val="97423E"/>
                </a:solidFill>
                <a:latin typeface="Aptos"/>
              </a:defRPr>
            </a:pPr>
            <a:r>
              <a:t>References</a:t>
            </a:r>
          </a:p>
        </p:txBody>
      </p:sp>
      <p:sp>
        <p:nvSpPr>
          <p:cNvPr id="41" name="TextBox 40"/>
          <p:cNvSpPr txBox="1"/>
          <p:nvPr/>
        </p:nvSpPr>
        <p:spPr>
          <a:xfrm>
            <a:off x="8385048" y="3721608"/>
            <a:ext cx="3209544" cy="1453896"/>
          </a:xfrm>
          <a:prstGeom prst="rect">
            <a:avLst/>
          </a:prstGeom>
          <a:noFill/>
        </p:spPr>
        <p:txBody>
          <a:bodyPr wrap="square">
            <a:spAutoFit/>
          </a:bodyPr>
          <a:lstStyle/>
          <a:p>
            <a:pPr algn="l">
              <a:defRPr sz="900" b="0">
                <a:solidFill>
                  <a:srgbClr val="302422"/>
                </a:solidFill>
                <a:latin typeface="Aptos"/>
              </a:defRPr>
            </a:pPr>
            <a:r>
              <a:t>Mortensen 2026 · Wang &amp; Zhong 2024 · Raissi 2019</a:t>
            </a:r>
          </a:p>
        </p:txBody>
      </p:sp>
      <p:sp>
        <p:nvSpPr>
          <p:cNvPr id="42" name="Rectangle 4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Presentation Structure</a:t>
            </a:r>
          </a:p>
        </p:txBody>
      </p:sp>
      <p:sp>
        <p:nvSpPr>
          <p:cNvPr id="44" name="TextBox 4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45" name="Rectangle 4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47" name="TextBox 4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48" name="TextBox 4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868680"/>
            <a:ext cx="10881360" cy="411480"/>
          </a:xfrm>
          <a:prstGeom prst="rect">
            <a:avLst/>
          </a:prstGeom>
          <a:noFill/>
        </p:spPr>
        <p:txBody>
          <a:bodyPr wrap="square">
            <a:spAutoFit/>
          </a:bodyPr>
          <a:lstStyle/>
          <a:p>
            <a:pPr algn="ctr">
              <a:defRPr sz="1600" b="1">
                <a:solidFill>
                  <a:srgbClr val="97423E"/>
                </a:solidFill>
                <a:latin typeface="Aptos"/>
              </a:defRPr>
            </a:pPr>
            <a:r>
              <a:t>The project begins with an industrial A356 aluminium quenching problem and asks whether Finite Element Method (FEM) time-step calls can be reduced without losing useful temperature accuracy.</a:t>
            </a:r>
          </a:p>
        </p:txBody>
      </p:sp>
      <p:sp>
        <p:nvSpPr>
          <p:cNvPr id="8" name="Rectangle 7"/>
          <p:cNvSpPr/>
          <p:nvPr/>
        </p:nvSpPr>
        <p:spPr>
          <a:xfrm>
            <a:off x="594360" y="1508760"/>
            <a:ext cx="3246120" cy="28346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1618488"/>
            <a:ext cx="2953512" cy="256032"/>
          </a:xfrm>
          <a:prstGeom prst="rect">
            <a:avLst/>
          </a:prstGeom>
          <a:noFill/>
        </p:spPr>
        <p:txBody>
          <a:bodyPr wrap="square">
            <a:spAutoFit/>
          </a:bodyPr>
          <a:lstStyle/>
          <a:p>
            <a:pPr algn="l">
              <a:defRPr sz="1100" b="1">
                <a:solidFill>
                  <a:srgbClr val="97423E"/>
                </a:solidFill>
                <a:latin typeface="Aptos"/>
              </a:defRPr>
            </a:pPr>
            <a:r>
              <a:t>Reference paper</a:t>
            </a:r>
          </a:p>
        </p:txBody>
      </p:sp>
      <p:sp>
        <p:nvSpPr>
          <p:cNvPr id="10" name="TextBox 9"/>
          <p:cNvSpPr txBox="1"/>
          <p:nvPr/>
        </p:nvSpPr>
        <p:spPr>
          <a:xfrm>
            <a:off x="740664" y="1947672"/>
            <a:ext cx="2953512" cy="2322576"/>
          </a:xfrm>
          <a:prstGeom prst="rect">
            <a:avLst/>
          </a:prstGeom>
          <a:noFill/>
        </p:spPr>
        <p:txBody>
          <a:bodyPr wrap="square">
            <a:spAutoFit/>
          </a:bodyPr>
          <a:lstStyle/>
          <a:p>
            <a:pPr algn="l">
              <a:defRPr sz="1000" b="0">
                <a:solidFill>
                  <a:srgbClr val="302422"/>
                </a:solidFill>
                <a:latin typeface="Aptos"/>
              </a:defRPr>
            </a:pPr>
            <a:r>
              <a:t>The reference study models water quenching of cast A356 automotive subframes. Its FEM simulation gives the industrial motivation: temperature gradients during quenching drive distortion.</a:t>
            </a:r>
          </a:p>
        </p:txBody>
      </p:sp>
      <p:sp>
        <p:nvSpPr>
          <p:cNvPr id="11" name="Rectangle 10"/>
          <p:cNvSpPr/>
          <p:nvPr/>
        </p:nvSpPr>
        <p:spPr>
          <a:xfrm>
            <a:off x="4069080" y="1508760"/>
            <a:ext cx="3246120" cy="283464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5384" y="1618488"/>
            <a:ext cx="2953512" cy="256032"/>
          </a:xfrm>
          <a:prstGeom prst="rect">
            <a:avLst/>
          </a:prstGeom>
          <a:noFill/>
        </p:spPr>
        <p:txBody>
          <a:bodyPr wrap="square">
            <a:spAutoFit/>
          </a:bodyPr>
          <a:lstStyle/>
          <a:p>
            <a:pPr algn="l">
              <a:defRPr sz="1100" b="1">
                <a:solidFill>
                  <a:srgbClr val="97423E"/>
                </a:solidFill>
                <a:latin typeface="Aptos"/>
              </a:defRPr>
            </a:pPr>
            <a:r>
              <a:t>Our approach</a:t>
            </a:r>
          </a:p>
        </p:txBody>
      </p:sp>
      <p:sp>
        <p:nvSpPr>
          <p:cNvPr id="13" name="TextBox 12"/>
          <p:cNvSpPr txBox="1"/>
          <p:nvPr/>
        </p:nvSpPr>
        <p:spPr>
          <a:xfrm>
            <a:off x="4215384" y="1947672"/>
            <a:ext cx="2953512" cy="2322576"/>
          </a:xfrm>
          <a:prstGeom prst="rect">
            <a:avLst/>
          </a:prstGeom>
          <a:noFill/>
        </p:spPr>
        <p:txBody>
          <a:bodyPr wrap="square">
            <a:spAutoFit/>
          </a:bodyPr>
          <a:lstStyle/>
          <a:p>
            <a:pPr algn="l">
              <a:defRPr sz="1000" b="0">
                <a:solidFill>
                  <a:srgbClr val="302422"/>
                </a:solidFill>
                <a:latin typeface="Aptos"/>
              </a:defRPr>
            </a:pPr>
            <a:r>
              <a:t>We keep the same physical process setting, but test a different route: FEM provides anchor snapshots and NAS-PINN predicts selected intermediate windows.</a:t>
            </a:r>
          </a:p>
        </p:txBody>
      </p:sp>
      <p:sp>
        <p:nvSpPr>
          <p:cNvPr id="14" name="Rectangle 13"/>
          <p:cNvSpPr/>
          <p:nvPr/>
        </p:nvSpPr>
        <p:spPr>
          <a:xfrm>
            <a:off x="7543800" y="1508760"/>
            <a:ext cx="3566160" cy="28346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0104" y="1618488"/>
            <a:ext cx="3273552" cy="256032"/>
          </a:xfrm>
          <a:prstGeom prst="rect">
            <a:avLst/>
          </a:prstGeom>
          <a:noFill/>
        </p:spPr>
        <p:txBody>
          <a:bodyPr wrap="square">
            <a:spAutoFit/>
          </a:bodyPr>
          <a:lstStyle/>
          <a:p>
            <a:pPr algn="l">
              <a:defRPr sz="1100" b="1">
                <a:solidFill>
                  <a:srgbClr val="97423E"/>
                </a:solidFill>
                <a:latin typeface="Aptos"/>
              </a:defRPr>
            </a:pPr>
            <a:r>
              <a:t>Validation path</a:t>
            </a:r>
          </a:p>
        </p:txBody>
      </p:sp>
      <p:sp>
        <p:nvSpPr>
          <p:cNvPr id="16" name="TextBox 15"/>
          <p:cNvSpPr txBox="1"/>
          <p:nvPr/>
        </p:nvSpPr>
        <p:spPr>
          <a:xfrm>
            <a:off x="7690104" y="1947672"/>
            <a:ext cx="3273552" cy="2322576"/>
          </a:xfrm>
          <a:prstGeom prst="rect">
            <a:avLst/>
          </a:prstGeom>
          <a:noFill/>
        </p:spPr>
        <p:txBody>
          <a:bodyPr wrap="square">
            <a:spAutoFit/>
          </a:bodyPr>
          <a:lstStyle/>
          <a:p>
            <a:pPr algn="l">
              <a:defRPr sz="1000" b="0">
                <a:solidFill>
                  <a:srgbClr val="302422"/>
                </a:solidFill>
                <a:latin typeface="Aptos"/>
              </a:defRPr>
            </a:pPr>
            <a:r>
              <a:t>Because the real industrial data arrived late, the workflow starts with controlled surrogate geometries and then moves toward more complex 3D and Thermal Fin benchmarks.</a:t>
            </a:r>
          </a:p>
        </p:txBody>
      </p:sp>
      <p:sp>
        <p:nvSpPr>
          <p:cNvPr id="17" name="Rectangle 16"/>
          <p:cNvSpPr/>
          <p:nvPr/>
        </p:nvSpPr>
        <p:spPr>
          <a:xfrm>
            <a:off x="914400" y="4892040"/>
            <a:ext cx="1691640"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001768"/>
            <a:ext cx="1472184" cy="182880"/>
          </a:xfrm>
          <a:prstGeom prst="rect">
            <a:avLst/>
          </a:prstGeom>
          <a:noFill/>
        </p:spPr>
        <p:txBody>
          <a:bodyPr wrap="square">
            <a:spAutoFit/>
          </a:bodyPr>
          <a:lstStyle/>
          <a:p>
            <a:pPr algn="ctr">
              <a:defRPr sz="800" b="1">
                <a:solidFill>
                  <a:srgbClr val="745852"/>
                </a:solidFill>
                <a:latin typeface="Aptos"/>
              </a:defRPr>
            </a:pPr>
            <a:r>
              <a:t>Material</a:t>
            </a:r>
          </a:p>
        </p:txBody>
      </p:sp>
      <p:sp>
        <p:nvSpPr>
          <p:cNvPr id="19" name="TextBox 18"/>
          <p:cNvSpPr txBox="1"/>
          <p:nvPr/>
        </p:nvSpPr>
        <p:spPr>
          <a:xfrm>
            <a:off x="1024128" y="5221224"/>
            <a:ext cx="1472184" cy="310896"/>
          </a:xfrm>
          <a:prstGeom prst="rect">
            <a:avLst/>
          </a:prstGeom>
          <a:noFill/>
        </p:spPr>
        <p:txBody>
          <a:bodyPr wrap="square">
            <a:spAutoFit/>
          </a:bodyPr>
          <a:lstStyle/>
          <a:p>
            <a:pPr algn="ctr">
              <a:defRPr sz="1500" b="1">
                <a:solidFill>
                  <a:srgbClr val="97423E"/>
                </a:solidFill>
                <a:latin typeface="Aptos"/>
              </a:defRPr>
            </a:pPr>
            <a:r>
              <a:t>A356</a:t>
            </a:r>
          </a:p>
        </p:txBody>
      </p:sp>
      <p:sp>
        <p:nvSpPr>
          <p:cNvPr id="20" name="TextBox 19"/>
          <p:cNvSpPr txBox="1"/>
          <p:nvPr/>
        </p:nvSpPr>
        <p:spPr>
          <a:xfrm>
            <a:off x="1024128" y="5605272"/>
            <a:ext cx="1472184" cy="182880"/>
          </a:xfrm>
          <a:prstGeom prst="rect">
            <a:avLst/>
          </a:prstGeom>
          <a:noFill/>
        </p:spPr>
        <p:txBody>
          <a:bodyPr wrap="square">
            <a:spAutoFit/>
          </a:bodyPr>
          <a:lstStyle/>
          <a:p>
            <a:pPr algn="ctr">
              <a:defRPr sz="700" b="0">
                <a:solidFill>
                  <a:srgbClr val="745852"/>
                </a:solidFill>
                <a:latin typeface="Aptos"/>
              </a:defRPr>
            </a:pPr>
            <a:r>
              <a:t>aluminium</a:t>
            </a:r>
          </a:p>
        </p:txBody>
      </p:sp>
      <p:sp>
        <p:nvSpPr>
          <p:cNvPr id="21" name="Rectangle 20"/>
          <p:cNvSpPr/>
          <p:nvPr/>
        </p:nvSpPr>
        <p:spPr>
          <a:xfrm>
            <a:off x="2880360" y="4892040"/>
            <a:ext cx="1691640"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90088" y="5001768"/>
            <a:ext cx="1472184" cy="182880"/>
          </a:xfrm>
          <a:prstGeom prst="rect">
            <a:avLst/>
          </a:prstGeom>
          <a:noFill/>
        </p:spPr>
        <p:txBody>
          <a:bodyPr wrap="square">
            <a:spAutoFit/>
          </a:bodyPr>
          <a:lstStyle/>
          <a:p>
            <a:pPr algn="ctr">
              <a:defRPr sz="800" b="1">
                <a:solidFill>
                  <a:srgbClr val="745852"/>
                </a:solidFill>
                <a:latin typeface="Aptos"/>
              </a:defRPr>
            </a:pPr>
            <a:r>
              <a:t>Initial T</a:t>
            </a:r>
          </a:p>
        </p:txBody>
      </p:sp>
      <p:sp>
        <p:nvSpPr>
          <p:cNvPr id="23" name="TextBox 22"/>
          <p:cNvSpPr txBox="1"/>
          <p:nvPr/>
        </p:nvSpPr>
        <p:spPr>
          <a:xfrm>
            <a:off x="2990088" y="5221224"/>
            <a:ext cx="1472184" cy="310896"/>
          </a:xfrm>
          <a:prstGeom prst="rect">
            <a:avLst/>
          </a:prstGeom>
          <a:noFill/>
        </p:spPr>
        <p:txBody>
          <a:bodyPr wrap="square">
            <a:spAutoFit/>
          </a:bodyPr>
          <a:lstStyle/>
          <a:p>
            <a:pPr algn="ctr">
              <a:defRPr sz="1500" b="1">
                <a:solidFill>
                  <a:srgbClr val="97423E"/>
                </a:solidFill>
                <a:latin typeface="Aptos"/>
              </a:defRPr>
            </a:pPr>
            <a:r>
              <a:t>540 C</a:t>
            </a:r>
          </a:p>
        </p:txBody>
      </p:sp>
      <p:sp>
        <p:nvSpPr>
          <p:cNvPr id="24" name="TextBox 23"/>
          <p:cNvSpPr txBox="1"/>
          <p:nvPr/>
        </p:nvSpPr>
        <p:spPr>
          <a:xfrm>
            <a:off x="2990088" y="5605272"/>
            <a:ext cx="1472184" cy="182880"/>
          </a:xfrm>
          <a:prstGeom prst="rect">
            <a:avLst/>
          </a:prstGeom>
          <a:noFill/>
        </p:spPr>
        <p:txBody>
          <a:bodyPr wrap="square">
            <a:spAutoFit/>
          </a:bodyPr>
          <a:lstStyle/>
          <a:p>
            <a:pPr algn="ctr">
              <a:defRPr sz="700" b="0">
                <a:solidFill>
                  <a:srgbClr val="745852"/>
                </a:solidFill>
                <a:latin typeface="Aptos"/>
              </a:defRPr>
            </a:pPr>
            <a:r>
              <a:t>hot part</a:t>
            </a:r>
          </a:p>
        </p:txBody>
      </p:sp>
      <p:sp>
        <p:nvSpPr>
          <p:cNvPr id="25" name="Rectangle 24"/>
          <p:cNvSpPr/>
          <p:nvPr/>
        </p:nvSpPr>
        <p:spPr>
          <a:xfrm>
            <a:off x="4846320" y="4892040"/>
            <a:ext cx="1691640"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56048" y="5001768"/>
            <a:ext cx="1472184" cy="182880"/>
          </a:xfrm>
          <a:prstGeom prst="rect">
            <a:avLst/>
          </a:prstGeom>
          <a:noFill/>
        </p:spPr>
        <p:txBody>
          <a:bodyPr wrap="square">
            <a:spAutoFit/>
          </a:bodyPr>
          <a:lstStyle/>
          <a:p>
            <a:pPr algn="ctr">
              <a:defRPr sz="800" b="1">
                <a:solidFill>
                  <a:srgbClr val="745852"/>
                </a:solidFill>
                <a:latin typeface="Aptos"/>
              </a:defRPr>
            </a:pPr>
            <a:r>
              <a:t>Bath T</a:t>
            </a:r>
          </a:p>
        </p:txBody>
      </p:sp>
      <p:sp>
        <p:nvSpPr>
          <p:cNvPr id="27" name="TextBox 26"/>
          <p:cNvSpPr txBox="1"/>
          <p:nvPr/>
        </p:nvSpPr>
        <p:spPr>
          <a:xfrm>
            <a:off x="4956048" y="5221224"/>
            <a:ext cx="1472184" cy="310896"/>
          </a:xfrm>
          <a:prstGeom prst="rect">
            <a:avLst/>
          </a:prstGeom>
          <a:noFill/>
        </p:spPr>
        <p:txBody>
          <a:bodyPr wrap="square">
            <a:spAutoFit/>
          </a:bodyPr>
          <a:lstStyle/>
          <a:p>
            <a:pPr algn="ctr">
              <a:defRPr sz="1500" b="1">
                <a:solidFill>
                  <a:srgbClr val="97423E"/>
                </a:solidFill>
                <a:latin typeface="Aptos"/>
              </a:defRPr>
            </a:pPr>
            <a:r>
              <a:t>20 C</a:t>
            </a:r>
          </a:p>
        </p:txBody>
      </p:sp>
      <p:sp>
        <p:nvSpPr>
          <p:cNvPr id="28" name="TextBox 27"/>
          <p:cNvSpPr txBox="1"/>
          <p:nvPr/>
        </p:nvSpPr>
        <p:spPr>
          <a:xfrm>
            <a:off x="4956048" y="5605272"/>
            <a:ext cx="1472184" cy="182880"/>
          </a:xfrm>
          <a:prstGeom prst="rect">
            <a:avLst/>
          </a:prstGeom>
          <a:noFill/>
        </p:spPr>
        <p:txBody>
          <a:bodyPr wrap="square">
            <a:spAutoFit/>
          </a:bodyPr>
          <a:lstStyle/>
          <a:p>
            <a:pPr algn="ctr">
              <a:defRPr sz="700" b="0">
                <a:solidFill>
                  <a:srgbClr val="745852"/>
                </a:solidFill>
                <a:latin typeface="Aptos"/>
              </a:defRPr>
            </a:pPr>
            <a:r>
              <a:t>water</a:t>
            </a:r>
          </a:p>
        </p:txBody>
      </p:sp>
      <p:sp>
        <p:nvSpPr>
          <p:cNvPr id="29" name="Rectangle 28"/>
          <p:cNvSpPr/>
          <p:nvPr/>
        </p:nvSpPr>
        <p:spPr>
          <a:xfrm>
            <a:off x="6812280" y="4892040"/>
            <a:ext cx="1691640"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22008" y="5001768"/>
            <a:ext cx="1472184" cy="182880"/>
          </a:xfrm>
          <a:prstGeom prst="rect">
            <a:avLst/>
          </a:prstGeom>
          <a:noFill/>
        </p:spPr>
        <p:txBody>
          <a:bodyPr wrap="square">
            <a:spAutoFit/>
          </a:bodyPr>
          <a:lstStyle/>
          <a:p>
            <a:pPr algn="ctr">
              <a:defRPr sz="800" b="1">
                <a:solidFill>
                  <a:srgbClr val="745852"/>
                </a:solidFill>
                <a:latin typeface="Aptos"/>
              </a:defRPr>
            </a:pPr>
            <a:r>
              <a:t>Quench</a:t>
            </a:r>
          </a:p>
        </p:txBody>
      </p:sp>
      <p:sp>
        <p:nvSpPr>
          <p:cNvPr id="31" name="TextBox 30"/>
          <p:cNvSpPr txBox="1"/>
          <p:nvPr/>
        </p:nvSpPr>
        <p:spPr>
          <a:xfrm>
            <a:off x="6922008" y="5221224"/>
            <a:ext cx="1472184" cy="310896"/>
          </a:xfrm>
          <a:prstGeom prst="rect">
            <a:avLst/>
          </a:prstGeom>
          <a:noFill/>
        </p:spPr>
        <p:txBody>
          <a:bodyPr wrap="square">
            <a:spAutoFit/>
          </a:bodyPr>
          <a:lstStyle/>
          <a:p>
            <a:pPr algn="ctr">
              <a:defRPr sz="1500" b="1">
                <a:solidFill>
                  <a:srgbClr val="97423E"/>
                </a:solidFill>
                <a:latin typeface="Aptos"/>
              </a:defRPr>
            </a:pPr>
            <a:r>
              <a:t>30 s</a:t>
            </a:r>
          </a:p>
        </p:txBody>
      </p:sp>
      <p:sp>
        <p:nvSpPr>
          <p:cNvPr id="32" name="TextBox 31"/>
          <p:cNvSpPr txBox="1"/>
          <p:nvPr/>
        </p:nvSpPr>
        <p:spPr>
          <a:xfrm>
            <a:off x="6922008" y="5605272"/>
            <a:ext cx="1472184" cy="182880"/>
          </a:xfrm>
          <a:prstGeom prst="rect">
            <a:avLst/>
          </a:prstGeom>
          <a:noFill/>
        </p:spPr>
        <p:txBody>
          <a:bodyPr wrap="square">
            <a:spAutoFit/>
          </a:bodyPr>
          <a:lstStyle/>
          <a:p>
            <a:pPr algn="ctr">
              <a:defRPr sz="700" b="0">
                <a:solidFill>
                  <a:srgbClr val="745852"/>
                </a:solidFill>
                <a:latin typeface="Aptos"/>
              </a:defRPr>
            </a:pPr>
            <a:r>
              <a:t>transient</a:t>
            </a:r>
          </a:p>
        </p:txBody>
      </p:sp>
      <p:sp>
        <p:nvSpPr>
          <p:cNvPr id="33" name="Rectangle 32"/>
          <p:cNvSpPr/>
          <p:nvPr/>
        </p:nvSpPr>
        <p:spPr>
          <a:xfrm>
            <a:off x="8778240" y="4892040"/>
            <a:ext cx="1691640"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87967" y="5001768"/>
            <a:ext cx="1472184" cy="182880"/>
          </a:xfrm>
          <a:prstGeom prst="rect">
            <a:avLst/>
          </a:prstGeom>
          <a:noFill/>
        </p:spPr>
        <p:txBody>
          <a:bodyPr wrap="square">
            <a:spAutoFit/>
          </a:bodyPr>
          <a:lstStyle/>
          <a:p>
            <a:pPr algn="ctr">
              <a:defRPr sz="800" b="1">
                <a:solidFill>
                  <a:srgbClr val="745852"/>
                </a:solidFill>
                <a:latin typeface="Aptos"/>
              </a:defRPr>
            </a:pPr>
            <a:r>
              <a:t>Goal</a:t>
            </a:r>
          </a:p>
        </p:txBody>
      </p:sp>
      <p:sp>
        <p:nvSpPr>
          <p:cNvPr id="35" name="TextBox 34"/>
          <p:cNvSpPr txBox="1"/>
          <p:nvPr/>
        </p:nvSpPr>
        <p:spPr>
          <a:xfrm>
            <a:off x="8887967" y="5221224"/>
            <a:ext cx="1472184" cy="310896"/>
          </a:xfrm>
          <a:prstGeom prst="rect">
            <a:avLst/>
          </a:prstGeom>
          <a:noFill/>
        </p:spPr>
        <p:txBody>
          <a:bodyPr wrap="square">
            <a:spAutoFit/>
          </a:bodyPr>
          <a:lstStyle/>
          <a:p>
            <a:pPr algn="ctr">
              <a:defRPr sz="1500" b="1">
                <a:solidFill>
                  <a:srgbClr val="97423E"/>
                </a:solidFill>
                <a:latin typeface="Aptos"/>
              </a:defRPr>
            </a:pPr>
            <a:r>
              <a:t>skip FEM</a:t>
            </a:r>
          </a:p>
        </p:txBody>
      </p:sp>
      <p:sp>
        <p:nvSpPr>
          <p:cNvPr id="36" name="TextBox 35"/>
          <p:cNvSpPr txBox="1"/>
          <p:nvPr/>
        </p:nvSpPr>
        <p:spPr>
          <a:xfrm>
            <a:off x="8887967" y="5605272"/>
            <a:ext cx="1472184" cy="182880"/>
          </a:xfrm>
          <a:prstGeom prst="rect">
            <a:avLst/>
          </a:prstGeom>
          <a:noFill/>
        </p:spPr>
        <p:txBody>
          <a:bodyPr wrap="square">
            <a:spAutoFit/>
          </a:bodyPr>
          <a:lstStyle/>
          <a:p>
            <a:pPr algn="ctr">
              <a:defRPr sz="700" b="0">
                <a:solidFill>
                  <a:srgbClr val="745852"/>
                </a:solidFill>
                <a:latin typeface="Aptos"/>
              </a:defRPr>
            </a:pPr>
            <a:r>
              <a:t>with anchors</a:t>
            </a:r>
          </a:p>
        </p:txBody>
      </p:sp>
      <p:sp>
        <p:nvSpPr>
          <p:cNvPr id="37" name="Rectangle 3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Intro: What We Do in This Project</a:t>
            </a:r>
          </a:p>
        </p:txBody>
      </p:sp>
      <p:sp>
        <p:nvSpPr>
          <p:cNvPr id="39" name="TextBox 3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40" name="Rectangle 3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42" name="TextBox 4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43" name="TextBox 4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12191695" cy="6858000"/>
          <a:chOff x="0" y="0"/>
          <a:chExt cx="12191695" cy="6858000"/>
        </a:xfrm>
      </p:grpSpPr>
      <p:sp>
        <p:nvSpPr>
          <p:cNvPr id="7" name="Rounded Rectangle 6"/>
          <p:cNvSpPr/>
          <p:nvPr/>
        </p:nvSpPr>
        <p:spPr>
          <a:xfrm>
            <a:off x="594360" y="1051560"/>
            <a:ext cx="5257800" cy="1234440"/>
          </a:xfrm>
          <a:prstGeom prst="roundRect">
            <a:avLst/>
          </a:prstGeom>
          <a:solidFill>
            <a:srgbClr val="E5F1FB"/>
          </a:solidFill>
          <a:ln w="12700">
            <a:solidFill>
              <a:srgbClr val="538BBE"/>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64008">
            <a:normAutofit/>
          </a:bodyPr>
          <a:lstStyle/>
          <a:p>
            <a:pPr algn="ctr">
              <a:defRPr sz="1500" b="1">
                <a:solidFill>
                  <a:srgbClr val="17365D"/>
                </a:solidFill>
              </a:defRPr>
            </a:pPr>
            <a:r>
              <a:t>A356 aluminium</a:t>
            </a:r>
          </a:p>
          <a:p>
            <a:pPr>
              <a:defRPr sz="1200">
                <a:solidFill>
                  <a:srgbClr val="2D2D2D"/>
                </a:solidFill>
              </a:defRPr>
            </a:pPr>
            <a:r>
              <a:t>A356 is an aluminium-silicon casting alloy. It is common in cast automotive parts because it is light and has useful mechanical properties.</a:t>
            </a:r>
          </a:p>
        </p:txBody>
      </p:sp>
      <p:sp>
        <p:nvSpPr>
          <p:cNvPr id="8" name="Rounded Rectangle 7"/>
          <p:cNvSpPr/>
          <p:nvPr/>
        </p:nvSpPr>
        <p:spPr>
          <a:xfrm>
            <a:off x="6172200" y="1051560"/>
            <a:ext cx="5257800" cy="1234440"/>
          </a:xfrm>
          <a:prstGeom prst="roundRect">
            <a:avLst/>
          </a:prstGeom>
          <a:solidFill>
            <a:srgbClr val="EEF6E8"/>
          </a:solidFill>
          <a:ln w="12700">
            <a:solidFill>
              <a:srgbClr val="649B5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64008">
            <a:normAutofit/>
          </a:bodyPr>
          <a:lstStyle/>
          <a:p>
            <a:pPr algn="ctr">
              <a:defRPr sz="1500" b="1">
                <a:solidFill>
                  <a:srgbClr val="17365D"/>
                </a:solidFill>
              </a:defRPr>
            </a:pPr>
            <a:r>
              <a:t>Water quenching</a:t>
            </a:r>
          </a:p>
          <a:p>
            <a:pPr>
              <a:defRPr sz="1200">
                <a:solidFill>
                  <a:srgbClr val="2D2D2D"/>
                </a:solidFill>
              </a:defRPr>
            </a:pPr>
            <a:r>
              <a:t>After heating, the hot part is cooled quickly in water. This fast cooling changes the temperature field inside the part.</a:t>
            </a:r>
          </a:p>
        </p:txBody>
      </p:sp>
      <p:sp>
        <p:nvSpPr>
          <p:cNvPr id="9" name="Rounded Rectangle 8"/>
          <p:cNvSpPr/>
          <p:nvPr/>
        </p:nvSpPr>
        <p:spPr>
          <a:xfrm>
            <a:off x="594360" y="2880360"/>
            <a:ext cx="5257800" cy="1234440"/>
          </a:xfrm>
          <a:prstGeom prst="roundRect">
            <a:avLst/>
          </a:prstGeom>
          <a:solidFill>
            <a:srgbClr val="FCF3E2"/>
          </a:solidFill>
          <a:ln w="12700">
            <a:solidFill>
              <a:srgbClr val="BE873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64008">
            <a:normAutofit/>
          </a:bodyPr>
          <a:lstStyle/>
          <a:p>
            <a:pPr algn="ctr">
              <a:defRPr sz="1500" b="1">
                <a:solidFill>
                  <a:srgbClr val="17365D"/>
                </a:solidFill>
              </a:defRPr>
            </a:pPr>
            <a:r>
              <a:t>Why simulation is needed</a:t>
            </a:r>
          </a:p>
          <a:p>
            <a:pPr>
              <a:defRPr sz="1200">
                <a:solidFill>
                  <a:srgbClr val="2D2D2D"/>
                </a:solidFill>
              </a:defRPr>
            </a:pPr>
            <a:r>
              <a:t>Fast cooling can create strong temperature gradients. These gradients can cause distortion and residual stress.</a:t>
            </a:r>
          </a:p>
        </p:txBody>
      </p:sp>
      <p:sp>
        <p:nvSpPr>
          <p:cNvPr id="10" name="Rounded Rectangle 9"/>
          <p:cNvSpPr/>
          <p:nvPr/>
        </p:nvSpPr>
        <p:spPr>
          <a:xfrm>
            <a:off x="6172200" y="2880360"/>
            <a:ext cx="5257800" cy="1234440"/>
          </a:xfrm>
          <a:prstGeom prst="roundRect">
            <a:avLst/>
          </a:prstGeom>
          <a:solidFill>
            <a:srgbClr val="F5EBF8"/>
          </a:solidFill>
          <a:ln w="12700">
            <a:solidFill>
              <a:srgbClr val="915FA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64008">
            <a:normAutofit/>
          </a:bodyPr>
          <a:lstStyle/>
          <a:p>
            <a:pPr algn="ctr">
              <a:defRPr sz="1500" b="1">
                <a:solidFill>
                  <a:srgbClr val="17365D"/>
                </a:solidFill>
              </a:defRPr>
            </a:pPr>
            <a:r>
              <a:t>Connection to this thesis</a:t>
            </a:r>
          </a:p>
          <a:p>
            <a:pPr>
              <a:defRPr sz="1200">
                <a:solidFill>
                  <a:srgbClr val="2D2D2D"/>
                </a:solidFill>
              </a:defRPr>
            </a:pPr>
            <a:r>
              <a:t>Mortensen et al. (2026) use FEM for A356 automotive subframe quenching. This thesis uses that industrial problem as motivation for FEM-step reduction.</a:t>
            </a:r>
          </a:p>
        </p:txBody>
      </p:sp>
      <p:sp>
        <p:nvSpPr>
          <p:cNvPr id="11" name="TextBox 10"/>
          <p:cNvSpPr txBox="1"/>
          <p:nvPr/>
        </p:nvSpPr>
        <p:spPr>
          <a:xfrm>
            <a:off x="731520" y="5230368"/>
            <a:ext cx="10789920" cy="292608"/>
          </a:xfrm>
          <a:prstGeom prst="rect">
            <a:avLst/>
          </a:prstGeom>
          <a:noFill/>
        </p:spPr>
        <p:txBody>
          <a:bodyPr wrap="square" lIns="73152" rIns="73152" tIns="36576" bIns="36576">
            <a:normAutofit/>
          </a:bodyPr>
          <a:lstStyle/>
          <a:p>
            <a:pPr algn="ctr">
              <a:defRPr sz="1000" b="0">
                <a:solidFill>
                  <a:srgbClr val="5F5F5F"/>
                </a:solidFill>
              </a:defRPr>
            </a:pPr>
            <a:r>
              <a:t>Source: Mortensen et al. (2026), finite element simulation of water quenching in cast A356 automotive subframes.</a:t>
            </a:r>
          </a:p>
        </p:txBody>
      </p:sp>
      <p:sp>
        <p:nvSpPr>
          <p:cNvPr id="12" name="Rectangle 1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What is A356 aluminium? - T6 heat treatment process</a:t>
            </a:r>
          </a:p>
        </p:txBody>
      </p:sp>
      <p:sp>
        <p:nvSpPr>
          <p:cNvPr id="14" name="TextBox 1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15" name="Rectangle 1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7" name="TextBox 1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8" name="TextBox 1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868680"/>
            <a:ext cx="10881360" cy="438912"/>
          </a:xfrm>
          <a:prstGeom prst="rect">
            <a:avLst/>
          </a:prstGeom>
          <a:noFill/>
        </p:spPr>
        <p:txBody>
          <a:bodyPr wrap="square">
            <a:spAutoFit/>
          </a:bodyPr>
          <a:lstStyle/>
          <a:p>
            <a:pPr algn="ctr">
              <a:defRPr sz="1600" b="1">
                <a:solidFill>
                  <a:srgbClr val="97423E"/>
                </a:solidFill>
                <a:latin typeface="Aptos"/>
              </a:defRPr>
            </a:pPr>
            <a:r>
              <a:t>We follow the industrial quenching problem from the reference paper, then test whether FEM time-step calls can be reduced with a FEM-anchored NAS-PINN strategy.</a:t>
            </a:r>
          </a:p>
        </p:txBody>
      </p:sp>
      <p:sp>
        <p:nvSpPr>
          <p:cNvPr id="8" name="Rectangle 7"/>
          <p:cNvSpPr/>
          <p:nvPr/>
        </p:nvSpPr>
        <p:spPr>
          <a:xfrm>
            <a:off x="594360" y="1508760"/>
            <a:ext cx="4937760" cy="29718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mswp_three_modes.png"/>
          <p:cNvPicPr>
            <a:picLocks noChangeAspect="1"/>
          </p:cNvPicPr>
          <p:nvPr/>
        </p:nvPicPr>
        <p:blipFill>
          <a:blip r:embed="rId3"/>
          <a:stretch>
            <a:fillRect/>
          </a:stretch>
        </p:blipFill>
        <p:spPr>
          <a:xfrm>
            <a:off x="944118" y="1581912"/>
            <a:ext cx="4238244" cy="2825496"/>
          </a:xfrm>
          <a:prstGeom prst="rect">
            <a:avLst/>
          </a:prstGeom>
        </p:spPr>
      </p:pic>
      <p:sp>
        <p:nvSpPr>
          <p:cNvPr id="10" name="Rectangle 9"/>
          <p:cNvSpPr/>
          <p:nvPr/>
        </p:nvSpPr>
        <p:spPr>
          <a:xfrm>
            <a:off x="5806440" y="1481328"/>
            <a:ext cx="5440680" cy="11430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52744" y="1591056"/>
            <a:ext cx="5148072" cy="256032"/>
          </a:xfrm>
          <a:prstGeom prst="rect">
            <a:avLst/>
          </a:prstGeom>
          <a:noFill/>
        </p:spPr>
        <p:txBody>
          <a:bodyPr wrap="square">
            <a:spAutoFit/>
          </a:bodyPr>
          <a:lstStyle/>
          <a:p>
            <a:pPr algn="l">
              <a:defRPr sz="1100" b="1">
                <a:solidFill>
                  <a:srgbClr val="97423E"/>
                </a:solidFill>
                <a:latin typeface="Aptos"/>
              </a:defRPr>
            </a:pPr>
            <a:r>
              <a:t>Problem statement</a:t>
            </a:r>
          </a:p>
        </p:txBody>
      </p:sp>
      <p:sp>
        <p:nvSpPr>
          <p:cNvPr id="12" name="TextBox 11"/>
          <p:cNvSpPr txBox="1"/>
          <p:nvPr/>
        </p:nvSpPr>
        <p:spPr>
          <a:xfrm>
            <a:off x="5952744" y="1920240"/>
            <a:ext cx="5148072" cy="630936"/>
          </a:xfrm>
          <a:prstGeom prst="rect">
            <a:avLst/>
          </a:prstGeom>
          <a:noFill/>
        </p:spPr>
        <p:txBody>
          <a:bodyPr wrap="square">
            <a:spAutoFit/>
          </a:bodyPr>
          <a:lstStyle/>
          <a:p>
            <a:pPr algn="l">
              <a:defRPr sz="1000" b="0">
                <a:solidFill>
                  <a:srgbClr val="302422"/>
                </a:solidFill>
                <a:latin typeface="Aptos"/>
              </a:defRPr>
            </a:pPr>
            <a:r>
              <a:t>Figure 1.1 shows the three operating modes of the MSWP framework. Starting from the reference paper, the thesis keeps the same quenching setting but tests whether selected FEM steps can be skipped with NAS-PINN predictions.</a:t>
            </a:r>
          </a:p>
        </p:txBody>
      </p:sp>
      <p:sp>
        <p:nvSpPr>
          <p:cNvPr id="13" name="Rectangle 12"/>
          <p:cNvSpPr/>
          <p:nvPr/>
        </p:nvSpPr>
        <p:spPr>
          <a:xfrm>
            <a:off x="5806440" y="2880360"/>
            <a:ext cx="5440680" cy="9601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52744" y="2990088"/>
            <a:ext cx="5148072" cy="256032"/>
          </a:xfrm>
          <a:prstGeom prst="rect">
            <a:avLst/>
          </a:prstGeom>
          <a:noFill/>
        </p:spPr>
        <p:txBody>
          <a:bodyPr wrap="square">
            <a:spAutoFit/>
          </a:bodyPr>
          <a:lstStyle/>
          <a:p>
            <a:pPr algn="l">
              <a:defRPr sz="1100" b="1">
                <a:solidFill>
                  <a:srgbClr val="97423E"/>
                </a:solidFill>
                <a:latin typeface="Aptos"/>
              </a:defRPr>
            </a:pPr>
            <a:r>
              <a:t>Why surrogate geometries first?</a:t>
            </a:r>
          </a:p>
        </p:txBody>
      </p:sp>
      <p:sp>
        <p:nvSpPr>
          <p:cNvPr id="15" name="TextBox 14"/>
          <p:cNvSpPr txBox="1"/>
          <p:nvPr/>
        </p:nvSpPr>
        <p:spPr>
          <a:xfrm>
            <a:off x="5952744" y="3319272"/>
            <a:ext cx="5148072" cy="448056"/>
          </a:xfrm>
          <a:prstGeom prst="rect">
            <a:avLst/>
          </a:prstGeom>
          <a:noFill/>
        </p:spPr>
        <p:txBody>
          <a:bodyPr wrap="square">
            <a:spAutoFit/>
          </a:bodyPr>
          <a:lstStyle/>
          <a:p>
            <a:pPr algn="l">
              <a:defRPr sz="1000" b="0">
                <a:solidFill>
                  <a:srgbClr val="302422"/>
                </a:solidFill>
                <a:latin typeface="Aptos"/>
              </a:defRPr>
            </a:pPr>
            <a:r>
              <a:t>The real industrial data arrived late, so the method was validated first on controlled geometries: NAS-PINN source domains, canonical 2D domains, then 3D and Thermal Fin benchmarks.</a:t>
            </a:r>
          </a:p>
        </p:txBody>
      </p:sp>
      <p:sp>
        <p:nvSpPr>
          <p:cNvPr id="16" name="Rectangle 15"/>
          <p:cNvSpPr/>
          <p:nvPr/>
        </p:nvSpPr>
        <p:spPr>
          <a:xfrm>
            <a:off x="6858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 y="5001768"/>
            <a:ext cx="1655063" cy="182880"/>
          </a:xfrm>
          <a:prstGeom prst="rect">
            <a:avLst/>
          </a:prstGeom>
          <a:noFill/>
        </p:spPr>
        <p:txBody>
          <a:bodyPr wrap="square">
            <a:spAutoFit/>
          </a:bodyPr>
          <a:lstStyle/>
          <a:p>
            <a:pPr algn="ctr">
              <a:defRPr sz="800" b="1">
                <a:solidFill>
                  <a:srgbClr val="745852"/>
                </a:solidFill>
                <a:latin typeface="Aptos"/>
              </a:defRPr>
            </a:pPr>
            <a:r>
              <a:t>Initial temperature</a:t>
            </a:r>
          </a:p>
        </p:txBody>
      </p:sp>
      <p:sp>
        <p:nvSpPr>
          <p:cNvPr id="18" name="TextBox 17"/>
          <p:cNvSpPr txBox="1"/>
          <p:nvPr/>
        </p:nvSpPr>
        <p:spPr>
          <a:xfrm>
            <a:off x="795528" y="5221224"/>
            <a:ext cx="1655063" cy="310896"/>
          </a:xfrm>
          <a:prstGeom prst="rect">
            <a:avLst/>
          </a:prstGeom>
          <a:noFill/>
        </p:spPr>
        <p:txBody>
          <a:bodyPr wrap="square">
            <a:spAutoFit/>
          </a:bodyPr>
          <a:lstStyle/>
          <a:p>
            <a:pPr algn="ctr">
              <a:defRPr sz="1500" b="1">
                <a:solidFill>
                  <a:srgbClr val="97423E"/>
                </a:solidFill>
                <a:latin typeface="Aptos"/>
              </a:defRPr>
            </a:pPr>
            <a:r>
              <a:t>540 C</a:t>
            </a:r>
          </a:p>
        </p:txBody>
      </p:sp>
      <p:sp>
        <p:nvSpPr>
          <p:cNvPr id="19" name="TextBox 18"/>
          <p:cNvSpPr txBox="1"/>
          <p:nvPr/>
        </p:nvSpPr>
        <p:spPr>
          <a:xfrm>
            <a:off x="795528" y="5605272"/>
            <a:ext cx="1655063" cy="182880"/>
          </a:xfrm>
          <a:prstGeom prst="rect">
            <a:avLst/>
          </a:prstGeom>
          <a:noFill/>
        </p:spPr>
        <p:txBody>
          <a:bodyPr wrap="square">
            <a:spAutoFit/>
          </a:bodyPr>
          <a:lstStyle/>
          <a:p>
            <a:pPr algn="ctr">
              <a:defRPr sz="700" b="0">
                <a:solidFill>
                  <a:srgbClr val="745852"/>
                </a:solidFill>
                <a:latin typeface="Aptos"/>
              </a:defRPr>
            </a:pPr>
            <a:r>
              <a:t>A356 part</a:t>
            </a:r>
          </a:p>
        </p:txBody>
      </p:sp>
      <p:sp>
        <p:nvSpPr>
          <p:cNvPr id="20" name="Rectangle 19"/>
          <p:cNvSpPr/>
          <p:nvPr/>
        </p:nvSpPr>
        <p:spPr>
          <a:xfrm>
            <a:off x="27432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2928" y="5001768"/>
            <a:ext cx="1655063" cy="182880"/>
          </a:xfrm>
          <a:prstGeom prst="rect">
            <a:avLst/>
          </a:prstGeom>
          <a:noFill/>
        </p:spPr>
        <p:txBody>
          <a:bodyPr wrap="square">
            <a:spAutoFit/>
          </a:bodyPr>
          <a:lstStyle/>
          <a:p>
            <a:pPr algn="ctr">
              <a:defRPr sz="800" b="1">
                <a:solidFill>
                  <a:srgbClr val="745852"/>
                </a:solidFill>
                <a:latin typeface="Aptos"/>
              </a:defRPr>
            </a:pPr>
            <a:r>
              <a:t>Water bath</a:t>
            </a:r>
          </a:p>
        </p:txBody>
      </p:sp>
      <p:sp>
        <p:nvSpPr>
          <p:cNvPr id="22" name="TextBox 21"/>
          <p:cNvSpPr txBox="1"/>
          <p:nvPr/>
        </p:nvSpPr>
        <p:spPr>
          <a:xfrm>
            <a:off x="2852928" y="5221224"/>
            <a:ext cx="1655063" cy="310896"/>
          </a:xfrm>
          <a:prstGeom prst="rect">
            <a:avLst/>
          </a:prstGeom>
          <a:noFill/>
        </p:spPr>
        <p:txBody>
          <a:bodyPr wrap="square">
            <a:spAutoFit/>
          </a:bodyPr>
          <a:lstStyle/>
          <a:p>
            <a:pPr algn="ctr">
              <a:defRPr sz="1500" b="1">
                <a:solidFill>
                  <a:srgbClr val="97423E"/>
                </a:solidFill>
                <a:latin typeface="Aptos"/>
              </a:defRPr>
            </a:pPr>
            <a:r>
              <a:t>20 C</a:t>
            </a:r>
          </a:p>
        </p:txBody>
      </p:sp>
      <p:sp>
        <p:nvSpPr>
          <p:cNvPr id="23" name="TextBox 22"/>
          <p:cNvSpPr txBox="1"/>
          <p:nvPr/>
        </p:nvSpPr>
        <p:spPr>
          <a:xfrm>
            <a:off x="2852928" y="5605272"/>
            <a:ext cx="1655063" cy="182880"/>
          </a:xfrm>
          <a:prstGeom prst="rect">
            <a:avLst/>
          </a:prstGeom>
          <a:noFill/>
        </p:spPr>
        <p:txBody>
          <a:bodyPr wrap="square">
            <a:spAutoFit/>
          </a:bodyPr>
          <a:lstStyle/>
          <a:p>
            <a:pPr algn="ctr">
              <a:defRPr sz="700" b="0">
                <a:solidFill>
                  <a:srgbClr val="745852"/>
                </a:solidFill>
                <a:latin typeface="Aptos"/>
              </a:defRPr>
            </a:pPr>
            <a:r>
              <a:t>quench medium</a:t>
            </a:r>
          </a:p>
        </p:txBody>
      </p:sp>
      <p:sp>
        <p:nvSpPr>
          <p:cNvPr id="24" name="Rectangle 23"/>
          <p:cNvSpPr/>
          <p:nvPr/>
        </p:nvSpPr>
        <p:spPr>
          <a:xfrm>
            <a:off x="48006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10328" y="5001768"/>
            <a:ext cx="1655063" cy="182880"/>
          </a:xfrm>
          <a:prstGeom prst="rect">
            <a:avLst/>
          </a:prstGeom>
          <a:noFill/>
        </p:spPr>
        <p:txBody>
          <a:bodyPr wrap="square">
            <a:spAutoFit/>
          </a:bodyPr>
          <a:lstStyle/>
          <a:p>
            <a:pPr algn="ctr">
              <a:defRPr sz="800" b="1">
                <a:solidFill>
                  <a:srgbClr val="745852"/>
                </a:solidFill>
                <a:latin typeface="Aptos"/>
              </a:defRPr>
            </a:pPr>
            <a:r>
              <a:t>Simulation time</a:t>
            </a:r>
          </a:p>
        </p:txBody>
      </p:sp>
      <p:sp>
        <p:nvSpPr>
          <p:cNvPr id="26" name="TextBox 25"/>
          <p:cNvSpPr txBox="1"/>
          <p:nvPr/>
        </p:nvSpPr>
        <p:spPr>
          <a:xfrm>
            <a:off x="4910328" y="5221224"/>
            <a:ext cx="1655063" cy="310896"/>
          </a:xfrm>
          <a:prstGeom prst="rect">
            <a:avLst/>
          </a:prstGeom>
          <a:noFill/>
        </p:spPr>
        <p:txBody>
          <a:bodyPr wrap="square">
            <a:spAutoFit/>
          </a:bodyPr>
          <a:lstStyle/>
          <a:p>
            <a:pPr algn="ctr">
              <a:defRPr sz="1500" b="1">
                <a:solidFill>
                  <a:srgbClr val="97423E"/>
                </a:solidFill>
                <a:latin typeface="Aptos"/>
              </a:defRPr>
            </a:pPr>
            <a:r>
              <a:t>30 s</a:t>
            </a:r>
          </a:p>
        </p:txBody>
      </p:sp>
      <p:sp>
        <p:nvSpPr>
          <p:cNvPr id="27" name="TextBox 26"/>
          <p:cNvSpPr txBox="1"/>
          <p:nvPr/>
        </p:nvSpPr>
        <p:spPr>
          <a:xfrm>
            <a:off x="4910328" y="5605272"/>
            <a:ext cx="1655063" cy="182880"/>
          </a:xfrm>
          <a:prstGeom prst="rect">
            <a:avLst/>
          </a:prstGeom>
          <a:noFill/>
        </p:spPr>
        <p:txBody>
          <a:bodyPr wrap="square">
            <a:spAutoFit/>
          </a:bodyPr>
          <a:lstStyle/>
          <a:p>
            <a:pPr algn="ctr">
              <a:defRPr sz="700" b="0">
                <a:solidFill>
                  <a:srgbClr val="745852"/>
                </a:solidFill>
                <a:latin typeface="Aptos"/>
              </a:defRPr>
            </a:pPr>
            <a:r>
              <a:t>transient cooling</a:t>
            </a:r>
          </a:p>
        </p:txBody>
      </p:sp>
      <p:sp>
        <p:nvSpPr>
          <p:cNvPr id="28" name="Rectangle 27"/>
          <p:cNvSpPr/>
          <p:nvPr/>
        </p:nvSpPr>
        <p:spPr>
          <a:xfrm>
            <a:off x="68580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001768"/>
            <a:ext cx="1655063" cy="182880"/>
          </a:xfrm>
          <a:prstGeom prst="rect">
            <a:avLst/>
          </a:prstGeom>
          <a:noFill/>
        </p:spPr>
        <p:txBody>
          <a:bodyPr wrap="square">
            <a:spAutoFit/>
          </a:bodyPr>
          <a:lstStyle/>
          <a:p>
            <a:pPr algn="ctr">
              <a:defRPr sz="800" b="1">
                <a:solidFill>
                  <a:srgbClr val="745852"/>
                </a:solidFill>
                <a:latin typeface="Aptos"/>
              </a:defRPr>
            </a:pPr>
            <a:r>
              <a:t>2D h</a:t>
            </a:r>
          </a:p>
        </p:txBody>
      </p:sp>
      <p:sp>
        <p:nvSpPr>
          <p:cNvPr id="31" name="TextBox 30"/>
          <p:cNvSpPr txBox="1"/>
          <p:nvPr/>
        </p:nvSpPr>
        <p:spPr>
          <a:xfrm>
            <a:off x="6967728" y="5605272"/>
            <a:ext cx="1655063" cy="182880"/>
          </a:xfrm>
          <a:prstGeom prst="rect">
            <a:avLst/>
          </a:prstGeom>
          <a:noFill/>
        </p:spPr>
        <p:txBody>
          <a:bodyPr wrap="square">
            <a:spAutoFit/>
          </a:bodyPr>
          <a:lstStyle/>
          <a:p>
            <a:pPr algn="ctr">
              <a:defRPr sz="700" b="0">
                <a:solidFill>
                  <a:srgbClr val="745852"/>
                </a:solidFill>
                <a:latin typeface="Aptos"/>
              </a:defRPr>
            </a:pPr>
            <a:r>
              <a:t>W/(m2K)</a:t>
            </a:r>
          </a:p>
        </p:txBody>
      </p:sp>
      <p:sp>
        <p:nvSpPr>
          <p:cNvPr id="32" name="Rectangle 31"/>
          <p:cNvSpPr/>
          <p:nvPr/>
        </p:nvSpPr>
        <p:spPr>
          <a:xfrm>
            <a:off x="8915400" y="4892040"/>
            <a:ext cx="1874519" cy="9601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25128" y="5001768"/>
            <a:ext cx="1655063" cy="182880"/>
          </a:xfrm>
          <a:prstGeom prst="rect">
            <a:avLst/>
          </a:prstGeom>
          <a:noFill/>
        </p:spPr>
        <p:txBody>
          <a:bodyPr wrap="square">
            <a:spAutoFit/>
          </a:bodyPr>
          <a:lstStyle/>
          <a:p>
            <a:pPr algn="ctr">
              <a:defRPr sz="800" b="1">
                <a:solidFill>
                  <a:srgbClr val="745852"/>
                </a:solidFill>
                <a:latin typeface="Aptos"/>
              </a:defRPr>
            </a:pPr>
            <a:r>
              <a:t>3D/Fin h</a:t>
            </a:r>
          </a:p>
        </p:txBody>
      </p:sp>
      <p:sp>
        <p:nvSpPr>
          <p:cNvPr id="35" name="TextBox 34"/>
          <p:cNvSpPr txBox="1"/>
          <p:nvPr/>
        </p:nvSpPr>
        <p:spPr>
          <a:xfrm>
            <a:off x="9025128" y="5605272"/>
            <a:ext cx="1655063" cy="182880"/>
          </a:xfrm>
          <a:prstGeom prst="rect">
            <a:avLst/>
          </a:prstGeom>
          <a:noFill/>
        </p:spPr>
        <p:txBody>
          <a:bodyPr wrap="square">
            <a:spAutoFit/>
          </a:bodyPr>
          <a:lstStyle/>
          <a:p>
            <a:pPr algn="ctr">
              <a:defRPr sz="700" b="0">
                <a:solidFill>
                  <a:srgbClr val="745852"/>
                </a:solidFill>
                <a:latin typeface="Aptos"/>
              </a:defRPr>
            </a:pPr>
            <a:r>
              <a:t>W/(m2K)</a:t>
            </a:r>
          </a:p>
        </p:txBody>
      </p:sp>
      <p:sp>
        <p:nvSpPr>
          <p:cNvPr id="36" name="Rectangle 3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Intro: From the Reference Paper to This Thesis</a:t>
            </a:r>
          </a:p>
        </p:txBody>
      </p:sp>
      <p:sp>
        <p:nvSpPr>
          <p:cNvPr id="38" name="TextBox 3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39" name="Rectangle 3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41" name="TextBox 4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42" name="TextBox 4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411480" y="713232"/>
            <a:ext cx="11338560" cy="27432"/>
          </a:xfrm>
          <a:prstGeom prst="rect">
            <a:avLst/>
          </a:prstGeom>
          <a:solidFill>
            <a:srgbClr val="B9CDE1"/>
          </a:solidFill>
          <a:ln>
            <a:solidFill>
              <a:srgbClr val="B9CD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868680"/>
            <a:ext cx="4206240" cy="228600"/>
          </a:xfrm>
          <a:prstGeom prst="rect">
            <a:avLst/>
          </a:prstGeom>
          <a:noFill/>
        </p:spPr>
        <p:txBody>
          <a:bodyPr wrap="square" lIns="54864" rIns="54864" tIns="27432" bIns="27432">
            <a:normAutofit/>
          </a:bodyPr>
          <a:lstStyle/>
          <a:p>
            <a:pPr algn="ctr">
              <a:defRPr sz="1100" b="1">
                <a:solidFill>
                  <a:srgbClr val="17365D"/>
                </a:solidFill>
              </a:defRPr>
            </a:pPr>
            <a:r>
              <a:t>Table 3.1: what is taken from the reference study</a:t>
            </a:r>
          </a:p>
        </p:txBody>
      </p:sp>
      <p:pic>
        <p:nvPicPr>
          <p:cNvPr id="5" name="Picture 4" descr="Table 3.1.png"/>
          <p:cNvPicPr>
            <a:picLocks noChangeAspect="1"/>
          </p:cNvPicPr>
          <p:nvPr/>
        </p:nvPicPr>
        <p:blipFill>
          <a:blip r:embed="rId2"/>
          <a:stretch>
            <a:fillRect/>
          </a:stretch>
        </p:blipFill>
        <p:spPr>
          <a:xfrm>
            <a:off x="676974" y="1143000"/>
            <a:ext cx="4041011" cy="4800600"/>
          </a:xfrm>
          <a:prstGeom prst="rect">
            <a:avLst/>
          </a:prstGeom>
        </p:spPr>
      </p:pic>
      <p:sp>
        <p:nvSpPr>
          <p:cNvPr id="6" name="TextBox 5"/>
          <p:cNvSpPr txBox="1"/>
          <p:nvPr/>
        </p:nvSpPr>
        <p:spPr>
          <a:xfrm>
            <a:off x="5257800" y="868680"/>
            <a:ext cx="6126480" cy="228600"/>
          </a:xfrm>
          <a:prstGeom prst="rect">
            <a:avLst/>
          </a:prstGeom>
          <a:noFill/>
        </p:spPr>
        <p:txBody>
          <a:bodyPr wrap="square" lIns="54864" rIns="54864" tIns="27432" bIns="27432">
            <a:normAutofit/>
          </a:bodyPr>
          <a:lstStyle/>
          <a:p>
            <a:pPr algn="l">
              <a:defRPr sz="1200" b="1">
                <a:solidFill>
                  <a:srgbClr val="17365D"/>
                </a:solidFill>
              </a:defRPr>
            </a:pPr>
            <a:r>
              <a:t>Important comparison</a:t>
            </a:r>
          </a:p>
        </p:txBody>
      </p:sp>
      <p:sp>
        <p:nvSpPr>
          <p:cNvPr id="7" name="Rounded Rectangle 6"/>
          <p:cNvSpPr/>
          <p:nvPr/>
        </p:nvSpPr>
        <p:spPr>
          <a:xfrm>
            <a:off x="5257800" y="1234440"/>
            <a:ext cx="5989320" cy="868680"/>
          </a:xfrm>
          <a:prstGeom prst="roundRect">
            <a:avLst/>
          </a:prstGeom>
          <a:solidFill>
            <a:srgbClr val="E5F1FB"/>
          </a:solidFill>
          <a:ln w="12700">
            <a:solidFill>
              <a:srgbClr val="538BBE"/>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normAutofit/>
          </a:bodyPr>
          <a:lstStyle/>
          <a:p>
            <a:pPr algn="ctr">
              <a:defRPr sz="1200" b="1">
                <a:solidFill>
                  <a:srgbClr val="17365D"/>
                </a:solidFill>
              </a:defRPr>
            </a:pPr>
            <a:r>
              <a:t>Reference paper</a:t>
            </a:r>
          </a:p>
          <a:p>
            <a:pPr>
              <a:defRPr sz="1000">
                <a:solidFill>
                  <a:srgbClr val="2D2D2D"/>
                </a:solidFill>
              </a:defRPr>
            </a:pPr>
            <a:r>
              <a:t>Industrial A356 water-quenching problem; FEM is used to simulate thermal behaviour and distortion risk.</a:t>
            </a:r>
          </a:p>
        </p:txBody>
      </p:sp>
      <p:sp>
        <p:nvSpPr>
          <p:cNvPr id="8" name="Rounded Rectangle 7"/>
          <p:cNvSpPr/>
          <p:nvPr/>
        </p:nvSpPr>
        <p:spPr>
          <a:xfrm>
            <a:off x="5257800" y="2331720"/>
            <a:ext cx="5989320" cy="868680"/>
          </a:xfrm>
          <a:prstGeom prst="roundRect">
            <a:avLst/>
          </a:prstGeom>
          <a:solidFill>
            <a:srgbClr val="EEF6E8"/>
          </a:solidFill>
          <a:ln w="12700">
            <a:solidFill>
              <a:srgbClr val="649B5F"/>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normAutofit/>
          </a:bodyPr>
          <a:lstStyle/>
          <a:p>
            <a:pPr algn="ctr">
              <a:defRPr sz="1200" b="1">
                <a:solidFill>
                  <a:srgbClr val="17365D"/>
                </a:solidFill>
              </a:defRPr>
            </a:pPr>
            <a:r>
              <a:t>What we keep</a:t>
            </a:r>
          </a:p>
          <a:p>
            <a:pPr>
              <a:defRPr sz="1000">
                <a:solidFill>
                  <a:srgbClr val="2D2D2D"/>
                </a:solidFill>
              </a:defRPr>
            </a:pPr>
            <a:r>
              <a:t>Same physical motivation: hot A356 part, water bath, transient cooling and FEM reference fields.</a:t>
            </a:r>
          </a:p>
        </p:txBody>
      </p:sp>
      <p:sp>
        <p:nvSpPr>
          <p:cNvPr id="9" name="Rounded Rectangle 8"/>
          <p:cNvSpPr/>
          <p:nvPr/>
        </p:nvSpPr>
        <p:spPr>
          <a:xfrm>
            <a:off x="5257800" y="3429000"/>
            <a:ext cx="5989320" cy="960120"/>
          </a:xfrm>
          <a:prstGeom prst="roundRect">
            <a:avLst/>
          </a:prstGeom>
          <a:solidFill>
            <a:srgbClr val="FCF3E2"/>
          </a:solidFill>
          <a:ln w="12700">
            <a:solidFill>
              <a:srgbClr val="BE873C"/>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normAutofit/>
          </a:bodyPr>
          <a:lstStyle/>
          <a:p>
            <a:pPr algn="ctr">
              <a:defRPr sz="1200" b="1">
                <a:solidFill>
                  <a:srgbClr val="17365D"/>
                </a:solidFill>
              </a:defRPr>
            </a:pPr>
            <a:r>
              <a:t>What we change</a:t>
            </a:r>
          </a:p>
          <a:p>
            <a:pPr>
              <a:defRPr sz="1000">
                <a:solidFill>
                  <a:srgbClr val="2D2D2D"/>
                </a:solidFill>
              </a:defRPr>
            </a:pPr>
            <a:r>
              <a:t>The thesis does not simulate the full industrial subframe first. It validates the method on controlled 2D, 3D and Thermal Fin benchmarks.</a:t>
            </a:r>
          </a:p>
        </p:txBody>
      </p:sp>
      <p:sp>
        <p:nvSpPr>
          <p:cNvPr id="10" name="Rounded Rectangle 9"/>
          <p:cNvSpPr/>
          <p:nvPr/>
        </p:nvSpPr>
        <p:spPr>
          <a:xfrm>
            <a:off x="5257800" y="4617720"/>
            <a:ext cx="5989320" cy="960120"/>
          </a:xfrm>
          <a:prstGeom prst="roundRect">
            <a:avLst/>
          </a:prstGeom>
          <a:solidFill>
            <a:srgbClr val="F5EBF8"/>
          </a:solidFill>
          <a:ln w="12700">
            <a:solidFill>
              <a:srgbClr val="915FAA"/>
            </a:solidFill>
          </a:ln>
        </p:spPr>
        <p:style>
          <a:lnRef idx="1">
            <a:schemeClr val="accent1"/>
          </a:lnRef>
          <a:fillRef idx="3">
            <a:schemeClr val="accent1"/>
          </a:fillRef>
          <a:effectRef idx="2">
            <a:schemeClr val="accent1"/>
          </a:effectRef>
          <a:fontRef idx="minor">
            <a:schemeClr val="lt1"/>
          </a:fontRef>
        </p:style>
        <p:txBody>
          <a:bodyPr rtlCol="0" anchor="ctr" wrap="square" tIns="54864" bIns="36576">
            <a:normAutofit/>
          </a:bodyPr>
          <a:lstStyle/>
          <a:p>
            <a:pPr algn="ctr">
              <a:defRPr sz="1200" b="1">
                <a:solidFill>
                  <a:srgbClr val="17365D"/>
                </a:solidFill>
              </a:defRPr>
            </a:pPr>
            <a:r>
              <a:t>How we use it</a:t>
            </a:r>
          </a:p>
          <a:p>
            <a:pPr>
              <a:defRPr sz="1000">
                <a:solidFill>
                  <a:srgbClr val="2D2D2D"/>
                </a:solidFill>
              </a:defRPr>
            </a:pPr>
            <a:r>
              <a:t>FEM snapshots become trusted anchors. NAS-PINN predicts selected intermediate windows to reduce FEM time-step calls.</a:t>
            </a:r>
          </a:p>
        </p:txBody>
      </p:sp>
      <p:sp>
        <p:nvSpPr>
          <p:cNvPr id="11" name="TextBox 10"/>
          <p:cNvSpPr txBox="1"/>
          <p:nvPr/>
        </p:nvSpPr>
        <p:spPr>
          <a:xfrm>
            <a:off x="685800" y="6062472"/>
            <a:ext cx="10744200" cy="256032"/>
          </a:xfrm>
          <a:prstGeom prst="rect">
            <a:avLst/>
          </a:prstGeom>
          <a:noFill/>
        </p:spPr>
        <p:txBody>
          <a:bodyPr wrap="square" lIns="54864" rIns="54864" tIns="27432" bIns="27432">
            <a:normAutofit/>
          </a:bodyPr>
          <a:lstStyle/>
          <a:p>
            <a:pPr algn="ctr">
              <a:defRPr sz="1000" b="0">
                <a:solidFill>
                  <a:srgbClr val="646464"/>
                </a:solidFill>
              </a:defRPr>
            </a:pPr>
            <a:r>
              <a:t>Main message: the reference paper gives the industrial FEM-quenching motivation; this thesis tests a FEM-anchored acceleration strategy.</a:t>
            </a:r>
          </a:p>
        </p:txBody>
      </p:sp>
      <p:sp>
        <p:nvSpPr>
          <p:cNvPr id="12" name="Rectangle 1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Reference Paper Inputs and Thesis Use</a:t>
            </a:r>
          </a:p>
        </p:txBody>
      </p:sp>
      <p:sp>
        <p:nvSpPr>
          <p:cNvPr id="14" name="TextBox 1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15" name="Rectangle 1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7" name="TextBox 1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8" name="TextBox 1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005840"/>
            <a:ext cx="10607040" cy="822960"/>
          </a:xfrm>
          <a:prstGeom prst="rect">
            <a:avLst/>
          </a:prstGeom>
          <a:noFill/>
        </p:spPr>
        <p:txBody>
          <a:bodyPr wrap="square">
            <a:spAutoFit/>
          </a:bodyPr>
          <a:lstStyle/>
          <a:p>
            <a:pPr algn="ctr">
              <a:defRPr sz="2400" b="1">
                <a:solidFill>
                  <a:srgbClr val="97423E"/>
                </a:solidFill>
                <a:latin typeface="Aptos"/>
              </a:defRPr>
            </a:pPr>
            <a:r>
              <a:t>How many FEM solver calls can be replaced by PINN predictions while keeping temperature error within engineering limits?</a:t>
            </a:r>
          </a:p>
        </p:txBody>
      </p:sp>
      <p:sp>
        <p:nvSpPr>
          <p:cNvPr id="8" name="Rectangle 7"/>
          <p:cNvSpPr/>
          <p:nvPr/>
        </p:nvSpPr>
        <p:spPr>
          <a:xfrm>
            <a:off x="685800" y="2331720"/>
            <a:ext cx="2788920" cy="16916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441448"/>
            <a:ext cx="2496312" cy="256032"/>
          </a:xfrm>
          <a:prstGeom prst="rect">
            <a:avLst/>
          </a:prstGeom>
          <a:noFill/>
        </p:spPr>
        <p:txBody>
          <a:bodyPr wrap="square">
            <a:spAutoFit/>
          </a:bodyPr>
          <a:lstStyle/>
          <a:p>
            <a:pPr algn="l">
              <a:defRPr sz="1100" b="1">
                <a:solidFill>
                  <a:srgbClr val="97423E"/>
                </a:solidFill>
                <a:latin typeface="Aptos"/>
              </a:defRPr>
            </a:pPr>
            <a:r>
              <a:t>We built</a:t>
            </a:r>
          </a:p>
        </p:txBody>
      </p:sp>
      <p:sp>
        <p:nvSpPr>
          <p:cNvPr id="10" name="TextBox 9"/>
          <p:cNvSpPr txBox="1"/>
          <p:nvPr/>
        </p:nvSpPr>
        <p:spPr>
          <a:xfrm>
            <a:off x="832104" y="2770632"/>
            <a:ext cx="2496312" cy="1179576"/>
          </a:xfrm>
          <a:prstGeom prst="rect">
            <a:avLst/>
          </a:prstGeom>
          <a:noFill/>
        </p:spPr>
        <p:txBody>
          <a:bodyPr wrap="square">
            <a:spAutoFit/>
          </a:bodyPr>
          <a:lstStyle/>
          <a:p>
            <a:pPr algn="l">
              <a:defRPr sz="1000" b="0">
                <a:solidFill>
                  <a:srgbClr val="302422"/>
                </a:solidFill>
                <a:latin typeface="Aptos"/>
              </a:defRPr>
            </a:pPr>
            <a:r>
              <a:t>A FEM-anchored NAS-PINN framework that predicts intermediate thermal fields while FEM snapshots remain the correction source.</a:t>
            </a:r>
          </a:p>
        </p:txBody>
      </p:sp>
      <p:sp>
        <p:nvSpPr>
          <p:cNvPr id="11" name="Rectangle 10"/>
          <p:cNvSpPr/>
          <p:nvPr/>
        </p:nvSpPr>
        <p:spPr>
          <a:xfrm>
            <a:off x="3611880" y="2331720"/>
            <a:ext cx="2788920" cy="16916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8184" y="2441448"/>
            <a:ext cx="2496312" cy="256032"/>
          </a:xfrm>
          <a:prstGeom prst="rect">
            <a:avLst/>
          </a:prstGeom>
          <a:noFill/>
        </p:spPr>
        <p:txBody>
          <a:bodyPr wrap="square">
            <a:spAutoFit/>
          </a:bodyPr>
          <a:lstStyle/>
          <a:p>
            <a:pPr algn="l">
              <a:defRPr sz="1100" b="1">
                <a:solidFill>
                  <a:srgbClr val="97423E"/>
                </a:solidFill>
                <a:latin typeface="Aptos"/>
              </a:defRPr>
            </a:pPr>
            <a:r>
              <a:t>We tested</a:t>
            </a:r>
          </a:p>
        </p:txBody>
      </p:sp>
      <p:sp>
        <p:nvSpPr>
          <p:cNvPr id="13" name="TextBox 12"/>
          <p:cNvSpPr txBox="1"/>
          <p:nvPr/>
        </p:nvSpPr>
        <p:spPr>
          <a:xfrm>
            <a:off x="3758184" y="2770632"/>
            <a:ext cx="2496312" cy="1179576"/>
          </a:xfrm>
          <a:prstGeom prst="rect">
            <a:avLst/>
          </a:prstGeom>
          <a:noFill/>
        </p:spPr>
        <p:txBody>
          <a:bodyPr wrap="square">
            <a:spAutoFit/>
          </a:bodyPr>
          <a:lstStyle/>
          <a:p>
            <a:pPr algn="l">
              <a:defRPr sz="1000" b="0">
                <a:solidFill>
                  <a:srgbClr val="302422"/>
                </a:solidFill>
                <a:latin typeface="Aptos"/>
              </a:defRPr>
            </a:pPr>
            <a:r>
              <a:t>Fixed-k, adaptive-k and PINN-only modes were evaluated from simple 2D domains to complex 3D and Thermal Fin cases.</a:t>
            </a:r>
          </a:p>
        </p:txBody>
      </p:sp>
      <p:sp>
        <p:nvSpPr>
          <p:cNvPr id="14" name="Rectangle 13"/>
          <p:cNvSpPr/>
          <p:nvPr/>
        </p:nvSpPr>
        <p:spPr>
          <a:xfrm>
            <a:off x="6537960" y="2331720"/>
            <a:ext cx="2788920" cy="16916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84264" y="2441448"/>
            <a:ext cx="2496312" cy="256032"/>
          </a:xfrm>
          <a:prstGeom prst="rect">
            <a:avLst/>
          </a:prstGeom>
          <a:noFill/>
        </p:spPr>
        <p:txBody>
          <a:bodyPr wrap="square">
            <a:spAutoFit/>
          </a:bodyPr>
          <a:lstStyle/>
          <a:p>
            <a:pPr algn="l">
              <a:defRPr sz="1100" b="1">
                <a:solidFill>
                  <a:srgbClr val="97423E"/>
                </a:solidFill>
                <a:latin typeface="Aptos"/>
              </a:defRPr>
            </a:pPr>
            <a:r>
              <a:t>We measured</a:t>
            </a:r>
          </a:p>
        </p:txBody>
      </p:sp>
      <p:sp>
        <p:nvSpPr>
          <p:cNvPr id="16" name="TextBox 15"/>
          <p:cNvSpPr txBox="1"/>
          <p:nvPr/>
        </p:nvSpPr>
        <p:spPr>
          <a:xfrm>
            <a:off x="6684264" y="2770632"/>
            <a:ext cx="2496312" cy="1179576"/>
          </a:xfrm>
          <a:prstGeom prst="rect">
            <a:avLst/>
          </a:prstGeom>
          <a:noFill/>
        </p:spPr>
        <p:txBody>
          <a:bodyPr wrap="square">
            <a:spAutoFit/>
          </a:bodyPr>
          <a:lstStyle/>
          <a:p>
            <a:pPr algn="l">
              <a:defRPr sz="1000" b="0">
                <a:solidFill>
                  <a:srgbClr val="302422"/>
                </a:solidFill>
                <a:latin typeface="Aptos"/>
              </a:defRPr>
            </a:pPr>
            <a:r>
              <a:t>MAE, relative L2 error, skip-factor schedule and FEM-call reduction are reported together.</a:t>
            </a:r>
          </a:p>
        </p:txBody>
      </p:sp>
      <p:sp>
        <p:nvSpPr>
          <p:cNvPr id="17" name="Rectangle 16"/>
          <p:cNvSpPr/>
          <p:nvPr/>
        </p:nvSpPr>
        <p:spPr>
          <a:xfrm>
            <a:off x="9464040" y="2331720"/>
            <a:ext cx="2331720" cy="169164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10344" y="2441448"/>
            <a:ext cx="2039112" cy="256032"/>
          </a:xfrm>
          <a:prstGeom prst="rect">
            <a:avLst/>
          </a:prstGeom>
          <a:noFill/>
        </p:spPr>
        <p:txBody>
          <a:bodyPr wrap="square">
            <a:spAutoFit/>
          </a:bodyPr>
          <a:lstStyle/>
          <a:p>
            <a:pPr algn="l">
              <a:defRPr sz="1100" b="1">
                <a:solidFill>
                  <a:srgbClr val="97423E"/>
                </a:solidFill>
                <a:latin typeface="Aptos"/>
              </a:defRPr>
            </a:pPr>
            <a:r>
              <a:t>Error limits</a:t>
            </a:r>
          </a:p>
        </p:txBody>
      </p:sp>
      <p:sp>
        <p:nvSpPr>
          <p:cNvPr id="19" name="TextBox 18"/>
          <p:cNvSpPr txBox="1"/>
          <p:nvPr/>
        </p:nvSpPr>
        <p:spPr>
          <a:xfrm>
            <a:off x="9610344" y="2770632"/>
            <a:ext cx="2039112" cy="1179576"/>
          </a:xfrm>
          <a:prstGeom prst="rect">
            <a:avLst/>
          </a:prstGeom>
          <a:noFill/>
        </p:spPr>
        <p:txBody>
          <a:bodyPr wrap="square">
            <a:spAutoFit/>
          </a:bodyPr>
          <a:lstStyle/>
          <a:p>
            <a:pPr algn="l">
              <a:defRPr sz="1000" b="0">
                <a:solidFill>
                  <a:srgbClr val="302422"/>
                </a:solidFill>
                <a:latin typeface="Aptos"/>
              </a:defRPr>
            </a:pPr>
            <a:r>
              <a:t>Geometry-dependent thresholds: 10 C for canonical 2D; 15 C for 3D and Thermal Fin.</a:t>
            </a:r>
          </a:p>
        </p:txBody>
      </p:sp>
      <p:sp>
        <p:nvSpPr>
          <p:cNvPr id="20" name="Rectangle 19"/>
          <p:cNvSpPr/>
          <p:nvPr/>
        </p:nvSpPr>
        <p:spPr>
          <a:xfrm>
            <a:off x="960120" y="4572000"/>
            <a:ext cx="10332720" cy="11430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6424" y="4681728"/>
            <a:ext cx="10040112" cy="256032"/>
          </a:xfrm>
          <a:prstGeom prst="rect">
            <a:avLst/>
          </a:prstGeom>
          <a:noFill/>
        </p:spPr>
        <p:txBody>
          <a:bodyPr wrap="square">
            <a:spAutoFit/>
          </a:bodyPr>
          <a:lstStyle/>
          <a:p>
            <a:pPr algn="l">
              <a:defRPr sz="1100" b="1">
                <a:solidFill>
                  <a:srgbClr val="97423E"/>
                </a:solidFill>
                <a:latin typeface="Aptos"/>
              </a:defRPr>
            </a:pPr>
            <a:r>
              <a:t>Engineering tolerance calculation</a:t>
            </a:r>
          </a:p>
        </p:txBody>
      </p:sp>
      <p:sp>
        <p:nvSpPr>
          <p:cNvPr id="22" name="TextBox 21"/>
          <p:cNvSpPr txBox="1"/>
          <p:nvPr/>
        </p:nvSpPr>
        <p:spPr>
          <a:xfrm>
            <a:off x="1106424" y="5010912"/>
            <a:ext cx="10040112" cy="630936"/>
          </a:xfrm>
          <a:prstGeom prst="rect">
            <a:avLst/>
          </a:prstGeom>
          <a:noFill/>
        </p:spPr>
        <p:txBody>
          <a:bodyPr wrap="square">
            <a:spAutoFit/>
          </a:bodyPr>
          <a:lstStyle/>
          <a:p>
            <a:pPr algn="l">
              <a:defRPr sz="1000" b="0">
                <a:solidFill>
                  <a:srgbClr val="302422"/>
                </a:solidFill>
                <a:latin typeface="Aptos"/>
              </a:defRPr>
            </a:pPr>
            <a:r>
              <a:t>Delta T = T0 - Tw = 540 C - 20 C = 520 C     |     15 C / 520 C = 0.0288 = 2.9% approx. 3%     |     10 C / 520 C = 1.9%</a:t>
            </a:r>
          </a:p>
        </p:txBody>
      </p:sp>
      <p:sp>
        <p:nvSpPr>
          <p:cNvPr id="23" name="Rectangle 22"/>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Research Question and Contributions</a:t>
            </a:r>
          </a:p>
        </p:txBody>
      </p:sp>
      <p:sp>
        <p:nvSpPr>
          <p:cNvPr id="25" name="TextBox 24"/>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INTRODUCTION</a:t>
            </a:r>
          </a:p>
        </p:txBody>
      </p:sp>
      <p:sp>
        <p:nvSpPr>
          <p:cNvPr id="26" name="Rectangle 25"/>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8" name="TextBox 27"/>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9" name="TextBox 28"/>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960120"/>
            <a:ext cx="10972800" cy="411480"/>
          </a:xfrm>
          <a:prstGeom prst="rect">
            <a:avLst/>
          </a:prstGeom>
          <a:noFill/>
        </p:spPr>
        <p:txBody>
          <a:bodyPr wrap="square">
            <a:spAutoFit/>
          </a:bodyPr>
          <a:lstStyle/>
          <a:p>
            <a:pPr algn="ctr">
              <a:defRPr sz="1700" b="1">
                <a:solidFill>
                  <a:srgbClr val="97423E"/>
                </a:solidFill>
                <a:latin typeface="Aptos"/>
              </a:defRPr>
            </a:pPr>
            <a:r>
              <a:t>The whole framework is built on transient heat transfer during water quenching.</a:t>
            </a:r>
          </a:p>
        </p:txBody>
      </p:sp>
      <p:sp>
        <p:nvSpPr>
          <p:cNvPr id="8" name="Rectangle 7"/>
          <p:cNvSpPr/>
          <p:nvPr/>
        </p:nvSpPr>
        <p:spPr>
          <a:xfrm>
            <a:off x="685800" y="1645920"/>
            <a:ext cx="3657600" cy="22402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1755648"/>
            <a:ext cx="3364992" cy="256032"/>
          </a:xfrm>
          <a:prstGeom prst="rect">
            <a:avLst/>
          </a:prstGeom>
          <a:noFill/>
        </p:spPr>
        <p:txBody>
          <a:bodyPr wrap="square">
            <a:spAutoFit/>
          </a:bodyPr>
          <a:lstStyle/>
          <a:p>
            <a:pPr algn="l">
              <a:defRPr sz="1100" b="1">
                <a:solidFill>
                  <a:srgbClr val="97423E"/>
                </a:solidFill>
                <a:latin typeface="Aptos"/>
              </a:defRPr>
            </a:pPr>
            <a:r>
              <a:t>Governing equation</a:t>
            </a:r>
          </a:p>
        </p:txBody>
      </p:sp>
      <p:sp>
        <p:nvSpPr>
          <p:cNvPr id="10" name="TextBox 9"/>
          <p:cNvSpPr txBox="1"/>
          <p:nvPr/>
        </p:nvSpPr>
        <p:spPr>
          <a:xfrm>
            <a:off x="832104" y="2084832"/>
            <a:ext cx="3364992" cy="1728216"/>
          </a:xfrm>
          <a:prstGeom prst="rect">
            <a:avLst/>
          </a:prstGeom>
          <a:noFill/>
        </p:spPr>
        <p:txBody>
          <a:bodyPr wrap="square">
            <a:spAutoFit/>
          </a:bodyPr>
          <a:lstStyle/>
          <a:p>
            <a:r>
              <a:t>rho cp dT/dt = div(kT grad T)</a:t>
            </a:r>
          </a:p>
          <a:p/>
          <a:p>
            <a:r>
              <a:t>This describes how the temperature field evolves inside the solid part.</a:t>
            </a:r>
          </a:p>
        </p:txBody>
      </p:sp>
      <p:sp>
        <p:nvSpPr>
          <p:cNvPr id="11" name="Rectangle 10"/>
          <p:cNvSpPr/>
          <p:nvPr/>
        </p:nvSpPr>
        <p:spPr>
          <a:xfrm>
            <a:off x="4526280" y="1645920"/>
            <a:ext cx="3657600" cy="22402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2584" y="1755648"/>
            <a:ext cx="3364992" cy="256032"/>
          </a:xfrm>
          <a:prstGeom prst="rect">
            <a:avLst/>
          </a:prstGeom>
          <a:noFill/>
        </p:spPr>
        <p:txBody>
          <a:bodyPr wrap="square">
            <a:spAutoFit/>
          </a:bodyPr>
          <a:lstStyle/>
          <a:p>
            <a:pPr algn="l">
              <a:defRPr sz="1100" b="1">
                <a:solidFill>
                  <a:srgbClr val="97423E"/>
                </a:solidFill>
                <a:latin typeface="Aptos"/>
              </a:defRPr>
            </a:pPr>
            <a:r>
              <a:t>Boundary condition</a:t>
            </a:r>
          </a:p>
        </p:txBody>
      </p:sp>
      <p:sp>
        <p:nvSpPr>
          <p:cNvPr id="13" name="TextBox 12"/>
          <p:cNvSpPr txBox="1"/>
          <p:nvPr/>
        </p:nvSpPr>
        <p:spPr>
          <a:xfrm>
            <a:off x="4672584" y="2084832"/>
            <a:ext cx="3364992" cy="1728216"/>
          </a:xfrm>
          <a:prstGeom prst="rect">
            <a:avLst/>
          </a:prstGeom>
          <a:noFill/>
        </p:spPr>
        <p:txBody>
          <a:bodyPr wrap="square">
            <a:spAutoFit/>
          </a:bodyPr>
          <a:lstStyle/>
          <a:p>
            <a:r>
              <a:t>-kT grad(T) . n = h (T - Tw)</a:t>
            </a:r>
          </a:p>
          <a:p/>
          <a:p>
            <a:r>
              <a:t>This represents heat leaving the hot metal surface into the quench water.</a:t>
            </a:r>
          </a:p>
        </p:txBody>
      </p:sp>
      <p:sp>
        <p:nvSpPr>
          <p:cNvPr id="14" name="Rectangle 13"/>
          <p:cNvSpPr/>
          <p:nvPr/>
        </p:nvSpPr>
        <p:spPr>
          <a:xfrm>
            <a:off x="8366760" y="1645920"/>
            <a:ext cx="3337560" cy="22402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13064" y="1755648"/>
            <a:ext cx="3044952" cy="256032"/>
          </a:xfrm>
          <a:prstGeom prst="rect">
            <a:avLst/>
          </a:prstGeom>
          <a:noFill/>
        </p:spPr>
        <p:txBody>
          <a:bodyPr wrap="square">
            <a:spAutoFit/>
          </a:bodyPr>
          <a:lstStyle/>
          <a:p>
            <a:pPr algn="l">
              <a:defRPr sz="1100" b="1">
                <a:solidFill>
                  <a:srgbClr val="97423E"/>
                </a:solidFill>
                <a:latin typeface="Aptos"/>
              </a:defRPr>
            </a:pPr>
            <a:r>
              <a:t>Initial condition</a:t>
            </a:r>
          </a:p>
        </p:txBody>
      </p:sp>
      <p:sp>
        <p:nvSpPr>
          <p:cNvPr id="16" name="TextBox 15"/>
          <p:cNvSpPr txBox="1"/>
          <p:nvPr/>
        </p:nvSpPr>
        <p:spPr>
          <a:xfrm>
            <a:off x="8513064" y="2084832"/>
            <a:ext cx="3044952" cy="1728216"/>
          </a:xfrm>
          <a:prstGeom prst="rect">
            <a:avLst/>
          </a:prstGeom>
          <a:noFill/>
        </p:spPr>
        <p:txBody>
          <a:bodyPr wrap="square">
            <a:spAutoFit/>
          </a:bodyPr>
          <a:lstStyle/>
          <a:p>
            <a:r>
              <a:t>T(x,0) = T0</a:t>
            </a:r>
          </a:p>
          <a:p/>
          <a:p>
            <a:r>
              <a:t>In this thesis: T0 = 540 C and Tw = 20 C.</a:t>
            </a:r>
          </a:p>
        </p:txBody>
      </p:sp>
      <p:sp>
        <p:nvSpPr>
          <p:cNvPr id="17" name="Rectangle 16"/>
          <p:cNvSpPr/>
          <p:nvPr/>
        </p:nvSpPr>
        <p:spPr>
          <a:xfrm>
            <a:off x="914400" y="4572000"/>
            <a:ext cx="5349240"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0704" y="4681728"/>
            <a:ext cx="5056631" cy="256032"/>
          </a:xfrm>
          <a:prstGeom prst="rect">
            <a:avLst/>
          </a:prstGeom>
          <a:noFill/>
        </p:spPr>
        <p:txBody>
          <a:bodyPr wrap="square">
            <a:spAutoFit/>
          </a:bodyPr>
          <a:lstStyle/>
          <a:p>
            <a:pPr algn="l">
              <a:defRPr sz="1100" b="1">
                <a:solidFill>
                  <a:srgbClr val="97423E"/>
                </a:solidFill>
                <a:latin typeface="Aptos"/>
              </a:defRPr>
            </a:pPr>
            <a:r>
              <a:t>How Finite Element Method (FEM) uses it</a:t>
            </a:r>
          </a:p>
        </p:txBody>
      </p:sp>
      <p:sp>
        <p:nvSpPr>
          <p:cNvPr id="19" name="TextBox 18"/>
          <p:cNvSpPr txBox="1"/>
          <p:nvPr/>
        </p:nvSpPr>
        <p:spPr>
          <a:xfrm>
            <a:off x="1060704" y="5010912"/>
            <a:ext cx="5056631" cy="630936"/>
          </a:xfrm>
          <a:prstGeom prst="rect">
            <a:avLst/>
          </a:prstGeom>
          <a:noFill/>
        </p:spPr>
        <p:txBody>
          <a:bodyPr wrap="square">
            <a:spAutoFit/>
          </a:bodyPr>
          <a:lstStyle/>
          <a:p>
            <a:pPr algn="l">
              <a:defRPr sz="1000" b="0">
                <a:solidFill>
                  <a:srgbClr val="302422"/>
                </a:solidFill>
                <a:latin typeface="Aptos"/>
              </a:defRPr>
            </a:pPr>
            <a:r>
              <a:t>FEM discretises the domain and solves this equation to produce reference temperature snapshots.</a:t>
            </a:r>
          </a:p>
        </p:txBody>
      </p:sp>
      <p:sp>
        <p:nvSpPr>
          <p:cNvPr id="20" name="Rectangle 19"/>
          <p:cNvSpPr/>
          <p:nvPr/>
        </p:nvSpPr>
        <p:spPr>
          <a:xfrm>
            <a:off x="6446520" y="4572000"/>
            <a:ext cx="4892040" cy="11430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92824" y="4681728"/>
            <a:ext cx="4599431" cy="256032"/>
          </a:xfrm>
          <a:prstGeom prst="rect">
            <a:avLst/>
          </a:prstGeom>
          <a:noFill/>
        </p:spPr>
        <p:txBody>
          <a:bodyPr wrap="square">
            <a:spAutoFit/>
          </a:bodyPr>
          <a:lstStyle/>
          <a:p>
            <a:pPr algn="l">
              <a:defRPr sz="1100" b="1">
                <a:solidFill>
                  <a:srgbClr val="97423E"/>
                </a:solidFill>
                <a:latin typeface="Aptos"/>
              </a:defRPr>
            </a:pPr>
            <a:r>
              <a:t>How PINN uses it</a:t>
            </a:r>
          </a:p>
        </p:txBody>
      </p:sp>
      <p:sp>
        <p:nvSpPr>
          <p:cNvPr id="22" name="TextBox 21"/>
          <p:cNvSpPr txBox="1"/>
          <p:nvPr/>
        </p:nvSpPr>
        <p:spPr>
          <a:xfrm>
            <a:off x="6592824" y="5010912"/>
            <a:ext cx="4599431" cy="630936"/>
          </a:xfrm>
          <a:prstGeom prst="rect">
            <a:avLst/>
          </a:prstGeom>
          <a:noFill/>
        </p:spPr>
        <p:txBody>
          <a:bodyPr wrap="square">
            <a:spAutoFit/>
          </a:bodyPr>
          <a:lstStyle/>
          <a:p>
            <a:pPr algn="l">
              <a:defRPr sz="1000" b="0">
                <a:solidFill>
                  <a:srgbClr val="302422"/>
                </a:solidFill>
                <a:latin typeface="Aptos"/>
              </a:defRPr>
            </a:pPr>
            <a:r>
              <a:t>PINN predicts T(x,t) and penalises violations of the PDE, boundary condition and initial condition.</a:t>
            </a:r>
          </a:p>
        </p:txBody>
      </p:sp>
      <p:sp>
        <p:nvSpPr>
          <p:cNvPr id="23" name="Rectangle 22"/>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Heat Transfer Model</a:t>
            </a:r>
          </a:p>
        </p:txBody>
      </p:sp>
      <p:sp>
        <p:nvSpPr>
          <p:cNvPr id="25" name="TextBox 24"/>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THEORY AND FEM BACKGROUND</a:t>
            </a:r>
          </a:p>
        </p:txBody>
      </p:sp>
      <p:sp>
        <p:nvSpPr>
          <p:cNvPr id="26" name="Rectangle 25"/>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8" name="TextBox 27"/>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9" name="TextBox 28"/>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14400"/>
            <a:ext cx="3566160" cy="41605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024128"/>
            <a:ext cx="3273552" cy="256032"/>
          </a:xfrm>
          <a:prstGeom prst="rect">
            <a:avLst/>
          </a:prstGeom>
          <a:noFill/>
        </p:spPr>
        <p:txBody>
          <a:bodyPr wrap="square">
            <a:spAutoFit/>
          </a:bodyPr>
          <a:lstStyle/>
          <a:p>
            <a:pPr algn="l">
              <a:defRPr sz="1100" b="1">
                <a:solidFill>
                  <a:srgbClr val="97423E"/>
                </a:solidFill>
                <a:latin typeface="Aptos"/>
              </a:defRPr>
            </a:pPr>
            <a:r>
              <a:t>FEM</a:t>
            </a:r>
          </a:p>
        </p:txBody>
      </p:sp>
      <p:sp>
        <p:nvSpPr>
          <p:cNvPr id="9" name="TextBox 8"/>
          <p:cNvSpPr txBox="1"/>
          <p:nvPr/>
        </p:nvSpPr>
        <p:spPr>
          <a:xfrm>
            <a:off x="740664" y="1353312"/>
            <a:ext cx="3273552" cy="3648456"/>
          </a:xfrm>
          <a:prstGeom prst="rect">
            <a:avLst/>
          </a:prstGeom>
          <a:noFill/>
        </p:spPr>
        <p:txBody>
          <a:bodyPr wrap="square">
            <a:spAutoFit/>
          </a:bodyPr>
          <a:lstStyle/>
          <a:p>
            <a:r>
              <a:t>What is it?</a:t>
            </a:r>
          </a:p>
          <a:p>
            <a:r>
              <a:t>A numerical solver for the heat equation.</a:t>
            </a:r>
          </a:p>
          <a:p/>
          <a:p>
            <a:r>
              <a:t>How we used it?</a:t>
            </a:r>
          </a:p>
          <a:p>
            <a:r>
              <a:t>It gives reliable anchor snapshots.</a:t>
            </a:r>
          </a:p>
          <a:p/>
          <a:p>
            <a:r>
              <a:t>Key point: FEM is not removed.</a:t>
            </a:r>
          </a:p>
        </p:txBody>
      </p:sp>
      <p:sp>
        <p:nvSpPr>
          <p:cNvPr id="10" name="Rectangle 9"/>
          <p:cNvSpPr/>
          <p:nvPr/>
        </p:nvSpPr>
        <p:spPr>
          <a:xfrm>
            <a:off x="4343400" y="914400"/>
            <a:ext cx="3566160" cy="41605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024128"/>
            <a:ext cx="3273552" cy="256032"/>
          </a:xfrm>
          <a:prstGeom prst="rect">
            <a:avLst/>
          </a:prstGeom>
          <a:noFill/>
        </p:spPr>
        <p:txBody>
          <a:bodyPr wrap="square">
            <a:spAutoFit/>
          </a:bodyPr>
          <a:lstStyle/>
          <a:p>
            <a:pPr algn="l">
              <a:defRPr sz="1100" b="1">
                <a:solidFill>
                  <a:srgbClr val="97423E"/>
                </a:solidFill>
                <a:latin typeface="Aptos"/>
              </a:defRPr>
            </a:pPr>
            <a:r>
              <a:t>PINN</a:t>
            </a:r>
          </a:p>
        </p:txBody>
      </p:sp>
      <p:sp>
        <p:nvSpPr>
          <p:cNvPr id="12" name="TextBox 11"/>
          <p:cNvSpPr txBox="1"/>
          <p:nvPr/>
        </p:nvSpPr>
        <p:spPr>
          <a:xfrm>
            <a:off x="4489704" y="1353312"/>
            <a:ext cx="3273552" cy="3648456"/>
          </a:xfrm>
          <a:prstGeom prst="rect">
            <a:avLst/>
          </a:prstGeom>
          <a:noFill/>
        </p:spPr>
        <p:txBody>
          <a:bodyPr wrap="square">
            <a:spAutoFit/>
          </a:bodyPr>
          <a:lstStyle/>
          <a:p>
            <a:r>
              <a:t>What is it?</a:t>
            </a:r>
          </a:p>
          <a:p>
            <a:r>
              <a:t>A neural network for T(x,t).</a:t>
            </a:r>
          </a:p>
          <a:p/>
          <a:p>
            <a:r>
              <a:t>How it learns?</a:t>
            </a:r>
          </a:p>
          <a:p>
            <a:r>
              <a:t>It uses data error + heat-equation error.</a:t>
            </a:r>
          </a:p>
          <a:p/>
          <a:p>
            <a:r>
              <a:t>Key point: physics is inside the loss.</a:t>
            </a:r>
          </a:p>
        </p:txBody>
      </p:sp>
      <p:sp>
        <p:nvSpPr>
          <p:cNvPr id="13" name="Rectangle 12"/>
          <p:cNvSpPr/>
          <p:nvPr/>
        </p:nvSpPr>
        <p:spPr>
          <a:xfrm>
            <a:off x="8092440" y="914400"/>
            <a:ext cx="3429000" cy="41605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024128"/>
            <a:ext cx="3136392" cy="256032"/>
          </a:xfrm>
          <a:prstGeom prst="rect">
            <a:avLst/>
          </a:prstGeom>
          <a:noFill/>
        </p:spPr>
        <p:txBody>
          <a:bodyPr wrap="square">
            <a:spAutoFit/>
          </a:bodyPr>
          <a:lstStyle/>
          <a:p>
            <a:pPr algn="l">
              <a:defRPr sz="1100" b="1">
                <a:solidFill>
                  <a:srgbClr val="97423E"/>
                </a:solidFill>
                <a:latin typeface="Aptos"/>
              </a:defRPr>
            </a:pPr>
            <a:r>
              <a:t>NAS-PINN</a:t>
            </a:r>
          </a:p>
        </p:txBody>
      </p:sp>
      <p:sp>
        <p:nvSpPr>
          <p:cNvPr id="15" name="TextBox 14"/>
          <p:cNvSpPr txBox="1"/>
          <p:nvPr/>
        </p:nvSpPr>
        <p:spPr>
          <a:xfrm>
            <a:off x="8238744" y="1353312"/>
            <a:ext cx="3136392" cy="3648456"/>
          </a:xfrm>
          <a:prstGeom prst="rect">
            <a:avLst/>
          </a:prstGeom>
          <a:noFill/>
        </p:spPr>
        <p:txBody>
          <a:bodyPr wrap="square">
            <a:spAutoFit/>
          </a:bodyPr>
          <a:lstStyle/>
          <a:p>
            <a:r>
              <a:t>What is it?</a:t>
            </a:r>
          </a:p>
          <a:p>
            <a:r>
              <a:t>PINN + architecture search.</a:t>
            </a:r>
          </a:p>
          <a:p/>
          <a:p>
            <a:r>
              <a:t>What is searched?</a:t>
            </a:r>
          </a:p>
          <a:p>
            <a:r>
              <a:t>Depth, width and activation.</a:t>
            </a:r>
          </a:p>
          <a:p/>
          <a:p>
            <a:r>
              <a:t>Key point: we do not choose the network manually.</a:t>
            </a:r>
          </a:p>
        </p:txBody>
      </p:sp>
      <p:sp>
        <p:nvSpPr>
          <p:cNvPr id="16" name="Rectangle 15"/>
          <p:cNvSpPr/>
          <p:nvPr/>
        </p:nvSpPr>
        <p:spPr>
          <a:xfrm>
            <a:off x="822960" y="5349240"/>
            <a:ext cx="10607040" cy="6858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5458968"/>
            <a:ext cx="10314432" cy="256032"/>
          </a:xfrm>
          <a:prstGeom prst="rect">
            <a:avLst/>
          </a:prstGeom>
          <a:noFill/>
        </p:spPr>
        <p:txBody>
          <a:bodyPr wrap="square">
            <a:spAutoFit/>
          </a:bodyPr>
          <a:lstStyle/>
          <a:p>
            <a:pPr algn="l">
              <a:defRPr sz="1100" b="1">
                <a:solidFill>
                  <a:srgbClr val="97423E"/>
                </a:solidFill>
                <a:latin typeface="Aptos"/>
              </a:defRPr>
            </a:pPr>
            <a:r>
              <a:t>Defense message</a:t>
            </a:r>
          </a:p>
        </p:txBody>
      </p:sp>
      <p:sp>
        <p:nvSpPr>
          <p:cNvPr id="18" name="TextBox 17"/>
          <p:cNvSpPr txBox="1"/>
          <p:nvPr/>
        </p:nvSpPr>
        <p:spPr>
          <a:xfrm>
            <a:off x="969264" y="5788152"/>
            <a:ext cx="10314432" cy="173735"/>
          </a:xfrm>
          <a:prstGeom prst="rect">
            <a:avLst/>
          </a:prstGeom>
          <a:noFill/>
        </p:spPr>
        <p:txBody>
          <a:bodyPr wrap="square">
            <a:spAutoFit/>
          </a:bodyPr>
          <a:lstStyle/>
          <a:p>
            <a:pPr algn="l">
              <a:defRPr sz="1000" b="0">
                <a:solidFill>
                  <a:srgbClr val="302422"/>
                </a:solidFill>
                <a:latin typeface="Aptos"/>
              </a:defRPr>
            </a:pPr>
            <a:r>
              <a:t>We used FEM for trust, PINN for prediction, and NAS to choose a better neural architecture for different geometries.</a:t>
            </a:r>
          </a:p>
        </p:txBody>
      </p:sp>
      <p:sp>
        <p:nvSpPr>
          <p:cNvPr id="19" name="Rectangle 1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28600"/>
            <a:ext cx="9601200" cy="411480"/>
          </a:xfrm>
          <a:prstGeom prst="rect">
            <a:avLst/>
          </a:prstGeom>
          <a:noFill/>
        </p:spPr>
        <p:txBody>
          <a:bodyPr wrap="square">
            <a:normAutofit/>
          </a:bodyPr>
          <a:lstStyle/>
          <a:p>
            <a:r>
              <a:rPr sz="1600" b="1">
                <a:solidFill>
                  <a:srgbClr val="1C232B"/>
                </a:solidFill>
                <a:latin typeface="Arial"/>
              </a:rPr>
              <a:t>Finite Element Method (FEM), Physics-Informed Neural Network (PINN) and Neural Architecture Search PINN (NAS-PINN)</a:t>
            </a:r>
          </a:p>
        </p:txBody>
      </p:sp>
      <p:sp>
        <p:nvSpPr>
          <p:cNvPr id="21" name="TextBox 20"/>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THEORY AND FEM BACKGROUND</a:t>
            </a:r>
          </a:p>
        </p:txBody>
      </p:sp>
      <p:sp>
        <p:nvSpPr>
          <p:cNvPr id="22" name="Rectangle 21"/>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4" name="TextBox 23"/>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5" name="TextBox 24"/>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914400"/>
            <a:ext cx="3337560"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024128"/>
            <a:ext cx="3044952" cy="256032"/>
          </a:xfrm>
          <a:prstGeom prst="rect">
            <a:avLst/>
          </a:prstGeom>
          <a:noFill/>
        </p:spPr>
        <p:txBody>
          <a:bodyPr wrap="square">
            <a:spAutoFit/>
          </a:bodyPr>
          <a:lstStyle/>
          <a:p>
            <a:pPr algn="l">
              <a:defRPr sz="1100" b="1">
                <a:solidFill>
                  <a:srgbClr val="97423E"/>
                </a:solidFill>
                <a:latin typeface="Aptos"/>
              </a:defRPr>
            </a:pPr>
            <a:r>
              <a:t>Step 1: physics</a:t>
            </a:r>
          </a:p>
        </p:txBody>
      </p:sp>
      <p:sp>
        <p:nvSpPr>
          <p:cNvPr id="9" name="TextBox 8"/>
          <p:cNvSpPr txBox="1"/>
          <p:nvPr/>
        </p:nvSpPr>
        <p:spPr>
          <a:xfrm>
            <a:off x="649224" y="1353312"/>
            <a:ext cx="3044952" cy="630936"/>
          </a:xfrm>
          <a:prstGeom prst="rect">
            <a:avLst/>
          </a:prstGeom>
          <a:noFill/>
        </p:spPr>
        <p:txBody>
          <a:bodyPr wrap="square">
            <a:spAutoFit/>
          </a:bodyPr>
          <a:lstStyle/>
          <a:p>
            <a:pPr algn="l">
              <a:defRPr sz="1000" b="0">
                <a:solidFill>
                  <a:srgbClr val="302422"/>
                </a:solidFill>
                <a:latin typeface="Aptos"/>
              </a:defRPr>
            </a:pPr>
            <a:r>
              <a:t>Define geometry, material properties, initial condition and boundary conditions.</a:t>
            </a:r>
          </a:p>
        </p:txBody>
      </p:sp>
      <p:sp>
        <p:nvSpPr>
          <p:cNvPr id="10" name="Rectangle 9"/>
          <p:cNvSpPr/>
          <p:nvPr/>
        </p:nvSpPr>
        <p:spPr>
          <a:xfrm>
            <a:off x="502920" y="2331720"/>
            <a:ext cx="3337560" cy="11430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2441448"/>
            <a:ext cx="3044952" cy="256032"/>
          </a:xfrm>
          <a:prstGeom prst="rect">
            <a:avLst/>
          </a:prstGeom>
          <a:noFill/>
        </p:spPr>
        <p:txBody>
          <a:bodyPr wrap="square">
            <a:spAutoFit/>
          </a:bodyPr>
          <a:lstStyle/>
          <a:p>
            <a:pPr algn="l">
              <a:defRPr sz="1100" b="1">
                <a:solidFill>
                  <a:srgbClr val="97423E"/>
                </a:solidFill>
                <a:latin typeface="Aptos"/>
              </a:defRPr>
            </a:pPr>
            <a:r>
              <a:t>Step 2: discretise</a:t>
            </a:r>
          </a:p>
        </p:txBody>
      </p:sp>
      <p:sp>
        <p:nvSpPr>
          <p:cNvPr id="12" name="TextBox 11"/>
          <p:cNvSpPr txBox="1"/>
          <p:nvPr/>
        </p:nvSpPr>
        <p:spPr>
          <a:xfrm>
            <a:off x="649224" y="2770632"/>
            <a:ext cx="3044952" cy="630936"/>
          </a:xfrm>
          <a:prstGeom prst="rect">
            <a:avLst/>
          </a:prstGeom>
          <a:noFill/>
        </p:spPr>
        <p:txBody>
          <a:bodyPr wrap="square">
            <a:spAutoFit/>
          </a:bodyPr>
          <a:lstStyle/>
          <a:p>
            <a:pPr algn="l">
              <a:defRPr sz="1000" b="0">
                <a:solidFill>
                  <a:srgbClr val="302422"/>
                </a:solidFill>
                <a:latin typeface="Aptos"/>
              </a:defRPr>
            </a:pPr>
            <a:r>
              <a:t>Split the domain into grid or mesh nodes.</a:t>
            </a:r>
          </a:p>
        </p:txBody>
      </p:sp>
      <p:sp>
        <p:nvSpPr>
          <p:cNvPr id="13" name="Rectangle 12"/>
          <p:cNvSpPr/>
          <p:nvPr/>
        </p:nvSpPr>
        <p:spPr>
          <a:xfrm>
            <a:off x="502920" y="3749039"/>
            <a:ext cx="3337560"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 y="3858768"/>
            <a:ext cx="3044952" cy="256032"/>
          </a:xfrm>
          <a:prstGeom prst="rect">
            <a:avLst/>
          </a:prstGeom>
          <a:noFill/>
        </p:spPr>
        <p:txBody>
          <a:bodyPr wrap="square">
            <a:spAutoFit/>
          </a:bodyPr>
          <a:lstStyle/>
          <a:p>
            <a:pPr algn="l">
              <a:defRPr sz="1100" b="1">
                <a:solidFill>
                  <a:srgbClr val="97423E"/>
                </a:solidFill>
                <a:latin typeface="Aptos"/>
              </a:defRPr>
            </a:pPr>
            <a:r>
              <a:t>Step 3: solve</a:t>
            </a:r>
          </a:p>
        </p:txBody>
      </p:sp>
      <p:sp>
        <p:nvSpPr>
          <p:cNvPr id="15" name="TextBox 14"/>
          <p:cNvSpPr txBox="1"/>
          <p:nvPr/>
        </p:nvSpPr>
        <p:spPr>
          <a:xfrm>
            <a:off x="649224" y="4187952"/>
            <a:ext cx="3044952" cy="630936"/>
          </a:xfrm>
          <a:prstGeom prst="rect">
            <a:avLst/>
          </a:prstGeom>
          <a:noFill/>
        </p:spPr>
        <p:txBody>
          <a:bodyPr wrap="square">
            <a:spAutoFit/>
          </a:bodyPr>
          <a:lstStyle/>
          <a:p>
            <a:pPr algn="l">
              <a:defRPr sz="1000" b="0">
                <a:solidFill>
                  <a:srgbClr val="302422"/>
                </a:solidFill>
                <a:latin typeface="Aptos"/>
              </a:defRPr>
            </a:pPr>
            <a:r>
              <a:t>Advance the heat equation in time with the numerical solver.</a:t>
            </a:r>
          </a:p>
        </p:txBody>
      </p:sp>
      <p:sp>
        <p:nvSpPr>
          <p:cNvPr id="16" name="Rectangle 15"/>
          <p:cNvSpPr/>
          <p:nvPr/>
        </p:nvSpPr>
        <p:spPr>
          <a:xfrm>
            <a:off x="502920" y="5166360"/>
            <a:ext cx="3337560" cy="6858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 y="5276088"/>
            <a:ext cx="3044952" cy="256032"/>
          </a:xfrm>
          <a:prstGeom prst="rect">
            <a:avLst/>
          </a:prstGeom>
          <a:noFill/>
        </p:spPr>
        <p:txBody>
          <a:bodyPr wrap="square">
            <a:spAutoFit/>
          </a:bodyPr>
          <a:lstStyle/>
          <a:p>
            <a:pPr algn="l">
              <a:defRPr sz="1100" b="1">
                <a:solidFill>
                  <a:srgbClr val="97423E"/>
                </a:solidFill>
                <a:latin typeface="Aptos"/>
              </a:defRPr>
            </a:pPr>
            <a:r>
              <a:t>Step 4: output</a:t>
            </a:r>
          </a:p>
        </p:txBody>
      </p:sp>
      <p:sp>
        <p:nvSpPr>
          <p:cNvPr id="18" name="TextBox 17"/>
          <p:cNvSpPr txBox="1"/>
          <p:nvPr/>
        </p:nvSpPr>
        <p:spPr>
          <a:xfrm>
            <a:off x="649224" y="5605272"/>
            <a:ext cx="3044952" cy="173735"/>
          </a:xfrm>
          <a:prstGeom prst="rect">
            <a:avLst/>
          </a:prstGeom>
          <a:noFill/>
        </p:spPr>
        <p:txBody>
          <a:bodyPr wrap="square">
            <a:spAutoFit/>
          </a:bodyPr>
          <a:lstStyle/>
          <a:p>
            <a:pPr algn="l">
              <a:defRPr sz="1000" b="0">
                <a:solidFill>
                  <a:srgbClr val="302422"/>
                </a:solidFill>
                <a:latin typeface="Aptos"/>
              </a:defRPr>
            </a:pPr>
            <a:r>
              <a:t>Save temperature fields as reference snapshots.</a:t>
            </a:r>
          </a:p>
        </p:txBody>
      </p:sp>
      <p:sp>
        <p:nvSpPr>
          <p:cNvPr id="19" name="Rectangle 18"/>
          <p:cNvSpPr/>
          <p:nvPr/>
        </p:nvSpPr>
        <p:spPr>
          <a:xfrm>
            <a:off x="4160520" y="914400"/>
            <a:ext cx="7315200" cy="52578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EM_Proses.png"/>
          <p:cNvPicPr>
            <a:picLocks noChangeAspect="1"/>
          </p:cNvPicPr>
          <p:nvPr/>
        </p:nvPicPr>
        <p:blipFill>
          <a:blip r:embed="rId3"/>
          <a:stretch>
            <a:fillRect/>
          </a:stretch>
        </p:blipFill>
        <p:spPr>
          <a:xfrm>
            <a:off x="4233672" y="1153668"/>
            <a:ext cx="7168896" cy="4779264"/>
          </a:xfrm>
          <a:prstGeom prst="rect">
            <a:avLst/>
          </a:prstGeom>
        </p:spPr>
      </p:pic>
      <p:sp>
        <p:nvSpPr>
          <p:cNvPr id="21" name="Rectangle 20"/>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FEM Process: How It Works</a:t>
            </a:r>
          </a:p>
        </p:txBody>
      </p:sp>
      <p:sp>
        <p:nvSpPr>
          <p:cNvPr id="23" name="TextBox 22"/>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THEORY AND FEM BACKGROUND</a:t>
            </a:r>
          </a:p>
        </p:txBody>
      </p:sp>
      <p:sp>
        <p:nvSpPr>
          <p:cNvPr id="24" name="Rectangle 23"/>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6" name="TextBox 25"/>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7" name="TextBox 26"/>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914400"/>
            <a:ext cx="6583680" cy="521208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able B.1.png"/>
          <p:cNvPicPr>
            <a:picLocks noChangeAspect="1"/>
          </p:cNvPicPr>
          <p:nvPr/>
        </p:nvPicPr>
        <p:blipFill>
          <a:blip r:embed="rId3"/>
          <a:stretch>
            <a:fillRect/>
          </a:stretch>
        </p:blipFill>
        <p:spPr>
          <a:xfrm>
            <a:off x="873207" y="987551"/>
            <a:ext cx="6208865" cy="5065776"/>
          </a:xfrm>
          <a:prstGeom prst="rect">
            <a:avLst/>
          </a:prstGeom>
        </p:spPr>
      </p:pic>
      <p:sp>
        <p:nvSpPr>
          <p:cNvPr id="9" name="Rectangle 8"/>
          <p:cNvSpPr/>
          <p:nvPr/>
        </p:nvSpPr>
        <p:spPr>
          <a:xfrm>
            <a:off x="7543800" y="1097280"/>
            <a:ext cx="3931920" cy="123444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0104" y="1207007"/>
            <a:ext cx="3639312" cy="256032"/>
          </a:xfrm>
          <a:prstGeom prst="rect">
            <a:avLst/>
          </a:prstGeom>
          <a:noFill/>
        </p:spPr>
        <p:txBody>
          <a:bodyPr wrap="square">
            <a:spAutoFit/>
          </a:bodyPr>
          <a:lstStyle/>
          <a:p>
            <a:pPr algn="l">
              <a:defRPr sz="1100" b="1">
                <a:solidFill>
                  <a:srgbClr val="97423E"/>
                </a:solidFill>
                <a:latin typeface="Aptos"/>
              </a:defRPr>
            </a:pPr>
            <a:r>
              <a:t>Step after FEM process</a:t>
            </a:r>
          </a:p>
        </p:txBody>
      </p:sp>
      <p:sp>
        <p:nvSpPr>
          <p:cNvPr id="11" name="TextBox 10"/>
          <p:cNvSpPr txBox="1"/>
          <p:nvPr/>
        </p:nvSpPr>
        <p:spPr>
          <a:xfrm>
            <a:off x="7690104" y="1536192"/>
            <a:ext cx="3639312" cy="722376"/>
          </a:xfrm>
          <a:prstGeom prst="rect">
            <a:avLst/>
          </a:prstGeom>
          <a:noFill/>
        </p:spPr>
        <p:txBody>
          <a:bodyPr wrap="square">
            <a:spAutoFit/>
          </a:bodyPr>
          <a:lstStyle/>
          <a:p>
            <a:pPr algn="l">
              <a:defRPr sz="1000" b="0">
                <a:solidFill>
                  <a:srgbClr val="302422"/>
                </a:solidFill>
                <a:latin typeface="Aptos"/>
              </a:defRPr>
            </a:pPr>
            <a:r>
              <a:t>After defining the FEM workflow, I show the actual grids and active nodes.</a:t>
            </a:r>
          </a:p>
        </p:txBody>
      </p:sp>
      <p:sp>
        <p:nvSpPr>
          <p:cNvPr id="12" name="Rectangle 11"/>
          <p:cNvSpPr/>
          <p:nvPr/>
        </p:nvSpPr>
        <p:spPr>
          <a:xfrm>
            <a:off x="7543800" y="2606040"/>
            <a:ext cx="3931920" cy="123444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0104" y="2715768"/>
            <a:ext cx="3639312" cy="256032"/>
          </a:xfrm>
          <a:prstGeom prst="rect">
            <a:avLst/>
          </a:prstGeom>
          <a:noFill/>
        </p:spPr>
        <p:txBody>
          <a:bodyPr wrap="square">
            <a:spAutoFit/>
          </a:bodyPr>
          <a:lstStyle/>
          <a:p>
            <a:pPr algn="l">
              <a:defRPr sz="1100" b="1">
                <a:solidFill>
                  <a:srgbClr val="97423E"/>
                </a:solidFill>
                <a:latin typeface="Aptos"/>
              </a:defRPr>
            </a:pPr>
            <a:r>
              <a:t>Why it matters</a:t>
            </a:r>
          </a:p>
        </p:txBody>
      </p:sp>
      <p:sp>
        <p:nvSpPr>
          <p:cNvPr id="14" name="TextBox 13"/>
          <p:cNvSpPr txBox="1"/>
          <p:nvPr/>
        </p:nvSpPr>
        <p:spPr>
          <a:xfrm>
            <a:off x="7690104" y="3044952"/>
            <a:ext cx="3639312" cy="722376"/>
          </a:xfrm>
          <a:prstGeom prst="rect">
            <a:avLst/>
          </a:prstGeom>
          <a:noFill/>
        </p:spPr>
        <p:txBody>
          <a:bodyPr wrap="square">
            <a:spAutoFit/>
          </a:bodyPr>
          <a:lstStyle/>
          <a:p>
            <a:pPr algn="l">
              <a:defRPr sz="1000" b="0">
                <a:solidFill>
                  <a:srgbClr val="302422"/>
                </a:solidFill>
                <a:latin typeface="Aptos"/>
              </a:defRPr>
            </a:pPr>
            <a:r>
              <a:t>The reference error depends on the numerical grid quality and domain resolution.</a:t>
            </a:r>
          </a:p>
        </p:txBody>
      </p:sp>
      <p:sp>
        <p:nvSpPr>
          <p:cNvPr id="15" name="Rectangle 14"/>
          <p:cNvSpPr/>
          <p:nvPr/>
        </p:nvSpPr>
        <p:spPr>
          <a:xfrm>
            <a:off x="7543800" y="4114800"/>
            <a:ext cx="3931920" cy="123444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90104" y="4224528"/>
            <a:ext cx="3639312" cy="256032"/>
          </a:xfrm>
          <a:prstGeom prst="rect">
            <a:avLst/>
          </a:prstGeom>
          <a:noFill/>
        </p:spPr>
        <p:txBody>
          <a:bodyPr wrap="square">
            <a:spAutoFit/>
          </a:bodyPr>
          <a:lstStyle/>
          <a:p>
            <a:pPr algn="l">
              <a:defRPr sz="1100" b="1">
                <a:solidFill>
                  <a:srgbClr val="97423E"/>
                </a:solidFill>
                <a:latin typeface="Aptos"/>
              </a:defRPr>
            </a:pPr>
            <a:r>
              <a:t>How I use it</a:t>
            </a:r>
          </a:p>
        </p:txBody>
      </p:sp>
      <p:sp>
        <p:nvSpPr>
          <p:cNvPr id="17" name="TextBox 16"/>
          <p:cNvSpPr txBox="1"/>
          <p:nvPr/>
        </p:nvSpPr>
        <p:spPr>
          <a:xfrm>
            <a:off x="7690104" y="4553712"/>
            <a:ext cx="3639312" cy="722376"/>
          </a:xfrm>
          <a:prstGeom prst="rect">
            <a:avLst/>
          </a:prstGeom>
          <a:noFill/>
        </p:spPr>
        <p:txBody>
          <a:bodyPr wrap="square">
            <a:spAutoFit/>
          </a:bodyPr>
          <a:lstStyle/>
          <a:p>
            <a:pPr algn="l">
              <a:defRPr sz="1000" b="0">
                <a:solidFill>
                  <a:srgbClr val="302422"/>
                </a:solidFill>
                <a:latin typeface="Aptos"/>
              </a:defRPr>
            </a:pPr>
            <a:r>
              <a:t>These FEM fields become the baseline for MAE, L2 and anchor snapshots.</a:t>
            </a:r>
          </a:p>
        </p:txBody>
      </p:sp>
      <p:sp>
        <p:nvSpPr>
          <p:cNvPr id="18" name="Rectangle 1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FEM Solver and Mesh Configuration</a:t>
            </a:r>
          </a:p>
        </p:txBody>
      </p:sp>
      <p:sp>
        <p:nvSpPr>
          <p:cNvPr id="20" name="TextBox 1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THEORY AND FEM BACKGROUND</a:t>
            </a:r>
          </a:p>
        </p:txBody>
      </p:sp>
      <p:sp>
        <p:nvSpPr>
          <p:cNvPr id="21" name="Rectangle 2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3" name="TextBox 2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4" name="TextBox 2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960120"/>
          <a:ext cx="10972800" cy="2834640"/>
        </p:xfrm>
        <a:graphic>
          <a:graphicData uri="http://schemas.openxmlformats.org/drawingml/2006/table">
            <a:tbl>
              <a:tblPr firstRow="1" bandRow="1">
                <a:tableStyleId>{5C22544A-7EE6-4342-B048-85BDC9FD1C3A}</a:tableStyleId>
              </a:tblPr>
              <a:tblGrid>
                <a:gridCol w="2743200"/>
                <a:gridCol w="2743200"/>
                <a:gridCol w="2743200"/>
                <a:gridCol w="2743200"/>
              </a:tblGrid>
              <a:tr h="708660">
                <a:tc>
                  <a:txBody>
                    <a:bodyPr anchor="ctr"/>
                    <a:lstStyle/>
                    <a:p>
                      <a:pPr algn="ctr">
                        <a:defRPr sz="900" b="1">
                          <a:solidFill>
                            <a:srgbClr val="FFFFFF"/>
                          </a:solidFill>
                          <a:latin typeface="Aptos"/>
                        </a:defRPr>
                      </a:pPr>
                      <a:r>
                        <a:t>Method</a:t>
                      </a:r>
                    </a:p>
                  </a:txBody>
                  <a:tcPr>
                    <a:solidFill>
                      <a:srgbClr val="97423E"/>
                    </a:solidFill>
                  </a:tcPr>
                </a:tc>
                <a:tc>
                  <a:txBody>
                    <a:bodyPr anchor="ctr"/>
                    <a:lstStyle/>
                    <a:p>
                      <a:pPr algn="ctr">
                        <a:defRPr sz="900" b="1">
                          <a:solidFill>
                            <a:srgbClr val="FFFFFF"/>
                          </a:solidFill>
                          <a:latin typeface="Aptos"/>
                        </a:defRPr>
                      </a:pPr>
                      <a:r>
                        <a:t>First use</a:t>
                      </a:r>
                    </a:p>
                  </a:txBody>
                  <a:tcPr>
                    <a:solidFill>
                      <a:srgbClr val="97423E"/>
                    </a:solidFill>
                  </a:tcPr>
                </a:tc>
                <a:tc>
                  <a:txBody>
                    <a:bodyPr anchor="ctr"/>
                    <a:lstStyle/>
                    <a:p>
                      <a:pPr algn="ctr">
                        <a:defRPr sz="900" b="1">
                          <a:solidFill>
                            <a:srgbClr val="FFFFFF"/>
                          </a:solidFill>
                          <a:latin typeface="Aptos"/>
                        </a:defRPr>
                      </a:pPr>
                      <a:r>
                        <a:t>Repeated use</a:t>
                      </a:r>
                    </a:p>
                  </a:txBody>
                  <a:tcPr>
                    <a:solidFill>
                      <a:srgbClr val="97423E"/>
                    </a:solidFill>
                  </a:tcPr>
                </a:tc>
                <a:tc>
                  <a:txBody>
                    <a:bodyPr anchor="ctr"/>
                    <a:lstStyle/>
                    <a:p>
                      <a:pPr algn="ctr">
                        <a:defRPr sz="900" b="1">
                          <a:solidFill>
                            <a:srgbClr val="FFFFFF"/>
                          </a:solidFill>
                          <a:latin typeface="Aptos"/>
                        </a:defRPr>
                      </a:pPr>
                      <a:r>
                        <a:t>Why it matters</a:t>
                      </a:r>
                    </a:p>
                  </a:txBody>
                  <a:tcPr>
                    <a:solidFill>
                      <a:srgbClr val="97423E"/>
                    </a:solidFill>
                  </a:tcPr>
                </a:tc>
              </a:tr>
              <a:tr h="708660">
                <a:tc>
                  <a:txBody>
                    <a:bodyPr anchor="ctr"/>
                    <a:lstStyle/>
                    <a:p>
                      <a:pPr algn="ctr">
                        <a:defRPr sz="900">
                          <a:solidFill>
                            <a:srgbClr val="302422"/>
                          </a:solidFill>
                          <a:latin typeface="Aptos"/>
                        </a:defRPr>
                      </a:pPr>
                      <a:r>
                        <a:t>FEM</a:t>
                      </a:r>
                    </a:p>
                  </a:txBody>
                  <a:tcPr marL="36576" marR="36576">
                    <a:solidFill>
                      <a:srgbClr val="FFFFFF"/>
                    </a:solidFill>
                  </a:tcPr>
                </a:tc>
                <a:tc>
                  <a:txBody>
                    <a:bodyPr anchor="ctr"/>
                    <a:lstStyle/>
                    <a:p>
                      <a:pPr algn="ctr">
                        <a:defRPr sz="900">
                          <a:solidFill>
                            <a:srgbClr val="302422"/>
                          </a:solidFill>
                          <a:latin typeface="Aptos"/>
                        </a:defRPr>
                      </a:pPr>
                      <a:r>
                        <a:t>Can be fast for one small case</a:t>
                      </a:r>
                    </a:p>
                  </a:txBody>
                  <a:tcPr marL="36576" marR="36576">
                    <a:solidFill>
                      <a:srgbClr val="FFFFFF"/>
                    </a:solidFill>
                  </a:tcPr>
                </a:tc>
                <a:tc>
                  <a:txBody>
                    <a:bodyPr anchor="ctr"/>
                    <a:lstStyle/>
                    <a:p>
                      <a:pPr algn="ctr">
                        <a:defRPr sz="900">
                          <a:solidFill>
                            <a:srgbClr val="302422"/>
                          </a:solidFill>
                          <a:latin typeface="Aptos"/>
                        </a:defRPr>
                      </a:pPr>
                      <a:r>
                        <a:t>Must solve again for each new case</a:t>
                      </a:r>
                    </a:p>
                  </a:txBody>
                  <a:tcPr marL="36576" marR="36576">
                    <a:solidFill>
                      <a:srgbClr val="FFFFFF"/>
                    </a:solidFill>
                  </a:tcPr>
                </a:tc>
                <a:tc>
                  <a:txBody>
                    <a:bodyPr anchor="ctr"/>
                    <a:lstStyle/>
                    <a:p>
                      <a:pPr algn="ctr">
                        <a:defRPr sz="900">
                          <a:solidFill>
                            <a:srgbClr val="302422"/>
                          </a:solidFill>
                          <a:latin typeface="Aptos"/>
                        </a:defRPr>
                      </a:pPr>
                      <a:r>
                        <a:t>Cost grows with many runs</a:t>
                      </a:r>
                    </a:p>
                  </a:txBody>
                  <a:tcPr marL="36576" marR="36576">
                    <a:solidFill>
                      <a:srgbClr val="FFFFFF"/>
                    </a:solidFill>
                  </a:tcPr>
                </a:tc>
              </a:tr>
              <a:tr h="708660">
                <a:tc>
                  <a:txBody>
                    <a:bodyPr anchor="ctr"/>
                    <a:lstStyle/>
                    <a:p>
                      <a:pPr algn="ctr">
                        <a:defRPr sz="900">
                          <a:solidFill>
                            <a:srgbClr val="302422"/>
                          </a:solidFill>
                          <a:latin typeface="Aptos"/>
                        </a:defRPr>
                      </a:pPr>
                      <a:r>
                        <a:t>PINN</a:t>
                      </a:r>
                    </a:p>
                  </a:txBody>
                  <a:tcPr marL="36576" marR="36576">
                    <a:solidFill>
                      <a:srgbClr val="FFF7F5"/>
                    </a:solidFill>
                  </a:tcPr>
                </a:tc>
                <a:tc>
                  <a:txBody>
                    <a:bodyPr anchor="ctr"/>
                    <a:lstStyle/>
                    <a:p>
                      <a:pPr algn="ctr">
                        <a:defRPr sz="900">
                          <a:solidFill>
                            <a:srgbClr val="302422"/>
                          </a:solidFill>
                          <a:latin typeface="Aptos"/>
                        </a:defRPr>
                      </a:pPr>
                      <a:r>
                        <a:t>Training can be slower</a:t>
                      </a:r>
                    </a:p>
                  </a:txBody>
                  <a:tcPr marL="36576" marR="36576">
                    <a:solidFill>
                      <a:srgbClr val="FFF7F5"/>
                    </a:solidFill>
                  </a:tcPr>
                </a:tc>
                <a:tc>
                  <a:txBody>
                    <a:bodyPr anchor="ctr"/>
                    <a:lstStyle/>
                    <a:p>
                      <a:pPr algn="ctr">
                        <a:defRPr sz="900">
                          <a:solidFill>
                            <a:srgbClr val="302422"/>
                          </a:solidFill>
                          <a:latin typeface="Aptos"/>
                        </a:defRPr>
                      </a:pPr>
                      <a:r>
                        <a:t>Inference is very fast</a:t>
                      </a:r>
                    </a:p>
                  </a:txBody>
                  <a:tcPr marL="36576" marR="36576">
                    <a:solidFill>
                      <a:srgbClr val="FFF7F5"/>
                    </a:solidFill>
                  </a:tcPr>
                </a:tc>
                <a:tc>
                  <a:txBody>
                    <a:bodyPr anchor="ctr"/>
                    <a:lstStyle/>
                    <a:p>
                      <a:pPr algn="ctr">
                        <a:defRPr sz="900">
                          <a:solidFill>
                            <a:srgbClr val="302422"/>
                          </a:solidFill>
                          <a:latin typeface="Aptos"/>
                        </a:defRPr>
                      </a:pPr>
                      <a:r>
                        <a:t>Good for repeated prediction</a:t>
                      </a:r>
                    </a:p>
                  </a:txBody>
                  <a:tcPr marL="36576" marR="36576">
                    <a:solidFill>
                      <a:srgbClr val="FFF7F5"/>
                    </a:solidFill>
                  </a:tcPr>
                </a:tc>
              </a:tr>
              <a:tr h="708660">
                <a:tc>
                  <a:txBody>
                    <a:bodyPr anchor="ctr"/>
                    <a:lstStyle/>
                    <a:p>
                      <a:pPr algn="ctr">
                        <a:defRPr sz="900">
                          <a:solidFill>
                            <a:srgbClr val="302422"/>
                          </a:solidFill>
                          <a:latin typeface="Aptos"/>
                        </a:defRPr>
                      </a:pPr>
                      <a:r>
                        <a:t>MSWP</a:t>
                      </a:r>
                    </a:p>
                  </a:txBody>
                  <a:tcPr marL="36576" marR="36576">
                    <a:solidFill>
                      <a:srgbClr val="FFFFFF"/>
                    </a:solidFill>
                  </a:tcPr>
                </a:tc>
                <a:tc>
                  <a:txBody>
                    <a:bodyPr anchor="ctr"/>
                    <a:lstStyle/>
                    <a:p>
                      <a:pPr algn="ctr">
                        <a:defRPr sz="900">
                          <a:solidFill>
                            <a:srgbClr val="302422"/>
                          </a:solidFill>
                          <a:latin typeface="Aptos"/>
                        </a:defRPr>
                      </a:pPr>
                      <a:r>
                        <a:t>Uses FEM anchors</a:t>
                      </a:r>
                    </a:p>
                  </a:txBody>
                  <a:tcPr marL="36576" marR="36576">
                    <a:solidFill>
                      <a:srgbClr val="FFFFFF"/>
                    </a:solidFill>
                  </a:tcPr>
                </a:tc>
                <a:tc>
                  <a:txBody>
                    <a:bodyPr anchor="ctr"/>
                    <a:lstStyle/>
                    <a:p>
                      <a:pPr algn="ctr">
                        <a:defRPr sz="900">
                          <a:solidFill>
                            <a:srgbClr val="302422"/>
                          </a:solidFill>
                          <a:latin typeface="Aptos"/>
                        </a:defRPr>
                      </a:pPr>
                      <a:r>
                        <a:t>Skips selected FEM calls</a:t>
                      </a:r>
                    </a:p>
                  </a:txBody>
                  <a:tcPr marL="36576" marR="36576">
                    <a:solidFill>
                      <a:srgbClr val="FFFFFF"/>
                    </a:solidFill>
                  </a:tcPr>
                </a:tc>
                <a:tc>
                  <a:txBody>
                    <a:bodyPr anchor="ctr"/>
                    <a:lstStyle/>
                    <a:p>
                      <a:pPr algn="ctr">
                        <a:defRPr sz="900">
                          <a:solidFill>
                            <a:srgbClr val="302422"/>
                          </a:solidFill>
                          <a:latin typeface="Aptos"/>
                        </a:defRPr>
                      </a:pPr>
                      <a:r>
                        <a:t>Keeps trust while reducing cost</a:t>
                      </a:r>
                    </a:p>
                  </a:txBody>
                  <a:tcPr marL="36576" marR="36576">
                    <a:solidFill>
                      <a:srgbClr val="FFFFFF"/>
                    </a:solidFill>
                  </a:tcPr>
                </a:tc>
              </a:tr>
            </a:tbl>
          </a:graphicData>
        </a:graphic>
      </p:graphicFrame>
      <p:sp>
        <p:nvSpPr>
          <p:cNvPr id="8" name="Rectangle 7"/>
          <p:cNvSpPr/>
          <p:nvPr/>
        </p:nvSpPr>
        <p:spPr>
          <a:xfrm>
            <a:off x="731520" y="4160520"/>
            <a:ext cx="3383280" cy="141732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4270248"/>
            <a:ext cx="3090672" cy="256032"/>
          </a:xfrm>
          <a:prstGeom prst="rect">
            <a:avLst/>
          </a:prstGeom>
          <a:noFill/>
        </p:spPr>
        <p:txBody>
          <a:bodyPr wrap="square">
            <a:spAutoFit/>
          </a:bodyPr>
          <a:lstStyle/>
          <a:p>
            <a:pPr algn="l">
              <a:defRPr sz="1100" b="1">
                <a:solidFill>
                  <a:srgbClr val="97423E"/>
                </a:solidFill>
                <a:latin typeface="Aptos"/>
              </a:defRPr>
            </a:pPr>
            <a:r>
              <a:t>My simple message</a:t>
            </a:r>
          </a:p>
        </p:txBody>
      </p:sp>
      <p:sp>
        <p:nvSpPr>
          <p:cNvPr id="10" name="TextBox 9"/>
          <p:cNvSpPr txBox="1"/>
          <p:nvPr/>
        </p:nvSpPr>
        <p:spPr>
          <a:xfrm>
            <a:off x="877824" y="4599431"/>
            <a:ext cx="3090672" cy="905256"/>
          </a:xfrm>
          <a:prstGeom prst="rect">
            <a:avLst/>
          </a:prstGeom>
          <a:noFill/>
        </p:spPr>
        <p:txBody>
          <a:bodyPr wrap="square">
            <a:spAutoFit/>
          </a:bodyPr>
          <a:lstStyle/>
          <a:p>
            <a:pPr algn="l">
              <a:defRPr sz="1000" b="0">
                <a:solidFill>
                  <a:srgbClr val="302422"/>
                </a:solidFill>
                <a:latin typeface="Aptos"/>
              </a:defRPr>
            </a:pPr>
            <a:r>
              <a:t>FEM is reliable, but repeated solves can be costly.</a:t>
            </a:r>
          </a:p>
        </p:txBody>
      </p:sp>
      <p:sp>
        <p:nvSpPr>
          <p:cNvPr id="11" name="Rectangle 10"/>
          <p:cNvSpPr/>
          <p:nvPr/>
        </p:nvSpPr>
        <p:spPr>
          <a:xfrm>
            <a:off x="4343400" y="4160520"/>
            <a:ext cx="3383280" cy="141732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4270248"/>
            <a:ext cx="3090672" cy="256032"/>
          </a:xfrm>
          <a:prstGeom prst="rect">
            <a:avLst/>
          </a:prstGeom>
          <a:noFill/>
        </p:spPr>
        <p:txBody>
          <a:bodyPr wrap="square">
            <a:spAutoFit/>
          </a:bodyPr>
          <a:lstStyle/>
          <a:p>
            <a:pPr algn="l">
              <a:defRPr sz="1100" b="1">
                <a:solidFill>
                  <a:srgbClr val="97423E"/>
                </a:solidFill>
                <a:latin typeface="Aptos"/>
              </a:defRPr>
            </a:pPr>
            <a:r>
              <a:t>PINN trade-off</a:t>
            </a:r>
          </a:p>
        </p:txBody>
      </p:sp>
      <p:sp>
        <p:nvSpPr>
          <p:cNvPr id="13" name="TextBox 12"/>
          <p:cNvSpPr txBox="1"/>
          <p:nvPr/>
        </p:nvSpPr>
        <p:spPr>
          <a:xfrm>
            <a:off x="4489704" y="4599431"/>
            <a:ext cx="3090672" cy="905256"/>
          </a:xfrm>
          <a:prstGeom prst="rect">
            <a:avLst/>
          </a:prstGeom>
          <a:noFill/>
        </p:spPr>
        <p:txBody>
          <a:bodyPr wrap="square">
            <a:spAutoFit/>
          </a:bodyPr>
          <a:lstStyle/>
          <a:p>
            <a:pPr algn="l">
              <a:defRPr sz="1000" b="0">
                <a:solidFill>
                  <a:srgbClr val="302422"/>
                </a:solidFill>
                <a:latin typeface="Aptos"/>
              </a:defRPr>
            </a:pPr>
            <a:r>
              <a:t>PINN pays a training cost first, then reuses the trained model quickly.</a:t>
            </a:r>
          </a:p>
        </p:txBody>
      </p:sp>
      <p:sp>
        <p:nvSpPr>
          <p:cNvPr id="14" name="Rectangle 13"/>
          <p:cNvSpPr/>
          <p:nvPr/>
        </p:nvSpPr>
        <p:spPr>
          <a:xfrm>
            <a:off x="7955279" y="4160520"/>
            <a:ext cx="3246120" cy="141732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3" y="4270248"/>
            <a:ext cx="2953512" cy="256032"/>
          </a:xfrm>
          <a:prstGeom prst="rect">
            <a:avLst/>
          </a:prstGeom>
          <a:noFill/>
        </p:spPr>
        <p:txBody>
          <a:bodyPr wrap="square">
            <a:spAutoFit/>
          </a:bodyPr>
          <a:lstStyle/>
          <a:p>
            <a:pPr algn="l">
              <a:defRPr sz="1100" b="1">
                <a:solidFill>
                  <a:srgbClr val="97423E"/>
                </a:solidFill>
                <a:latin typeface="Aptos"/>
              </a:defRPr>
            </a:pPr>
            <a:r>
              <a:t>Why MSWP</a:t>
            </a:r>
          </a:p>
        </p:txBody>
      </p:sp>
      <p:sp>
        <p:nvSpPr>
          <p:cNvPr id="16" name="TextBox 15"/>
          <p:cNvSpPr txBox="1"/>
          <p:nvPr/>
        </p:nvSpPr>
        <p:spPr>
          <a:xfrm>
            <a:off x="8101583" y="4599431"/>
            <a:ext cx="2953512" cy="905256"/>
          </a:xfrm>
          <a:prstGeom prst="rect">
            <a:avLst/>
          </a:prstGeom>
          <a:noFill/>
        </p:spPr>
        <p:txBody>
          <a:bodyPr wrap="square">
            <a:spAutoFit/>
          </a:bodyPr>
          <a:lstStyle/>
          <a:p>
            <a:pPr algn="l">
              <a:defRPr sz="1000" b="0">
                <a:solidFill>
                  <a:srgbClr val="302422"/>
                </a:solidFill>
                <a:latin typeface="Aptos"/>
              </a:defRPr>
            </a:pPr>
            <a:r>
              <a:t>I keep FEM anchors, but replace selected intermediate solves with PINN predictions.</a:t>
            </a:r>
          </a:p>
        </p:txBody>
      </p:sp>
      <p:sp>
        <p:nvSpPr>
          <p:cNvPr id="17" name="Rectangle 1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FEM vs PINN: Runtime Logic</a:t>
            </a:r>
          </a:p>
        </p:txBody>
      </p:sp>
      <p:sp>
        <p:nvSpPr>
          <p:cNvPr id="19" name="TextBox 1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THEORY AND FEM BACKGROUND</a:t>
            </a:r>
          </a:p>
        </p:txBody>
      </p:sp>
      <p:sp>
        <p:nvSpPr>
          <p:cNvPr id="20" name="Rectangle 1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2" name="TextBox 2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3" name="TextBox 2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9144000" cy="6858000"/>
          <a:chOff x="0" y="0"/>
          <a:chExt cx="9144000" cy="6858000"/>
        </a:xfrm>
      </p:grpSpPr>
      <p:sp>
        <p:nvSpPr>
          <p:cNvPr id="2" name="bg"/>
          <p:cNvSpPr>
            <a:spLocks noGrp="1"/>
          </p:cNvSpPr>
          <p:nvPr/>
        </p:nvSpPr>
        <p:spPr>
          <a:xfrm>
            <a:off x="0" y="0"/>
            <a:ext cx="12191695" cy="6858000"/>
          </a:xfrm>
          <a:prstGeom prst="rect">
            <a:avLst/>
          </a:prstGeom>
          <a:solidFill>
            <a:srgbClr val="8B2020"/>
          </a:solidFill>
          <a:ln>
            <a:noFill/>
          </a:ln>
        </p:spPr>
        <p:txBody>
          <a:bodyPr/>
          <a:lstStyle/>
          <a:p/>
        </p:txBody>
      </p:sp>
      <p:sp>
        <p:nvSpPr>
          <p:cNvPr id="3" name="from"/>
          <p:cNvSpPr>
            <a:spLocks noGrp="1"/>
          </p:cNvSpPr>
          <p:nvPr/>
        </p:nvSpPr>
        <p:spPr>
          <a:xfrm>
            <a:off x="457200" y="2400000"/>
            <a:ext cx="2800000" cy="800000"/>
          </a:xfrm>
          <a:prstGeom prst="rect">
            <a:avLst/>
          </a:prstGeom>
          <a:solidFill>
            <a:srgbClr val="6B1515"/>
          </a:solidFill>
          <a:ln>
            <a:solidFill>
              <a:srgbClr val="F5DCDC"/>
            </a:solidFill>
            <a:d w="12700"/>
          </a:ln>
        </p:spPr>
        <p:txBody>
          <a:bodyPr anchor="ctr"/>
          <a:lstStyle/>
          <a:p>
            <a:pPr algn="ctr"/>
            <a:r>
              <a:rPr lang="en-US" sz="2400" b="1" dirty="0">
                <a:solidFill>
                  <a:srgbClr val="F5DCDC"/>
                </a:solidFill>
                <a:latin typeface="Aptos"/>
              </a:rPr>
              <a:t>FEM</a:t>
            </a:r>
          </a:p>
        </p:txBody>
      </p:sp>
      <p:sp>
        <p:nvSpPr>
          <p:cNvPr id="4" name="arrow"/>
          <p:cNvSpPr>
            <a:spLocks noGrp="1"/>
          </p:cNvSpPr>
          <p:nvPr/>
        </p:nvSpPr>
        <p:spPr>
          <a:xfrm>
            <a:off x="3400000" y="2600000"/>
            <a:ext cx="1000000" cy="400000"/>
          </a:xfrm>
          <a:prstGeom prst="rect">
            <a:avLst/>
          </a:prstGeom>
          <a:noFill/>
          <a:ln>
            <a:noFill/>
          </a:ln>
        </p:spPr>
        <p:txBody>
          <a:bodyPr anchor="ctr"/>
          <a:lstStyle/>
          <a:p>
            <a:pPr algn="ctr"/>
            <a:r>
              <a:rPr lang="en-US" sz="3600" b="0" dirty="0">
                <a:solidFill>
                  <a:srgbClr val="FFE8B0"/>
                </a:solidFill>
                <a:latin typeface="Aptos"/>
              </a:rPr>
              <a:t>→</a:t>
            </a:r>
          </a:p>
        </p:txBody>
      </p:sp>
      <p:sp>
        <p:nvSpPr>
          <p:cNvPr id="5" name="to"/>
          <p:cNvSpPr>
            <a:spLocks noGrp="1"/>
          </p:cNvSpPr>
          <p:nvPr/>
        </p:nvSpPr>
        <p:spPr>
          <a:xfrm>
            <a:off x="4600000" y="2400000"/>
            <a:ext cx="3200000" cy="800000"/>
          </a:xfrm>
          <a:prstGeom prst="rect">
            <a:avLst/>
          </a:prstGeom>
          <a:solidFill>
            <a:srgbClr val="FFFFFF"/>
          </a:solidFill>
          <a:ln>
            <a:solidFill>
              <a:srgbClr val="8B2020"/>
            </a:solidFill>
            <a:d w="19050"/>
          </a:ln>
        </p:spPr>
        <p:txBody>
          <a:bodyPr anchor="ctr"/>
          <a:lstStyle/>
          <a:p>
            <a:pPr algn="ctr"/>
            <a:r>
              <a:rPr lang="en-US" sz="2400" b="1" dirty="0">
                <a:solidFill>
                  <a:srgbClr val="8B2020"/>
                </a:solidFill>
                <a:latin typeface="Aptos"/>
              </a:rPr>
              <a:t>PINN</a:t>
            </a:r>
          </a:p>
        </p:txBody>
      </p:sp>
      <p:sp>
        <p:nvSpPr>
          <p:cNvPr id="6" name="sub"/>
          <p:cNvSpPr>
            <a:spLocks noGrp="1"/>
          </p:cNvSpPr>
          <p:nvPr/>
        </p:nvSpPr>
        <p:spPr>
          <a:xfrm>
            <a:off x="914400" y="3500000"/>
            <a:ext cx="7500000" cy="600000"/>
          </a:xfrm>
          <a:prstGeom prst="rect">
            <a:avLst/>
          </a:prstGeom>
          <a:noFill/>
          <a:ln>
            <a:noFill/>
          </a:ln>
        </p:spPr>
        <p:txBody>
          <a:bodyPr anchor="ctr"/>
          <a:lstStyle/>
          <a:p>
            <a:pPr algn="ctr"/>
            <a:r>
              <a:rPr lang="en-US" sz="1600" b="0" i="1" dirty="0">
                <a:solidFill>
                  <a:srgbClr val="FFE8B0"/>
                </a:solidFill>
                <a:latin typeface="Aptos"/>
              </a:rPr>
              <a:t>FEM gives us the reference. Now: how does PINN learn to predict without FEM?</a:t>
            </a:r>
          </a:p>
        </p:txBody>
      </p:sp>
      <p:sp>
        <p:nvSpPr>
          <p:cNvPr id="7" name="Rectangle 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FEM</a:t>
            </a:r>
          </a:p>
        </p:txBody>
      </p:sp>
      <p:sp>
        <p:nvSpPr>
          <p:cNvPr id="9" name="TextBox 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0" name="Rectangle 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2" name="TextBox 1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3" name="TextBox 1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60120"/>
            <a:ext cx="4937760" cy="52120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069848"/>
            <a:ext cx="4645152" cy="256032"/>
          </a:xfrm>
          <a:prstGeom prst="rect">
            <a:avLst/>
          </a:prstGeom>
          <a:noFill/>
        </p:spPr>
        <p:txBody>
          <a:bodyPr wrap="square">
            <a:spAutoFit/>
          </a:bodyPr>
          <a:lstStyle/>
          <a:p>
            <a:pPr algn="l">
              <a:defRPr sz="1100" b="1">
                <a:solidFill>
                  <a:srgbClr val="97423E"/>
                </a:solidFill>
                <a:latin typeface="Aptos"/>
              </a:defRPr>
            </a:pPr>
            <a:r>
              <a:t>NAS-PINN source</a:t>
            </a:r>
          </a:p>
        </p:txBody>
      </p:sp>
      <p:sp>
        <p:nvSpPr>
          <p:cNvPr id="9" name="TextBox 8"/>
          <p:cNvSpPr txBox="1"/>
          <p:nvPr/>
        </p:nvSpPr>
        <p:spPr>
          <a:xfrm>
            <a:off x="740664" y="1399032"/>
            <a:ext cx="4645152" cy="4700016"/>
          </a:xfrm>
          <a:prstGeom prst="rect">
            <a:avLst/>
          </a:prstGeom>
          <a:noFill/>
        </p:spPr>
        <p:txBody>
          <a:bodyPr wrap="square">
            <a:spAutoFit/>
          </a:bodyPr>
          <a:lstStyle/>
          <a:p>
            <a:pPr algn="l">
              <a:defRPr sz="1000" b="0">
                <a:solidFill>
                  <a:srgbClr val="302422"/>
                </a:solidFill>
                <a:latin typeface="Aptos"/>
              </a:defRPr>
            </a:pPr>
            <a:r>
              <a:t>Wang and Zhong (2024) provide the methodological starting point: a PINN is not chosen manually, but selected through neural architecture search for solving PDEs.</a:t>
            </a:r>
          </a:p>
        </p:txBody>
      </p:sp>
      <p:sp>
        <p:nvSpPr>
          <p:cNvPr id="10" name="Rectangle 9"/>
          <p:cNvSpPr/>
          <p:nvPr/>
        </p:nvSpPr>
        <p:spPr>
          <a:xfrm>
            <a:off x="5806440" y="960120"/>
            <a:ext cx="5440680" cy="24231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52744" y="1069848"/>
            <a:ext cx="5148072" cy="256032"/>
          </a:xfrm>
          <a:prstGeom prst="rect">
            <a:avLst/>
          </a:prstGeom>
          <a:noFill/>
        </p:spPr>
        <p:txBody>
          <a:bodyPr wrap="square">
            <a:spAutoFit/>
          </a:bodyPr>
          <a:lstStyle/>
          <a:p>
            <a:pPr algn="l">
              <a:defRPr sz="1100" b="1">
                <a:solidFill>
                  <a:srgbClr val="97423E"/>
                </a:solidFill>
                <a:latin typeface="Aptos"/>
              </a:defRPr>
            </a:pPr>
            <a:r>
              <a:t>How this thesis adapts it</a:t>
            </a:r>
          </a:p>
        </p:txBody>
      </p:sp>
      <p:sp>
        <p:nvSpPr>
          <p:cNvPr id="12" name="TextBox 11"/>
          <p:cNvSpPr txBox="1"/>
          <p:nvPr/>
        </p:nvSpPr>
        <p:spPr>
          <a:xfrm>
            <a:off x="5952744" y="1399032"/>
            <a:ext cx="5148072" cy="1911095"/>
          </a:xfrm>
          <a:prstGeom prst="rect">
            <a:avLst/>
          </a:prstGeom>
          <a:noFill/>
        </p:spPr>
        <p:txBody>
          <a:bodyPr wrap="square">
            <a:spAutoFit/>
          </a:bodyPr>
          <a:lstStyle/>
          <a:p>
            <a:pPr algn="l">
              <a:defRPr sz="1000" b="0">
                <a:solidFill>
                  <a:srgbClr val="302422"/>
                </a:solidFill>
                <a:latin typeface="Aptos"/>
              </a:defRPr>
            </a:pPr>
            <a:r>
              <a:t>The thesis keeps the NAS-PINN idea but changes the deployment setting: FEM anchors are retained, the network predicts intermediate time windows, and MSWP controls solver-call reduction.</a:t>
            </a:r>
          </a:p>
        </p:txBody>
      </p:sp>
      <p:sp>
        <p:nvSpPr>
          <p:cNvPr id="13" name="Rectangle 12"/>
          <p:cNvSpPr/>
          <p:nvPr/>
        </p:nvSpPr>
        <p:spPr>
          <a:xfrm>
            <a:off x="5806440" y="3657600"/>
            <a:ext cx="5440680" cy="2286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1_naspinn_2d.png"/>
          <p:cNvPicPr>
            <a:picLocks noChangeAspect="1"/>
          </p:cNvPicPr>
          <p:nvPr/>
        </p:nvPicPr>
        <p:blipFill>
          <a:blip r:embed="rId3"/>
          <a:stretch>
            <a:fillRect/>
          </a:stretch>
        </p:blipFill>
        <p:spPr>
          <a:xfrm>
            <a:off x="6387083" y="3730752"/>
            <a:ext cx="4279392" cy="2139696"/>
          </a:xfrm>
          <a:prstGeom prst="rect">
            <a:avLst/>
          </a:prstGeom>
        </p:spPr>
      </p:pic>
      <p:sp>
        <p:nvSpPr>
          <p:cNvPr id="15" name="Rectangle 14"/>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Method Source: NAS-PINN</a:t>
            </a:r>
          </a:p>
        </p:txBody>
      </p:sp>
      <p:sp>
        <p:nvSpPr>
          <p:cNvPr id="17" name="TextBox 16"/>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8" name="Rectangle 17"/>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0" name="TextBox 19"/>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1" name="TextBox 20"/>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9144000" cy="6858000"/>
          <a:chOff x="0" y="0"/>
          <a:chExt cx="9144000" cy="6858000"/>
        </a:xfrm>
      </p:grpSpPr>
      <p:sp>
        <p:nvSpPr>
          <p:cNvPr id="2" name="bg"/>
          <p:cNvSpPr>
            <a:spLocks noGrp="1"/>
          </p:cNvSpPr>
          <p:nvPr/>
        </p:nvSpPr>
        <p:spPr>
          <a:xfrm>
            <a:off x="0" y="0"/>
            <a:ext cx="12191695" cy="6858000"/>
          </a:xfrm>
          <a:prstGeom prst="rect">
            <a:avLst/>
          </a:prstGeom>
          <a:solidFill>
            <a:srgbClr val="8B2020"/>
          </a:solidFill>
          <a:ln>
            <a:noFill/>
          </a:ln>
        </p:spPr>
        <p:txBody>
          <a:bodyPr/>
          <a:lstStyle/>
          <a:p/>
        </p:txBody>
      </p:sp>
      <p:sp>
        <p:nvSpPr>
          <p:cNvPr id="3" name="from"/>
          <p:cNvSpPr>
            <a:spLocks noGrp="1"/>
          </p:cNvSpPr>
          <p:nvPr/>
        </p:nvSpPr>
        <p:spPr>
          <a:xfrm>
            <a:off x="457200" y="2400000"/>
            <a:ext cx="2800000" cy="800000"/>
          </a:xfrm>
          <a:prstGeom prst="rect">
            <a:avLst/>
          </a:prstGeom>
          <a:solidFill>
            <a:srgbClr val="6B1515"/>
          </a:solidFill>
          <a:ln>
            <a:solidFill>
              <a:srgbClr val="F5DCDC"/>
            </a:solidFill>
            <a:d w="12700"/>
          </a:ln>
        </p:spPr>
        <p:txBody>
          <a:bodyPr anchor="ctr"/>
          <a:lstStyle/>
          <a:p>
            <a:pPr algn="ctr"/>
            <a:r>
              <a:rPr lang="en-US" sz="2400" b="1" dirty="0">
                <a:solidFill>
                  <a:srgbClr val="F5DCDC"/>
                </a:solidFill>
                <a:latin typeface="Aptos"/>
              </a:rPr>
              <a:t>PINN</a:t>
            </a:r>
          </a:p>
        </p:txBody>
      </p:sp>
      <p:sp>
        <p:nvSpPr>
          <p:cNvPr id="4" name="arrow"/>
          <p:cNvSpPr>
            <a:spLocks noGrp="1"/>
          </p:cNvSpPr>
          <p:nvPr/>
        </p:nvSpPr>
        <p:spPr>
          <a:xfrm>
            <a:off x="3400000" y="2600000"/>
            <a:ext cx="1000000" cy="400000"/>
          </a:xfrm>
          <a:prstGeom prst="rect">
            <a:avLst/>
          </a:prstGeom>
          <a:noFill/>
          <a:ln>
            <a:noFill/>
          </a:ln>
        </p:spPr>
        <p:txBody>
          <a:bodyPr anchor="ctr"/>
          <a:lstStyle/>
          <a:p>
            <a:pPr algn="ctr"/>
            <a:r>
              <a:rPr lang="en-US" sz="3600" b="0" dirty="0">
                <a:solidFill>
                  <a:srgbClr val="FFE8B0"/>
                </a:solidFill>
                <a:latin typeface="Aptos"/>
              </a:rPr>
              <a:t>→</a:t>
            </a:r>
          </a:p>
        </p:txBody>
      </p:sp>
      <p:sp>
        <p:nvSpPr>
          <p:cNvPr id="5" name="to"/>
          <p:cNvSpPr>
            <a:spLocks noGrp="1"/>
          </p:cNvSpPr>
          <p:nvPr/>
        </p:nvSpPr>
        <p:spPr>
          <a:xfrm>
            <a:off x="4600000" y="2400000"/>
            <a:ext cx="3200000" cy="800000"/>
          </a:xfrm>
          <a:prstGeom prst="rect">
            <a:avLst/>
          </a:prstGeom>
          <a:solidFill>
            <a:srgbClr val="FFFFFF"/>
          </a:solidFill>
          <a:ln>
            <a:solidFill>
              <a:srgbClr val="8B2020"/>
            </a:solidFill>
            <a:d w="19050"/>
          </a:ln>
        </p:spPr>
        <p:txBody>
          <a:bodyPr anchor="ctr"/>
          <a:lstStyle/>
          <a:p>
            <a:pPr algn="ctr"/>
            <a:r>
              <a:rPr lang="en-US" sz="2400" b="1" dirty="0">
                <a:solidFill>
                  <a:srgbClr val="8B2020"/>
                </a:solidFill>
                <a:latin typeface="Aptos"/>
              </a:rPr>
              <a:t>NAS-PINN</a:t>
            </a:r>
          </a:p>
        </p:txBody>
      </p:sp>
      <p:sp>
        <p:nvSpPr>
          <p:cNvPr id="6" name="sub"/>
          <p:cNvSpPr>
            <a:spLocks noGrp="1"/>
          </p:cNvSpPr>
          <p:nvPr/>
        </p:nvSpPr>
        <p:spPr>
          <a:xfrm>
            <a:off x="914400" y="3500000"/>
            <a:ext cx="7500000" cy="600000"/>
          </a:xfrm>
          <a:prstGeom prst="rect">
            <a:avLst/>
          </a:prstGeom>
          <a:noFill/>
          <a:ln>
            <a:noFill/>
          </a:ln>
        </p:spPr>
        <p:txBody>
          <a:bodyPr anchor="ctr"/>
          <a:lstStyle/>
          <a:p>
            <a:pPr algn="ctr"/>
            <a:r>
              <a:rPr lang="en-US" sz="1600" b="0" i="1" dirty="0">
                <a:solidFill>
                  <a:srgbClr val="FFE8B0"/>
                </a:solidFill>
                <a:latin typeface="Aptos"/>
              </a:rPr>
              <a:t>PINN works. But which architecture? Enter: Neural Architecture Search.</a:t>
            </a:r>
          </a:p>
        </p:txBody>
      </p:sp>
      <p:sp>
        <p:nvSpPr>
          <p:cNvPr id="7" name="Rectangle 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PINN</a:t>
            </a:r>
          </a:p>
        </p:txBody>
      </p:sp>
      <p:sp>
        <p:nvSpPr>
          <p:cNvPr id="9" name="TextBox 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0" name="Rectangle 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2" name="TextBox 1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3" name="TextBox 1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914400"/>
            <a:ext cx="6080760" cy="51663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ingle-Window FEM-Anchored NAS-PINN Framework.png"/>
          <p:cNvPicPr>
            <a:picLocks noChangeAspect="1"/>
          </p:cNvPicPr>
          <p:nvPr/>
        </p:nvPicPr>
        <p:blipFill>
          <a:blip r:embed="rId3"/>
          <a:stretch>
            <a:fillRect/>
          </a:stretch>
        </p:blipFill>
        <p:spPr>
          <a:xfrm>
            <a:off x="576072" y="1603845"/>
            <a:ext cx="5934456" cy="3787468"/>
          </a:xfrm>
          <a:prstGeom prst="rect">
            <a:avLst/>
          </a:prstGeom>
        </p:spPr>
      </p:pic>
      <p:sp>
        <p:nvSpPr>
          <p:cNvPr id="9" name="Rectangle 8"/>
          <p:cNvSpPr/>
          <p:nvPr/>
        </p:nvSpPr>
        <p:spPr>
          <a:xfrm>
            <a:off x="6812280" y="914400"/>
            <a:ext cx="4389120" cy="10515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58584" y="1024128"/>
            <a:ext cx="4096511" cy="256032"/>
          </a:xfrm>
          <a:prstGeom prst="rect">
            <a:avLst/>
          </a:prstGeom>
          <a:noFill/>
        </p:spPr>
        <p:txBody>
          <a:bodyPr wrap="square">
            <a:spAutoFit/>
          </a:bodyPr>
          <a:lstStyle/>
          <a:p>
            <a:pPr algn="l">
              <a:defRPr sz="1100" b="1">
                <a:solidFill>
                  <a:srgbClr val="97423E"/>
                </a:solidFill>
                <a:latin typeface="Aptos"/>
              </a:defRPr>
            </a:pPr>
            <a:r>
              <a:t>Step 1: anchor</a:t>
            </a:r>
          </a:p>
        </p:txBody>
      </p:sp>
      <p:sp>
        <p:nvSpPr>
          <p:cNvPr id="11" name="TextBox 10"/>
          <p:cNvSpPr txBox="1"/>
          <p:nvPr/>
        </p:nvSpPr>
        <p:spPr>
          <a:xfrm>
            <a:off x="6958584" y="1353312"/>
            <a:ext cx="4096511" cy="539495"/>
          </a:xfrm>
          <a:prstGeom prst="rect">
            <a:avLst/>
          </a:prstGeom>
          <a:noFill/>
        </p:spPr>
        <p:txBody>
          <a:bodyPr wrap="square">
            <a:spAutoFit/>
          </a:bodyPr>
          <a:lstStyle/>
          <a:p>
            <a:pPr algn="l">
              <a:defRPr sz="1000" b="0">
                <a:solidFill>
                  <a:srgbClr val="302422"/>
                </a:solidFill>
                <a:latin typeface="Aptos"/>
              </a:defRPr>
            </a:pPr>
            <a:r>
              <a:t>Use the FEM field at the start of one window.</a:t>
            </a:r>
          </a:p>
        </p:txBody>
      </p:sp>
      <p:sp>
        <p:nvSpPr>
          <p:cNvPr id="12" name="Rectangle 11"/>
          <p:cNvSpPr/>
          <p:nvPr/>
        </p:nvSpPr>
        <p:spPr>
          <a:xfrm>
            <a:off x="6812280" y="2148840"/>
            <a:ext cx="4389120" cy="10515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2258568"/>
            <a:ext cx="4096511" cy="256032"/>
          </a:xfrm>
          <a:prstGeom prst="rect">
            <a:avLst/>
          </a:prstGeom>
          <a:noFill/>
        </p:spPr>
        <p:txBody>
          <a:bodyPr wrap="square">
            <a:spAutoFit/>
          </a:bodyPr>
          <a:lstStyle/>
          <a:p>
            <a:pPr algn="l">
              <a:defRPr sz="1100" b="1">
                <a:solidFill>
                  <a:srgbClr val="97423E"/>
                </a:solidFill>
                <a:latin typeface="Aptos"/>
              </a:defRPr>
            </a:pPr>
            <a:r>
              <a:t>Step 2: prediction</a:t>
            </a:r>
          </a:p>
        </p:txBody>
      </p:sp>
      <p:sp>
        <p:nvSpPr>
          <p:cNvPr id="14" name="TextBox 13"/>
          <p:cNvSpPr txBox="1"/>
          <p:nvPr/>
        </p:nvSpPr>
        <p:spPr>
          <a:xfrm>
            <a:off x="6958584" y="2587752"/>
            <a:ext cx="4096511" cy="539495"/>
          </a:xfrm>
          <a:prstGeom prst="rect">
            <a:avLst/>
          </a:prstGeom>
          <a:noFill/>
        </p:spPr>
        <p:txBody>
          <a:bodyPr wrap="square">
            <a:spAutoFit/>
          </a:bodyPr>
          <a:lstStyle/>
          <a:p>
            <a:pPr algn="l">
              <a:defRPr sz="1000" b="0">
                <a:solidFill>
                  <a:srgbClr val="302422"/>
                </a:solidFill>
                <a:latin typeface="Aptos"/>
              </a:defRPr>
            </a:pPr>
            <a:r>
              <a:t>PINN predicts T(x,t) inside this window.</a:t>
            </a:r>
          </a:p>
        </p:txBody>
      </p:sp>
      <p:sp>
        <p:nvSpPr>
          <p:cNvPr id="15" name="Rectangle 14"/>
          <p:cNvSpPr/>
          <p:nvPr/>
        </p:nvSpPr>
        <p:spPr>
          <a:xfrm>
            <a:off x="6812280" y="3383280"/>
            <a:ext cx="4389120" cy="10515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8584" y="3493008"/>
            <a:ext cx="4096511" cy="256032"/>
          </a:xfrm>
          <a:prstGeom prst="rect">
            <a:avLst/>
          </a:prstGeom>
          <a:noFill/>
        </p:spPr>
        <p:txBody>
          <a:bodyPr wrap="square">
            <a:spAutoFit/>
          </a:bodyPr>
          <a:lstStyle/>
          <a:p>
            <a:pPr algn="l">
              <a:defRPr sz="1100" b="1">
                <a:solidFill>
                  <a:srgbClr val="97423E"/>
                </a:solidFill>
                <a:latin typeface="Aptos"/>
              </a:defRPr>
            </a:pPr>
            <a:r>
              <a:t>Step 3: loss</a:t>
            </a:r>
          </a:p>
        </p:txBody>
      </p:sp>
      <p:sp>
        <p:nvSpPr>
          <p:cNvPr id="17" name="TextBox 16"/>
          <p:cNvSpPr txBox="1"/>
          <p:nvPr/>
        </p:nvSpPr>
        <p:spPr>
          <a:xfrm>
            <a:off x="6958584" y="3822191"/>
            <a:ext cx="4096511" cy="539495"/>
          </a:xfrm>
          <a:prstGeom prst="rect">
            <a:avLst/>
          </a:prstGeom>
          <a:noFill/>
        </p:spPr>
        <p:txBody>
          <a:bodyPr wrap="square">
            <a:spAutoFit/>
          </a:bodyPr>
          <a:lstStyle/>
          <a:p>
            <a:pPr algn="l">
              <a:defRPr sz="1000" b="0">
                <a:solidFill>
                  <a:srgbClr val="302422"/>
                </a:solidFill>
                <a:latin typeface="Aptos"/>
              </a:defRPr>
            </a:pPr>
            <a:r>
              <a:t>Physics and endpoint terms control the prediction.</a:t>
            </a:r>
          </a:p>
        </p:txBody>
      </p:sp>
      <p:sp>
        <p:nvSpPr>
          <p:cNvPr id="18" name="Rectangle 17"/>
          <p:cNvSpPr/>
          <p:nvPr/>
        </p:nvSpPr>
        <p:spPr>
          <a:xfrm>
            <a:off x="6812280" y="4617720"/>
            <a:ext cx="4389120" cy="10515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8584" y="4727448"/>
            <a:ext cx="4096511" cy="256032"/>
          </a:xfrm>
          <a:prstGeom prst="rect">
            <a:avLst/>
          </a:prstGeom>
          <a:noFill/>
        </p:spPr>
        <p:txBody>
          <a:bodyPr wrap="square">
            <a:spAutoFit/>
          </a:bodyPr>
          <a:lstStyle/>
          <a:p>
            <a:pPr algn="l">
              <a:defRPr sz="1100" b="1">
                <a:solidFill>
                  <a:srgbClr val="97423E"/>
                </a:solidFill>
                <a:latin typeface="Aptos"/>
              </a:defRPr>
            </a:pPr>
            <a:r>
              <a:t>Step 4: NAS</a:t>
            </a:r>
          </a:p>
        </p:txBody>
      </p:sp>
      <p:sp>
        <p:nvSpPr>
          <p:cNvPr id="20" name="TextBox 19"/>
          <p:cNvSpPr txBox="1"/>
          <p:nvPr/>
        </p:nvSpPr>
        <p:spPr>
          <a:xfrm>
            <a:off x="6958584" y="5056631"/>
            <a:ext cx="4096511" cy="539495"/>
          </a:xfrm>
          <a:prstGeom prst="rect">
            <a:avLst/>
          </a:prstGeom>
          <a:noFill/>
        </p:spPr>
        <p:txBody>
          <a:bodyPr wrap="square">
            <a:spAutoFit/>
          </a:bodyPr>
          <a:lstStyle/>
          <a:p>
            <a:pPr algn="l">
              <a:defRPr sz="1000" b="0">
                <a:solidFill>
                  <a:srgbClr val="302422"/>
                </a:solidFill>
                <a:latin typeface="Aptos"/>
              </a:defRPr>
            </a:pPr>
            <a:r>
              <a:t>Architecture search chooses the best network design.</a:t>
            </a:r>
          </a:p>
        </p:txBody>
      </p:sp>
      <p:sp>
        <p:nvSpPr>
          <p:cNvPr id="21" name="Rectangle 20"/>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NAS-PINN Process</a:t>
            </a:r>
          </a:p>
        </p:txBody>
      </p:sp>
      <p:sp>
        <p:nvSpPr>
          <p:cNvPr id="23" name="TextBox 22"/>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24" name="Rectangle 23"/>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6" name="TextBox 25"/>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7" name="TextBox 26"/>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914400"/>
          <a:ext cx="10972800" cy="2971800"/>
        </p:xfrm>
        <a:graphic>
          <a:graphicData uri="http://schemas.openxmlformats.org/drawingml/2006/table">
            <a:tbl>
              <a:tblPr firstRow="1" bandRow="1">
                <a:tableStyleId>{5C22544A-7EE6-4342-B048-85BDC9FD1C3A}</a:tableStyleId>
              </a:tblPr>
              <a:tblGrid>
                <a:gridCol w="3657600"/>
                <a:gridCol w="3657600"/>
                <a:gridCol w="3657600"/>
              </a:tblGrid>
              <a:tr h="742950">
                <a:tc>
                  <a:txBody>
                    <a:bodyPr anchor="ctr"/>
                    <a:lstStyle/>
                    <a:p>
                      <a:pPr algn="ctr">
                        <a:defRPr sz="1100" b="1">
                          <a:solidFill>
                            <a:srgbClr val="FFFFFF"/>
                          </a:solidFill>
                          <a:latin typeface="Aptos"/>
                        </a:defRPr>
                      </a:pPr>
                      <a:r>
                        <a:t>Strategy</a:t>
                      </a:r>
                    </a:p>
                  </a:txBody>
                  <a:tcPr>
                    <a:solidFill>
                      <a:srgbClr val="97423E"/>
                    </a:solidFill>
                  </a:tcPr>
                </a:tc>
                <a:tc>
                  <a:txBody>
                    <a:bodyPr anchor="ctr"/>
                    <a:lstStyle/>
                    <a:p>
                      <a:pPr algn="ctr">
                        <a:defRPr sz="1100" b="1">
                          <a:solidFill>
                            <a:srgbClr val="FFFFFF"/>
                          </a:solidFill>
                          <a:latin typeface="Aptos"/>
                        </a:defRPr>
                      </a:pPr>
                      <a:r>
                        <a:t>Selected architecture</a:t>
                      </a:r>
                    </a:p>
                  </a:txBody>
                  <a:tcPr>
                    <a:solidFill>
                      <a:srgbClr val="97423E"/>
                    </a:solidFill>
                  </a:tcPr>
                </a:tc>
                <a:tc>
                  <a:txBody>
                    <a:bodyPr anchor="ctr"/>
                    <a:lstStyle/>
                    <a:p>
                      <a:pPr algn="ctr">
                        <a:defRPr sz="1100" b="1">
                          <a:solidFill>
                            <a:srgbClr val="FFFFFF"/>
                          </a:solidFill>
                          <a:latin typeface="Aptos"/>
                        </a:defRPr>
                      </a:pPr>
                      <a:r>
                        <a:t>Role in method</a:t>
                      </a:r>
                    </a:p>
                  </a:txBody>
                  <a:tcPr>
                    <a:solidFill>
                      <a:srgbClr val="97423E"/>
                    </a:solidFill>
                  </a:tcPr>
                </a:tc>
              </a:tr>
              <a:tr h="742950">
                <a:tc>
                  <a:txBody>
                    <a:bodyPr anchor="ctr"/>
                    <a:lstStyle/>
                    <a:p>
                      <a:pPr algn="ctr">
                        <a:defRPr sz="1100">
                          <a:solidFill>
                            <a:srgbClr val="302422"/>
                          </a:solidFill>
                          <a:latin typeface="Aptos"/>
                        </a:defRPr>
                      </a:pPr>
                      <a:r>
                        <a:t>Bayesian/TPE</a:t>
                      </a:r>
                    </a:p>
                  </a:txBody>
                  <a:tcPr marL="36576" marR="36576">
                    <a:solidFill>
                      <a:srgbClr val="FFFFFF"/>
                    </a:solidFill>
                  </a:tcPr>
                </a:tc>
                <a:tc>
                  <a:txBody>
                    <a:bodyPr anchor="ctr"/>
                    <a:lstStyle/>
                    <a:p>
                      <a:pPr algn="ctr">
                        <a:defRPr sz="1100">
                          <a:solidFill>
                            <a:srgbClr val="302422"/>
                          </a:solidFill>
                          <a:latin typeface="Aptos"/>
                        </a:defRPr>
                      </a:pPr>
                      <a:r>
                        <a:t>5 layers x 151, ReLU</a:t>
                      </a:r>
                    </a:p>
                  </a:txBody>
                  <a:tcPr marL="36576" marR="36576">
                    <a:solidFill>
                      <a:srgbClr val="FFFFFF"/>
                    </a:solidFill>
                  </a:tcPr>
                </a:tc>
                <a:tc>
                  <a:txBody>
                    <a:bodyPr anchor="ctr"/>
                    <a:lstStyle/>
                    <a:p>
                      <a:pPr algn="ctr">
                        <a:defRPr sz="1100">
                          <a:solidFill>
                            <a:srgbClr val="302422"/>
                          </a:solidFill>
                          <a:latin typeface="Aptos"/>
                        </a:defRPr>
                      </a:pPr>
                      <a:r>
                        <a:t>High-capacity accuracy-focused model</a:t>
                      </a:r>
                    </a:p>
                  </a:txBody>
                  <a:tcPr marL="36576" marR="36576">
                    <a:solidFill>
                      <a:srgbClr val="FFFFFF"/>
                    </a:solidFill>
                  </a:tcPr>
                </a:tc>
              </a:tr>
              <a:tr h="742950">
                <a:tc>
                  <a:txBody>
                    <a:bodyPr anchor="ctr"/>
                    <a:lstStyle/>
                    <a:p>
                      <a:pPr algn="ctr">
                        <a:defRPr sz="1100">
                          <a:solidFill>
                            <a:srgbClr val="302422"/>
                          </a:solidFill>
                          <a:latin typeface="Aptos"/>
                        </a:defRPr>
                      </a:pPr>
                      <a:r>
                        <a:t>NSGA-II</a:t>
                      </a:r>
                    </a:p>
                  </a:txBody>
                  <a:tcPr marL="36576" marR="36576">
                    <a:solidFill>
                      <a:srgbClr val="FFF7F5"/>
                    </a:solidFill>
                  </a:tcPr>
                </a:tc>
                <a:tc>
                  <a:txBody>
                    <a:bodyPr anchor="ctr"/>
                    <a:lstStyle/>
                    <a:p>
                      <a:pPr algn="ctr">
                        <a:defRPr sz="1100">
                          <a:solidFill>
                            <a:srgbClr val="302422"/>
                          </a:solidFill>
                          <a:latin typeface="Aptos"/>
                        </a:defRPr>
                      </a:pPr>
                      <a:r>
                        <a:t>3 layers x 153, tanh</a:t>
                      </a:r>
                    </a:p>
                  </a:txBody>
                  <a:tcPr marL="36576" marR="36576">
                    <a:solidFill>
                      <a:srgbClr val="FFF7F5"/>
                    </a:solidFill>
                  </a:tcPr>
                </a:tc>
                <a:tc>
                  <a:txBody>
                    <a:bodyPr anchor="ctr"/>
                    <a:lstStyle/>
                    <a:p>
                      <a:pPr algn="ctr">
                        <a:defRPr sz="1100">
                          <a:solidFill>
                            <a:srgbClr val="302422"/>
                          </a:solidFill>
                          <a:latin typeface="Aptos"/>
                        </a:defRPr>
                      </a:pPr>
                      <a:r>
                        <a:t>Accuracy-size trade-off</a:t>
                      </a:r>
                    </a:p>
                  </a:txBody>
                  <a:tcPr marL="36576" marR="36576">
                    <a:solidFill>
                      <a:srgbClr val="FFF7F5"/>
                    </a:solidFill>
                  </a:tcPr>
                </a:tc>
              </a:tr>
              <a:tr h="742950">
                <a:tc>
                  <a:txBody>
                    <a:bodyPr anchor="ctr"/>
                    <a:lstStyle/>
                    <a:p>
                      <a:pPr algn="ctr">
                        <a:defRPr sz="1100">
                          <a:solidFill>
                            <a:srgbClr val="302422"/>
                          </a:solidFill>
                          <a:latin typeface="Aptos"/>
                        </a:defRPr>
                      </a:pPr>
                      <a:r>
                        <a:t>NSGA-III</a:t>
                      </a:r>
                    </a:p>
                  </a:txBody>
                  <a:tcPr marL="36576" marR="36576">
                    <a:solidFill>
                      <a:srgbClr val="FFFFFF"/>
                    </a:solidFill>
                  </a:tcPr>
                </a:tc>
                <a:tc>
                  <a:txBody>
                    <a:bodyPr anchor="ctr"/>
                    <a:lstStyle/>
                    <a:p>
                      <a:pPr algn="ctr">
                        <a:defRPr sz="1100">
                          <a:solidFill>
                            <a:srgbClr val="302422"/>
                          </a:solidFill>
                          <a:latin typeface="Aptos"/>
                        </a:defRPr>
                      </a:pPr>
                      <a:r>
                        <a:t>3 layers x 75, tanh</a:t>
                      </a:r>
                    </a:p>
                  </a:txBody>
                  <a:tcPr marL="36576" marR="36576">
                    <a:solidFill>
                      <a:srgbClr val="FFFFFF"/>
                    </a:solidFill>
                  </a:tcPr>
                </a:tc>
                <a:tc>
                  <a:txBody>
                    <a:bodyPr anchor="ctr"/>
                    <a:lstStyle/>
                    <a:p>
                      <a:pPr algn="ctr">
                        <a:defRPr sz="1100">
                          <a:solidFill>
                            <a:srgbClr val="302422"/>
                          </a:solidFill>
                          <a:latin typeface="Aptos"/>
                        </a:defRPr>
                      </a:pPr>
                      <a:r>
                        <a:t>Compact Pareto-diverse model</a:t>
                      </a:r>
                    </a:p>
                  </a:txBody>
                  <a:tcPr marL="36576" marR="36576">
                    <a:solidFill>
                      <a:srgbClr val="FFFFFF"/>
                    </a:solidFill>
                  </a:tcPr>
                </a:tc>
              </a:tr>
            </a:tbl>
          </a:graphicData>
        </a:graphic>
      </p:graphicFrame>
      <p:sp>
        <p:nvSpPr>
          <p:cNvPr id="8" name="Rectangle 7"/>
          <p:cNvSpPr/>
          <p:nvPr/>
        </p:nvSpPr>
        <p:spPr>
          <a:xfrm>
            <a:off x="822960" y="4251960"/>
            <a:ext cx="3429000" cy="13716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4361688"/>
            <a:ext cx="3136392" cy="256032"/>
          </a:xfrm>
          <a:prstGeom prst="rect">
            <a:avLst/>
          </a:prstGeom>
          <a:noFill/>
        </p:spPr>
        <p:txBody>
          <a:bodyPr wrap="square">
            <a:spAutoFit/>
          </a:bodyPr>
          <a:lstStyle/>
          <a:p>
            <a:pPr algn="l">
              <a:defRPr sz="1100" b="1">
                <a:solidFill>
                  <a:srgbClr val="97423E"/>
                </a:solidFill>
                <a:latin typeface="Aptos"/>
              </a:defRPr>
            </a:pPr>
            <a:r>
              <a:t>Search setting</a:t>
            </a:r>
          </a:p>
        </p:txBody>
      </p:sp>
      <p:sp>
        <p:nvSpPr>
          <p:cNvPr id="10" name="TextBox 9"/>
          <p:cNvSpPr txBox="1"/>
          <p:nvPr/>
        </p:nvSpPr>
        <p:spPr>
          <a:xfrm>
            <a:off x="969264" y="4690872"/>
            <a:ext cx="3136392" cy="859536"/>
          </a:xfrm>
          <a:prstGeom prst="rect">
            <a:avLst/>
          </a:prstGeom>
          <a:noFill/>
        </p:spPr>
        <p:txBody>
          <a:bodyPr wrap="square">
            <a:spAutoFit/>
          </a:bodyPr>
          <a:lstStyle/>
          <a:p>
            <a:pPr algn="l">
              <a:defRPr sz="1000" b="0">
                <a:solidFill>
                  <a:srgbClr val="302422"/>
                </a:solidFill>
                <a:latin typeface="Aptos"/>
              </a:defRPr>
            </a:pPr>
            <a:r>
              <a:t>Search once on the 2D rectangle validation domain, then transfer architectures.</a:t>
            </a:r>
          </a:p>
        </p:txBody>
      </p:sp>
      <p:sp>
        <p:nvSpPr>
          <p:cNvPr id="11" name="Rectangle 10"/>
          <p:cNvSpPr/>
          <p:nvPr/>
        </p:nvSpPr>
        <p:spPr>
          <a:xfrm>
            <a:off x="4480560" y="4251960"/>
            <a:ext cx="3429000" cy="13716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4361688"/>
            <a:ext cx="3136392" cy="256032"/>
          </a:xfrm>
          <a:prstGeom prst="rect">
            <a:avLst/>
          </a:prstGeom>
          <a:noFill/>
        </p:spPr>
        <p:txBody>
          <a:bodyPr wrap="square">
            <a:spAutoFit/>
          </a:bodyPr>
          <a:lstStyle/>
          <a:p>
            <a:pPr algn="l">
              <a:defRPr sz="1100" b="1">
                <a:solidFill>
                  <a:srgbClr val="97423E"/>
                </a:solidFill>
                <a:latin typeface="Aptos"/>
              </a:defRPr>
            </a:pPr>
            <a:r>
              <a:t>Training</a:t>
            </a:r>
          </a:p>
        </p:txBody>
      </p:sp>
      <p:sp>
        <p:nvSpPr>
          <p:cNvPr id="13" name="TextBox 12"/>
          <p:cNvSpPr txBox="1"/>
          <p:nvPr/>
        </p:nvSpPr>
        <p:spPr>
          <a:xfrm>
            <a:off x="4626864" y="4690872"/>
            <a:ext cx="3136392" cy="859536"/>
          </a:xfrm>
          <a:prstGeom prst="rect">
            <a:avLst/>
          </a:prstGeom>
          <a:noFill/>
        </p:spPr>
        <p:txBody>
          <a:bodyPr wrap="square">
            <a:spAutoFit/>
          </a:bodyPr>
          <a:lstStyle/>
          <a:p>
            <a:pPr algn="l">
              <a:defRPr sz="1000" b="0">
                <a:solidFill>
                  <a:srgbClr val="302422"/>
                </a:solidFill>
                <a:latin typeface="Aptos"/>
              </a:defRPr>
            </a:pPr>
            <a:r>
              <a:t>Each window is trained with Adam followed by L-BFGS.</a:t>
            </a:r>
          </a:p>
        </p:txBody>
      </p:sp>
      <p:sp>
        <p:nvSpPr>
          <p:cNvPr id="14" name="Rectangle 13"/>
          <p:cNvSpPr/>
          <p:nvPr/>
        </p:nvSpPr>
        <p:spPr>
          <a:xfrm>
            <a:off x="8138160" y="4251960"/>
            <a:ext cx="3246120" cy="13716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4" y="4361688"/>
            <a:ext cx="2953512" cy="256032"/>
          </a:xfrm>
          <a:prstGeom prst="rect">
            <a:avLst/>
          </a:prstGeom>
          <a:noFill/>
        </p:spPr>
        <p:txBody>
          <a:bodyPr wrap="square">
            <a:spAutoFit/>
          </a:bodyPr>
          <a:lstStyle/>
          <a:p>
            <a:pPr algn="l">
              <a:defRPr sz="1100" b="1">
                <a:solidFill>
                  <a:srgbClr val="97423E"/>
                </a:solidFill>
                <a:latin typeface="Aptos"/>
              </a:defRPr>
            </a:pPr>
            <a:r>
              <a:t>Why transfer?</a:t>
            </a:r>
          </a:p>
        </p:txBody>
      </p:sp>
      <p:sp>
        <p:nvSpPr>
          <p:cNvPr id="16" name="TextBox 15"/>
          <p:cNvSpPr txBox="1"/>
          <p:nvPr/>
        </p:nvSpPr>
        <p:spPr>
          <a:xfrm>
            <a:off x="8284464" y="4690872"/>
            <a:ext cx="2953512" cy="859536"/>
          </a:xfrm>
          <a:prstGeom prst="rect">
            <a:avLst/>
          </a:prstGeom>
          <a:noFill/>
        </p:spPr>
        <p:txBody>
          <a:bodyPr wrap="square">
            <a:spAutoFit/>
          </a:bodyPr>
          <a:lstStyle/>
          <a:p>
            <a:pPr algn="l">
              <a:defRPr sz="1000" b="0">
                <a:solidFill>
                  <a:srgbClr val="302422"/>
                </a:solidFill>
                <a:latin typeface="Aptos"/>
              </a:defRPr>
            </a:pPr>
            <a:r>
              <a:t>Industrial use requires architecture robustness across geometries.</a:t>
            </a:r>
          </a:p>
        </p:txBody>
      </p:sp>
      <p:sp>
        <p:nvSpPr>
          <p:cNvPr id="17" name="Rectangle 1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Architecture Search and Training Protocol</a:t>
            </a:r>
          </a:p>
        </p:txBody>
      </p:sp>
      <p:sp>
        <p:nvSpPr>
          <p:cNvPr id="19" name="TextBox 1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20" name="Rectangle 1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2" name="TextBox 2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3" name="TextBox 2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914400"/>
          <a:ext cx="11155680" cy="5349240"/>
        </p:xfrm>
        <a:graphic>
          <a:graphicData uri="http://schemas.openxmlformats.org/drawingml/2006/table">
            <a:tbl>
              <a:tblPr firstRow="1" bandRow="1">
                <a:tableStyleId>{5C22544A-7EE6-4342-B048-85BDC9FD1C3A}</a:tableStyleId>
              </a:tblPr>
              <a:tblGrid>
                <a:gridCol w="2788920"/>
                <a:gridCol w="2788920"/>
                <a:gridCol w="2788920"/>
                <a:gridCol w="2788920"/>
              </a:tblGrid>
              <a:tr h="1337310">
                <a:tc>
                  <a:txBody>
                    <a:bodyPr anchor="ctr"/>
                    <a:lstStyle/>
                    <a:p>
                      <a:pPr algn="ctr">
                        <a:defRPr sz="1000" b="1">
                          <a:solidFill>
                            <a:srgbClr val="FFFFFF"/>
                          </a:solidFill>
                          <a:latin typeface="Aptos"/>
                        </a:defRPr>
                      </a:pPr>
                      <a:r>
                        <a:t>Method</a:t>
                      </a:r>
                    </a:p>
                  </a:txBody>
                  <a:tcPr>
                    <a:solidFill>
                      <a:srgbClr val="97423E"/>
                    </a:solidFill>
                  </a:tcPr>
                </a:tc>
                <a:tc>
                  <a:txBody>
                    <a:bodyPr anchor="ctr"/>
                    <a:lstStyle/>
                    <a:p>
                      <a:pPr algn="ctr">
                        <a:defRPr sz="1000" b="1">
                          <a:solidFill>
                            <a:srgbClr val="FFFFFF"/>
                          </a:solidFill>
                          <a:latin typeface="Aptos"/>
                        </a:defRPr>
                      </a:pPr>
                      <a:r>
                        <a:t>Search idea</a:t>
                      </a:r>
                    </a:p>
                  </a:txBody>
                  <a:tcPr>
                    <a:solidFill>
                      <a:srgbClr val="97423E"/>
                    </a:solidFill>
                  </a:tcPr>
                </a:tc>
                <a:tc>
                  <a:txBody>
                    <a:bodyPr anchor="ctr"/>
                    <a:lstStyle/>
                    <a:p>
                      <a:pPr algn="ctr">
                        <a:defRPr sz="1000" b="1">
                          <a:solidFill>
                            <a:srgbClr val="FFFFFF"/>
                          </a:solidFill>
                          <a:latin typeface="Aptos"/>
                        </a:defRPr>
                      </a:pPr>
                      <a:r>
                        <a:t>Why used here</a:t>
                      </a:r>
                    </a:p>
                  </a:txBody>
                  <a:tcPr>
                    <a:solidFill>
                      <a:srgbClr val="97423E"/>
                    </a:solidFill>
                  </a:tcPr>
                </a:tc>
                <a:tc>
                  <a:txBody>
                    <a:bodyPr anchor="ctr"/>
                    <a:lstStyle/>
                    <a:p>
                      <a:pPr algn="ctr">
                        <a:defRPr sz="1000" b="1">
                          <a:solidFill>
                            <a:srgbClr val="FFFFFF"/>
                          </a:solidFill>
                          <a:latin typeface="Aptos"/>
                        </a:defRPr>
                      </a:pPr>
                      <a:r>
                        <a:t>Architecture</a:t>
                      </a:r>
                    </a:p>
                  </a:txBody>
                  <a:tcPr>
                    <a:solidFill>
                      <a:srgbClr val="97423E"/>
                    </a:solidFill>
                  </a:tcPr>
                </a:tc>
              </a:tr>
              <a:tr h="1337310">
                <a:tc>
                  <a:txBody>
                    <a:bodyPr anchor="ctr"/>
                    <a:lstStyle/>
                    <a:p>
                      <a:pPr algn="ctr">
                        <a:defRPr sz="1000">
                          <a:solidFill>
                            <a:srgbClr val="302422"/>
                          </a:solidFill>
                          <a:latin typeface="Aptos"/>
                        </a:defRPr>
                      </a:pPr>
                      <a:r>
                        <a:t>Bayesian/TPE</a:t>
                      </a:r>
                    </a:p>
                  </a:txBody>
                  <a:tcPr marL="36576" marR="36576">
                    <a:solidFill>
                      <a:srgbClr val="FFFFFF"/>
                    </a:solidFill>
                  </a:tcPr>
                </a:tc>
                <a:tc>
                  <a:txBody>
                    <a:bodyPr anchor="ctr"/>
                    <a:lstStyle/>
                    <a:p>
                      <a:pPr algn="ctr">
                        <a:defRPr sz="1000">
                          <a:solidFill>
                            <a:srgbClr val="302422"/>
                          </a:solidFill>
                          <a:latin typeface="Aptos"/>
                        </a:defRPr>
                      </a:pPr>
                      <a:r>
                        <a:t>Single-objective probabilistic search</a:t>
                      </a:r>
                    </a:p>
                  </a:txBody>
                  <a:tcPr marL="36576" marR="36576">
                    <a:solidFill>
                      <a:srgbClr val="FFFFFF"/>
                    </a:solidFill>
                  </a:tcPr>
                </a:tc>
                <a:tc>
                  <a:txBody>
                    <a:bodyPr anchor="ctr"/>
                    <a:lstStyle/>
                    <a:p>
                      <a:pPr algn="ctr">
                        <a:defRPr sz="1000">
                          <a:solidFill>
                            <a:srgbClr val="302422"/>
                          </a:solidFill>
                          <a:latin typeface="Aptos"/>
                        </a:defRPr>
                      </a:pPr>
                      <a:r>
                        <a:t>Find an accurate architecture with limited trials</a:t>
                      </a:r>
                    </a:p>
                  </a:txBody>
                  <a:tcPr marL="36576" marR="36576">
                    <a:solidFill>
                      <a:srgbClr val="FFFFFF"/>
                    </a:solidFill>
                  </a:tcPr>
                </a:tc>
                <a:tc>
                  <a:txBody>
                    <a:bodyPr anchor="ctr"/>
                    <a:lstStyle/>
                    <a:p>
                      <a:pPr algn="ctr">
                        <a:defRPr sz="1000">
                          <a:solidFill>
                            <a:srgbClr val="302422"/>
                          </a:solidFill>
                          <a:latin typeface="Aptos"/>
                        </a:defRPr>
                      </a:pPr>
                      <a:r>
                        <a:t>5 x 151, ReLU</a:t>
                      </a:r>
                    </a:p>
                  </a:txBody>
                  <a:tcPr marL="36576" marR="36576">
                    <a:solidFill>
                      <a:srgbClr val="FFFFFF"/>
                    </a:solidFill>
                  </a:tcPr>
                </a:tc>
              </a:tr>
              <a:tr h="1337310">
                <a:tc>
                  <a:txBody>
                    <a:bodyPr anchor="ctr"/>
                    <a:lstStyle/>
                    <a:p>
                      <a:pPr algn="ctr">
                        <a:defRPr sz="1000">
                          <a:solidFill>
                            <a:srgbClr val="302422"/>
                          </a:solidFill>
                          <a:latin typeface="Aptos"/>
                        </a:defRPr>
                      </a:pPr>
                      <a:r>
                        <a:t>NSGA-II</a:t>
                      </a:r>
                    </a:p>
                  </a:txBody>
                  <a:tcPr marL="36576" marR="36576">
                    <a:solidFill>
                      <a:srgbClr val="FFF7F5"/>
                    </a:solidFill>
                  </a:tcPr>
                </a:tc>
                <a:tc>
                  <a:txBody>
                    <a:bodyPr anchor="ctr"/>
                    <a:lstStyle/>
                    <a:p>
                      <a:pPr algn="ctr">
                        <a:defRPr sz="1000">
                          <a:solidFill>
                            <a:srgbClr val="302422"/>
                          </a:solidFill>
                          <a:latin typeface="Aptos"/>
                        </a:defRPr>
                      </a:pPr>
                      <a:r>
                        <a:t>Multi-objective evolutionary search</a:t>
                      </a:r>
                    </a:p>
                  </a:txBody>
                  <a:tcPr marL="36576" marR="36576">
                    <a:solidFill>
                      <a:srgbClr val="FFF7F5"/>
                    </a:solidFill>
                  </a:tcPr>
                </a:tc>
                <a:tc>
                  <a:txBody>
                    <a:bodyPr anchor="ctr"/>
                    <a:lstStyle/>
                    <a:p>
                      <a:pPr algn="ctr">
                        <a:defRPr sz="1000">
                          <a:solidFill>
                            <a:srgbClr val="302422"/>
                          </a:solidFill>
                          <a:latin typeface="Aptos"/>
                        </a:defRPr>
                      </a:pPr>
                      <a:r>
                        <a:t>Balance accuracy and compactness</a:t>
                      </a:r>
                    </a:p>
                  </a:txBody>
                  <a:tcPr marL="36576" marR="36576">
                    <a:solidFill>
                      <a:srgbClr val="FFF7F5"/>
                    </a:solidFill>
                  </a:tcPr>
                </a:tc>
                <a:tc>
                  <a:txBody>
                    <a:bodyPr anchor="ctr"/>
                    <a:lstStyle/>
                    <a:p>
                      <a:pPr algn="ctr">
                        <a:defRPr sz="1000">
                          <a:solidFill>
                            <a:srgbClr val="302422"/>
                          </a:solidFill>
                          <a:latin typeface="Aptos"/>
                        </a:defRPr>
                      </a:pPr>
                      <a:r>
                        <a:t>3 x 153, tanh</a:t>
                      </a:r>
                    </a:p>
                  </a:txBody>
                  <a:tcPr marL="36576" marR="36576">
                    <a:solidFill>
                      <a:srgbClr val="FFF7F5"/>
                    </a:solidFill>
                  </a:tcPr>
                </a:tc>
              </a:tr>
              <a:tr h="1337310">
                <a:tc>
                  <a:txBody>
                    <a:bodyPr anchor="ctr"/>
                    <a:lstStyle/>
                    <a:p>
                      <a:pPr algn="ctr">
                        <a:defRPr sz="1000">
                          <a:solidFill>
                            <a:srgbClr val="302422"/>
                          </a:solidFill>
                          <a:latin typeface="Aptos"/>
                        </a:defRPr>
                      </a:pPr>
                      <a:r>
                        <a:t>NSGA-III</a:t>
                      </a:r>
                    </a:p>
                  </a:txBody>
                  <a:tcPr marL="36576" marR="36576">
                    <a:solidFill>
                      <a:srgbClr val="FFFFFF"/>
                    </a:solidFill>
                  </a:tcPr>
                </a:tc>
                <a:tc>
                  <a:txBody>
                    <a:bodyPr anchor="ctr"/>
                    <a:lstStyle/>
                    <a:p>
                      <a:pPr algn="ctr">
                        <a:defRPr sz="1000">
                          <a:solidFill>
                            <a:srgbClr val="302422"/>
                          </a:solidFill>
                          <a:latin typeface="Aptos"/>
                        </a:defRPr>
                      </a:pPr>
                      <a:r>
                        <a:t>Reference-point many-objective search</a:t>
                      </a:r>
                    </a:p>
                  </a:txBody>
                  <a:tcPr marL="36576" marR="36576">
                    <a:solidFill>
                      <a:srgbClr val="FFFFFF"/>
                    </a:solidFill>
                  </a:tcPr>
                </a:tc>
                <a:tc>
                  <a:txBody>
                    <a:bodyPr anchor="ctr"/>
                    <a:lstStyle/>
                    <a:p>
                      <a:pPr algn="ctr">
                        <a:defRPr sz="1000">
                          <a:solidFill>
                            <a:srgbClr val="302422"/>
                          </a:solidFill>
                          <a:latin typeface="Aptos"/>
                        </a:defRPr>
                      </a:pPr>
                      <a:r>
                        <a:t>Promote diverse compact Pareto solutions</a:t>
                      </a:r>
                    </a:p>
                  </a:txBody>
                  <a:tcPr marL="36576" marR="36576">
                    <a:solidFill>
                      <a:srgbClr val="FFFFFF"/>
                    </a:solidFill>
                  </a:tcPr>
                </a:tc>
                <a:tc>
                  <a:txBody>
                    <a:bodyPr anchor="ctr"/>
                    <a:lstStyle/>
                    <a:p>
                      <a:pPr algn="ctr">
                        <a:defRPr sz="1000">
                          <a:solidFill>
                            <a:srgbClr val="302422"/>
                          </a:solidFill>
                          <a:latin typeface="Aptos"/>
                        </a:defRPr>
                      </a:pPr>
                      <a:r>
                        <a:t>3 x 75, tanh</a:t>
                      </a:r>
                    </a:p>
                  </a:txBody>
                  <a:tcPr marL="36576" marR="36576">
                    <a:solidFill>
                      <a:srgbClr val="FFFFFF"/>
                    </a:solidFill>
                  </a:tcPr>
                </a:tc>
              </a:tr>
            </a:tbl>
          </a:graphicData>
        </a:graphic>
      </p:graphicFrame>
      <p:sp>
        <p:nvSpPr>
          <p:cNvPr id="8" name="Rectangle 7"/>
          <p:cNvSpPr/>
          <p:nvPr/>
        </p:nvSpPr>
        <p:spPr>
          <a:xfrm>
            <a:off x="685800" y="5559552"/>
            <a:ext cx="10835640" cy="6400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5669280"/>
            <a:ext cx="10543032" cy="256032"/>
          </a:xfrm>
          <a:prstGeom prst="rect">
            <a:avLst/>
          </a:prstGeom>
          <a:noFill/>
        </p:spPr>
        <p:txBody>
          <a:bodyPr wrap="square">
            <a:spAutoFit/>
          </a:bodyPr>
          <a:lstStyle/>
          <a:p>
            <a:pPr algn="l">
              <a:defRPr sz="1100" b="1">
                <a:solidFill>
                  <a:srgbClr val="97423E"/>
                </a:solidFill>
                <a:latin typeface="Aptos"/>
              </a:defRPr>
            </a:pPr>
            <a:r>
              <a:t>Key message</a:t>
            </a:r>
          </a:p>
        </p:txBody>
      </p:sp>
      <p:sp>
        <p:nvSpPr>
          <p:cNvPr id="10" name="TextBox 9"/>
          <p:cNvSpPr txBox="1"/>
          <p:nvPr/>
        </p:nvSpPr>
        <p:spPr>
          <a:xfrm>
            <a:off x="832104" y="5998464"/>
            <a:ext cx="10543032" cy="128015"/>
          </a:xfrm>
          <a:prstGeom prst="rect">
            <a:avLst/>
          </a:prstGeom>
          <a:noFill/>
        </p:spPr>
        <p:txBody>
          <a:bodyPr wrap="square">
            <a:spAutoFit/>
          </a:bodyPr>
          <a:lstStyle/>
          <a:p>
            <a:pPr algn="l">
              <a:defRPr sz="1000" b="0">
                <a:solidFill>
                  <a:srgbClr val="302422"/>
                </a:solidFill>
                <a:latin typeface="Aptos"/>
              </a:defRPr>
            </a:pPr>
            <a:r>
              <a:t>The optimisation methods were not random choices; they test different architecture-search philosophies under the same FEM-anchored quenching framework.</a:t>
            </a:r>
          </a:p>
        </p:txBody>
      </p:sp>
      <p:sp>
        <p:nvSpPr>
          <p:cNvPr id="11" name="Rectangle 10"/>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Optimisation Methods Used</a:t>
            </a:r>
          </a:p>
        </p:txBody>
      </p:sp>
      <p:sp>
        <p:nvSpPr>
          <p:cNvPr id="13" name="TextBox 12"/>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4" name="Rectangle 13"/>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6" name="TextBox 15"/>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7" name="TextBox 16"/>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051560"/>
            <a:ext cx="6035040" cy="329184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able A.1.png"/>
          <p:cNvPicPr>
            <a:picLocks noChangeAspect="1"/>
          </p:cNvPicPr>
          <p:nvPr/>
        </p:nvPicPr>
        <p:blipFill>
          <a:blip r:embed="rId3"/>
          <a:stretch>
            <a:fillRect/>
          </a:stretch>
        </p:blipFill>
        <p:spPr>
          <a:xfrm>
            <a:off x="987551" y="1318178"/>
            <a:ext cx="5888736" cy="2758603"/>
          </a:xfrm>
          <a:prstGeom prst="rect">
            <a:avLst/>
          </a:prstGeom>
        </p:spPr>
      </p:pic>
      <p:sp>
        <p:nvSpPr>
          <p:cNvPr id="9" name="Rectangle 8"/>
          <p:cNvSpPr/>
          <p:nvPr/>
        </p:nvSpPr>
        <p:spPr>
          <a:xfrm>
            <a:off x="7315200" y="1097280"/>
            <a:ext cx="3977639" cy="11430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61504" y="1207007"/>
            <a:ext cx="3685031" cy="256032"/>
          </a:xfrm>
          <a:prstGeom prst="rect">
            <a:avLst/>
          </a:prstGeom>
          <a:noFill/>
        </p:spPr>
        <p:txBody>
          <a:bodyPr wrap="square">
            <a:spAutoFit/>
          </a:bodyPr>
          <a:lstStyle/>
          <a:p>
            <a:pPr algn="l">
              <a:defRPr sz="1100" b="1">
                <a:solidFill>
                  <a:srgbClr val="97423E"/>
                </a:solidFill>
                <a:latin typeface="Aptos"/>
              </a:defRPr>
            </a:pPr>
            <a:r>
              <a:t>Same search space</a:t>
            </a:r>
          </a:p>
        </p:txBody>
      </p:sp>
      <p:sp>
        <p:nvSpPr>
          <p:cNvPr id="11" name="TextBox 10"/>
          <p:cNvSpPr txBox="1"/>
          <p:nvPr/>
        </p:nvSpPr>
        <p:spPr>
          <a:xfrm>
            <a:off x="7461504" y="1536192"/>
            <a:ext cx="3685031" cy="630936"/>
          </a:xfrm>
          <a:prstGeom prst="rect">
            <a:avLst/>
          </a:prstGeom>
          <a:noFill/>
        </p:spPr>
        <p:txBody>
          <a:bodyPr wrap="square">
            <a:spAutoFit/>
          </a:bodyPr>
          <a:lstStyle/>
          <a:p>
            <a:pPr algn="l">
              <a:defRPr sz="1000" b="0">
                <a:solidFill>
                  <a:srgbClr val="302422"/>
                </a:solidFill>
                <a:latin typeface="Aptos"/>
              </a:defRPr>
            </a:pPr>
            <a:r>
              <a:t>All NAS strategies use the same candidate choices.</a:t>
            </a:r>
          </a:p>
        </p:txBody>
      </p:sp>
      <p:sp>
        <p:nvSpPr>
          <p:cNvPr id="12" name="Rectangle 11"/>
          <p:cNvSpPr/>
          <p:nvPr/>
        </p:nvSpPr>
        <p:spPr>
          <a:xfrm>
            <a:off x="7315200" y="2560320"/>
            <a:ext cx="3977639"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61504" y="2670048"/>
            <a:ext cx="3685031" cy="256032"/>
          </a:xfrm>
          <a:prstGeom prst="rect">
            <a:avLst/>
          </a:prstGeom>
          <a:noFill/>
        </p:spPr>
        <p:txBody>
          <a:bodyPr wrap="square">
            <a:spAutoFit/>
          </a:bodyPr>
          <a:lstStyle/>
          <a:p>
            <a:pPr algn="l">
              <a:defRPr sz="1100" b="1">
                <a:solidFill>
                  <a:srgbClr val="97423E"/>
                </a:solidFill>
                <a:latin typeface="Aptos"/>
              </a:defRPr>
            </a:pPr>
            <a:r>
              <a:t>What changes?</a:t>
            </a:r>
          </a:p>
        </p:txBody>
      </p:sp>
      <p:sp>
        <p:nvSpPr>
          <p:cNvPr id="14" name="TextBox 13"/>
          <p:cNvSpPr txBox="1"/>
          <p:nvPr/>
        </p:nvSpPr>
        <p:spPr>
          <a:xfrm>
            <a:off x="7461504" y="2999232"/>
            <a:ext cx="3685031" cy="630936"/>
          </a:xfrm>
          <a:prstGeom prst="rect">
            <a:avLst/>
          </a:prstGeom>
          <a:noFill/>
        </p:spPr>
        <p:txBody>
          <a:bodyPr wrap="square">
            <a:spAutoFit/>
          </a:bodyPr>
          <a:lstStyle/>
          <a:p>
            <a:pPr algn="l">
              <a:defRPr sz="1000" b="0">
                <a:solidFill>
                  <a:srgbClr val="302422"/>
                </a:solidFill>
                <a:latin typeface="Aptos"/>
              </a:defRPr>
            </a:pPr>
            <a:r>
              <a:t>Bayesian/TPE, NSGA-II and NSGA-III search this space differently.</a:t>
            </a:r>
          </a:p>
        </p:txBody>
      </p:sp>
      <p:sp>
        <p:nvSpPr>
          <p:cNvPr id="15" name="Rectangle 14"/>
          <p:cNvSpPr/>
          <p:nvPr/>
        </p:nvSpPr>
        <p:spPr>
          <a:xfrm>
            <a:off x="7315200" y="4023360"/>
            <a:ext cx="3977639" cy="11430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61504" y="4133088"/>
            <a:ext cx="3685031" cy="256032"/>
          </a:xfrm>
          <a:prstGeom prst="rect">
            <a:avLst/>
          </a:prstGeom>
          <a:noFill/>
        </p:spPr>
        <p:txBody>
          <a:bodyPr wrap="square">
            <a:spAutoFit/>
          </a:bodyPr>
          <a:lstStyle/>
          <a:p>
            <a:pPr algn="l">
              <a:defRPr sz="1100" b="1">
                <a:solidFill>
                  <a:srgbClr val="97423E"/>
                </a:solidFill>
                <a:latin typeface="Aptos"/>
              </a:defRPr>
            </a:pPr>
            <a:r>
              <a:t>Why include it?</a:t>
            </a:r>
          </a:p>
        </p:txBody>
      </p:sp>
      <p:sp>
        <p:nvSpPr>
          <p:cNvPr id="17" name="TextBox 16"/>
          <p:cNvSpPr txBox="1"/>
          <p:nvPr/>
        </p:nvSpPr>
        <p:spPr>
          <a:xfrm>
            <a:off x="7461504" y="4462272"/>
            <a:ext cx="3685031" cy="630936"/>
          </a:xfrm>
          <a:prstGeom prst="rect">
            <a:avLst/>
          </a:prstGeom>
          <a:noFill/>
        </p:spPr>
        <p:txBody>
          <a:bodyPr wrap="square">
            <a:spAutoFit/>
          </a:bodyPr>
          <a:lstStyle/>
          <a:p>
            <a:pPr algn="l">
              <a:defRPr sz="1000" b="0">
                <a:solidFill>
                  <a:srgbClr val="302422"/>
                </a:solidFill>
                <a:latin typeface="Aptos"/>
              </a:defRPr>
            </a:pPr>
            <a:r>
              <a:t>It makes the architecture comparison fair and reproducible.</a:t>
            </a:r>
          </a:p>
        </p:txBody>
      </p:sp>
      <p:sp>
        <p:nvSpPr>
          <p:cNvPr id="18" name="Rectangle 1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NAS Hyperparameter Search Space</a:t>
            </a:r>
          </a:p>
        </p:txBody>
      </p:sp>
      <p:sp>
        <p:nvSpPr>
          <p:cNvPr id="20" name="TextBox 1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21" name="Rectangle 2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3" name="TextBox 2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4" name="TextBox 2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9144000" cy="6858000"/>
          <a:chOff x="0" y="0"/>
          <a:chExt cx="9144000" cy="6858000"/>
        </a:xfrm>
      </p:grpSpPr>
      <p:sp>
        <p:nvSpPr>
          <p:cNvPr id="2" name="bg"/>
          <p:cNvSpPr>
            <a:spLocks noGrp="1"/>
          </p:cNvSpPr>
          <p:nvPr/>
        </p:nvSpPr>
        <p:spPr>
          <a:xfrm>
            <a:off x="0" y="0"/>
            <a:ext cx="12191695" cy="6858000"/>
          </a:xfrm>
          <a:prstGeom prst="rect">
            <a:avLst/>
          </a:prstGeom>
          <a:solidFill>
            <a:srgbClr val="8B2020"/>
          </a:solidFill>
          <a:ln>
            <a:noFill/>
          </a:ln>
        </p:spPr>
        <p:txBody>
          <a:bodyPr/>
          <a:lstStyle/>
          <a:p/>
        </p:txBody>
      </p:sp>
      <p:sp>
        <p:nvSpPr>
          <p:cNvPr id="3" name="from"/>
          <p:cNvSpPr>
            <a:spLocks noGrp="1"/>
          </p:cNvSpPr>
          <p:nvPr/>
        </p:nvSpPr>
        <p:spPr>
          <a:xfrm>
            <a:off x="457200" y="2400000"/>
            <a:ext cx="2800000" cy="800000"/>
          </a:xfrm>
          <a:prstGeom prst="rect">
            <a:avLst/>
          </a:prstGeom>
          <a:solidFill>
            <a:srgbClr val="6B1515"/>
          </a:solidFill>
          <a:ln>
            <a:solidFill>
              <a:srgbClr val="F5DCDC"/>
            </a:solidFill>
            <a:d w="12700"/>
          </a:ln>
        </p:spPr>
        <p:txBody>
          <a:bodyPr anchor="ctr"/>
          <a:lstStyle/>
          <a:p>
            <a:pPr algn="ctr"/>
            <a:r>
              <a:rPr lang="en-US" sz="2400" b="1" dirty="0">
                <a:solidFill>
                  <a:srgbClr val="F5DCDC"/>
                </a:solidFill>
                <a:latin typeface="Aptos"/>
              </a:rPr>
              <a:t>NAS-PINN</a:t>
            </a:r>
          </a:p>
        </p:txBody>
      </p:sp>
      <p:sp>
        <p:nvSpPr>
          <p:cNvPr id="4" name="arrow"/>
          <p:cNvSpPr>
            <a:spLocks noGrp="1"/>
          </p:cNvSpPr>
          <p:nvPr/>
        </p:nvSpPr>
        <p:spPr>
          <a:xfrm>
            <a:off x="3400000" y="2600000"/>
            <a:ext cx="1000000" cy="400000"/>
          </a:xfrm>
          <a:prstGeom prst="rect">
            <a:avLst/>
          </a:prstGeom>
          <a:noFill/>
          <a:ln>
            <a:noFill/>
          </a:ln>
        </p:spPr>
        <p:txBody>
          <a:bodyPr anchor="ctr"/>
          <a:lstStyle/>
          <a:p>
            <a:pPr algn="ctr"/>
            <a:r>
              <a:rPr lang="en-US" sz="3600" b="0" dirty="0">
                <a:solidFill>
                  <a:srgbClr val="FFE8B0"/>
                </a:solidFill>
                <a:latin typeface="Aptos"/>
              </a:rPr>
              <a:t>→</a:t>
            </a:r>
          </a:p>
        </p:txBody>
      </p:sp>
      <p:sp>
        <p:nvSpPr>
          <p:cNvPr id="5" name="to"/>
          <p:cNvSpPr>
            <a:spLocks noGrp="1"/>
          </p:cNvSpPr>
          <p:nvPr/>
        </p:nvSpPr>
        <p:spPr>
          <a:xfrm>
            <a:off x="4600000" y="2400000"/>
            <a:ext cx="3200000" cy="800000"/>
          </a:xfrm>
          <a:prstGeom prst="rect">
            <a:avLst/>
          </a:prstGeom>
          <a:solidFill>
            <a:srgbClr val="FFFFFF"/>
          </a:solidFill>
          <a:ln>
            <a:solidFill>
              <a:srgbClr val="8B2020"/>
            </a:solidFill>
            <a:d w="19050"/>
          </a:ln>
        </p:spPr>
        <p:txBody>
          <a:bodyPr anchor="ctr"/>
          <a:lstStyle/>
          <a:p>
            <a:pPr algn="ctr"/>
            <a:r>
              <a:rPr lang="en-US" sz="2400" b="1" dirty="0">
                <a:solidFill>
                  <a:srgbClr val="8B2020"/>
                </a:solidFill>
                <a:latin typeface="Aptos"/>
              </a:rPr>
              <a:t>MSWP</a:t>
            </a:r>
          </a:p>
        </p:txBody>
      </p:sp>
      <p:sp>
        <p:nvSpPr>
          <p:cNvPr id="6" name="sub"/>
          <p:cNvSpPr>
            <a:spLocks noGrp="1"/>
          </p:cNvSpPr>
          <p:nvPr/>
        </p:nvSpPr>
        <p:spPr>
          <a:xfrm>
            <a:off x="914400" y="3500000"/>
            <a:ext cx="7500000" cy="600000"/>
          </a:xfrm>
          <a:prstGeom prst="rect">
            <a:avLst/>
          </a:prstGeom>
          <a:noFill/>
          <a:ln>
            <a:noFill/>
          </a:ln>
        </p:spPr>
        <p:txBody>
          <a:bodyPr anchor="ctr"/>
          <a:lstStyle/>
          <a:p>
            <a:pPr algn="ctr"/>
            <a:r>
              <a:rPr lang="en-US" sz="1600" b="0" i="1" dirty="0">
                <a:solidFill>
                  <a:srgbClr val="FFE8B0"/>
                </a:solidFill>
                <a:latin typeface="Aptos"/>
              </a:rPr>
              <a:t>We have the architecture. Now: how do FEM + NAS-PINN work together?</a:t>
            </a:r>
          </a:p>
        </p:txBody>
      </p:sp>
      <p:sp>
        <p:nvSpPr>
          <p:cNvPr id="7" name="Rectangle 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NAS-PINN</a:t>
            </a:r>
          </a:p>
        </p:txBody>
      </p:sp>
      <p:sp>
        <p:nvSpPr>
          <p:cNvPr id="9" name="TextBox 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0" name="Rectangle 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2" name="TextBox 1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3" name="TextBox 1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914400"/>
            <a:ext cx="6035040" cy="51663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6_naspinn_process.png"/>
          <p:cNvPicPr>
            <a:picLocks noChangeAspect="1"/>
          </p:cNvPicPr>
          <p:nvPr/>
        </p:nvPicPr>
        <p:blipFill>
          <a:blip r:embed="rId3"/>
          <a:stretch>
            <a:fillRect/>
          </a:stretch>
        </p:blipFill>
        <p:spPr>
          <a:xfrm>
            <a:off x="576072" y="1534668"/>
            <a:ext cx="5888736" cy="3925823"/>
          </a:xfrm>
          <a:prstGeom prst="rect">
            <a:avLst/>
          </a:prstGeom>
        </p:spPr>
      </p:pic>
      <p:sp>
        <p:nvSpPr>
          <p:cNvPr id="9" name="Rectangle 8"/>
          <p:cNvSpPr/>
          <p:nvPr/>
        </p:nvSpPr>
        <p:spPr>
          <a:xfrm>
            <a:off x="6812280" y="914400"/>
            <a:ext cx="4389120" cy="10515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58584" y="1024128"/>
            <a:ext cx="4096511" cy="256032"/>
          </a:xfrm>
          <a:prstGeom prst="rect">
            <a:avLst/>
          </a:prstGeom>
          <a:noFill/>
        </p:spPr>
        <p:txBody>
          <a:bodyPr wrap="square">
            <a:spAutoFit/>
          </a:bodyPr>
          <a:lstStyle/>
          <a:p>
            <a:pPr algn="l">
              <a:defRPr sz="1100" b="1">
                <a:solidFill>
                  <a:srgbClr val="97423E"/>
                </a:solidFill>
                <a:latin typeface="Aptos"/>
              </a:defRPr>
            </a:pPr>
            <a:r>
              <a:t>Step 1: FEM anchors</a:t>
            </a:r>
          </a:p>
        </p:txBody>
      </p:sp>
      <p:sp>
        <p:nvSpPr>
          <p:cNvPr id="11" name="TextBox 10"/>
          <p:cNvSpPr txBox="1"/>
          <p:nvPr/>
        </p:nvSpPr>
        <p:spPr>
          <a:xfrm>
            <a:off x="6958584" y="1353312"/>
            <a:ext cx="4096511" cy="539495"/>
          </a:xfrm>
          <a:prstGeom prst="rect">
            <a:avLst/>
          </a:prstGeom>
          <a:noFill/>
        </p:spPr>
        <p:txBody>
          <a:bodyPr wrap="square">
            <a:spAutoFit/>
          </a:bodyPr>
          <a:lstStyle/>
          <a:p>
            <a:pPr algn="l">
              <a:defRPr sz="1000" b="0">
                <a:solidFill>
                  <a:srgbClr val="302422"/>
                </a:solidFill>
                <a:latin typeface="Aptos"/>
              </a:defRPr>
            </a:pPr>
            <a:r>
              <a:t>FEM gives trusted reference states at selected times.</a:t>
            </a:r>
          </a:p>
        </p:txBody>
      </p:sp>
      <p:sp>
        <p:nvSpPr>
          <p:cNvPr id="12" name="Rectangle 11"/>
          <p:cNvSpPr/>
          <p:nvPr/>
        </p:nvSpPr>
        <p:spPr>
          <a:xfrm>
            <a:off x="6812280" y="2148840"/>
            <a:ext cx="4389120" cy="10515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58584" y="2258568"/>
            <a:ext cx="4096511" cy="256032"/>
          </a:xfrm>
          <a:prstGeom prst="rect">
            <a:avLst/>
          </a:prstGeom>
          <a:noFill/>
        </p:spPr>
        <p:txBody>
          <a:bodyPr wrap="square">
            <a:spAutoFit/>
          </a:bodyPr>
          <a:lstStyle/>
          <a:p>
            <a:pPr algn="l">
              <a:defRPr sz="1100" b="1">
                <a:solidFill>
                  <a:srgbClr val="97423E"/>
                </a:solidFill>
                <a:latin typeface="Aptos"/>
              </a:defRPr>
            </a:pPr>
            <a:r>
              <a:t>Step 2: choose k</a:t>
            </a:r>
          </a:p>
        </p:txBody>
      </p:sp>
      <p:sp>
        <p:nvSpPr>
          <p:cNvPr id="14" name="TextBox 13"/>
          <p:cNvSpPr txBox="1"/>
          <p:nvPr/>
        </p:nvSpPr>
        <p:spPr>
          <a:xfrm>
            <a:off x="6958584" y="2587752"/>
            <a:ext cx="4096511" cy="539495"/>
          </a:xfrm>
          <a:prstGeom prst="rect">
            <a:avLst/>
          </a:prstGeom>
          <a:noFill/>
        </p:spPr>
        <p:txBody>
          <a:bodyPr wrap="square">
            <a:spAutoFit/>
          </a:bodyPr>
          <a:lstStyle/>
          <a:p>
            <a:pPr algn="l">
              <a:defRPr sz="1000" b="0">
                <a:solidFill>
                  <a:srgbClr val="302422"/>
                </a:solidFill>
                <a:latin typeface="Aptos"/>
              </a:defRPr>
            </a:pPr>
            <a:r>
              <a:t>The skip factor decides how many FEM calls are skipped.</a:t>
            </a:r>
          </a:p>
        </p:txBody>
      </p:sp>
      <p:sp>
        <p:nvSpPr>
          <p:cNvPr id="15" name="Rectangle 14"/>
          <p:cNvSpPr/>
          <p:nvPr/>
        </p:nvSpPr>
        <p:spPr>
          <a:xfrm>
            <a:off x="6812280" y="3383280"/>
            <a:ext cx="4389120" cy="10515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8584" y="3493008"/>
            <a:ext cx="4096511" cy="256032"/>
          </a:xfrm>
          <a:prstGeom prst="rect">
            <a:avLst/>
          </a:prstGeom>
          <a:noFill/>
        </p:spPr>
        <p:txBody>
          <a:bodyPr wrap="square">
            <a:spAutoFit/>
          </a:bodyPr>
          <a:lstStyle/>
          <a:p>
            <a:pPr algn="l">
              <a:defRPr sz="1100" b="1">
                <a:solidFill>
                  <a:srgbClr val="97423E"/>
                </a:solidFill>
                <a:latin typeface="Aptos"/>
              </a:defRPr>
            </a:pPr>
            <a:r>
              <a:t>Step 3: PINN predicts</a:t>
            </a:r>
          </a:p>
        </p:txBody>
      </p:sp>
      <p:sp>
        <p:nvSpPr>
          <p:cNvPr id="17" name="TextBox 16"/>
          <p:cNvSpPr txBox="1"/>
          <p:nvPr/>
        </p:nvSpPr>
        <p:spPr>
          <a:xfrm>
            <a:off x="6958584" y="3822191"/>
            <a:ext cx="4096511" cy="539495"/>
          </a:xfrm>
          <a:prstGeom prst="rect">
            <a:avLst/>
          </a:prstGeom>
          <a:noFill/>
        </p:spPr>
        <p:txBody>
          <a:bodyPr wrap="square">
            <a:spAutoFit/>
          </a:bodyPr>
          <a:lstStyle/>
          <a:p>
            <a:pPr algn="l">
              <a:defRPr sz="1000" b="0">
                <a:solidFill>
                  <a:srgbClr val="302422"/>
                </a:solidFill>
                <a:latin typeface="Aptos"/>
              </a:defRPr>
            </a:pPr>
            <a:r>
              <a:t>NAS-PINN fills the skipped thermal windows.</a:t>
            </a:r>
          </a:p>
        </p:txBody>
      </p:sp>
      <p:sp>
        <p:nvSpPr>
          <p:cNvPr id="18" name="Rectangle 17"/>
          <p:cNvSpPr/>
          <p:nvPr/>
        </p:nvSpPr>
        <p:spPr>
          <a:xfrm>
            <a:off x="6812280" y="4617720"/>
            <a:ext cx="4389120" cy="10515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58584" y="4727448"/>
            <a:ext cx="4096511" cy="256032"/>
          </a:xfrm>
          <a:prstGeom prst="rect">
            <a:avLst/>
          </a:prstGeom>
          <a:noFill/>
        </p:spPr>
        <p:txBody>
          <a:bodyPr wrap="square">
            <a:spAutoFit/>
          </a:bodyPr>
          <a:lstStyle/>
          <a:p>
            <a:pPr algn="l">
              <a:defRPr sz="1100" b="1">
                <a:solidFill>
                  <a:srgbClr val="97423E"/>
                </a:solidFill>
                <a:latin typeface="Aptos"/>
              </a:defRPr>
            </a:pPr>
            <a:r>
              <a:t>Step 4: correct</a:t>
            </a:r>
          </a:p>
        </p:txBody>
      </p:sp>
      <p:sp>
        <p:nvSpPr>
          <p:cNvPr id="20" name="TextBox 19"/>
          <p:cNvSpPr txBox="1"/>
          <p:nvPr/>
        </p:nvSpPr>
        <p:spPr>
          <a:xfrm>
            <a:off x="6958584" y="5056631"/>
            <a:ext cx="4096511" cy="539495"/>
          </a:xfrm>
          <a:prstGeom prst="rect">
            <a:avLst/>
          </a:prstGeom>
          <a:noFill/>
        </p:spPr>
        <p:txBody>
          <a:bodyPr wrap="square">
            <a:spAutoFit/>
          </a:bodyPr>
          <a:lstStyle/>
          <a:p>
            <a:pPr algn="l">
              <a:defRPr sz="1000" b="0">
                <a:solidFill>
                  <a:srgbClr val="302422"/>
                </a:solidFill>
                <a:latin typeface="Aptos"/>
              </a:defRPr>
            </a:pPr>
            <a:r>
              <a:t>The next FEM anchor limits drift and resets the field.</a:t>
            </a:r>
          </a:p>
        </p:txBody>
      </p:sp>
      <p:sp>
        <p:nvSpPr>
          <p:cNvPr id="21" name="Rectangle 20"/>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MSWP Framework: Working Logic</a:t>
            </a:r>
          </a:p>
        </p:txBody>
      </p:sp>
      <p:sp>
        <p:nvSpPr>
          <p:cNvPr id="23" name="TextBox 22"/>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24" name="Rectangle 23"/>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6" name="TextBox 25"/>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7" name="TextBox 26"/>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14400"/>
            <a:ext cx="5303520" cy="51663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_mswp_three_modes.png"/>
          <p:cNvPicPr>
            <a:picLocks noChangeAspect="1"/>
          </p:cNvPicPr>
          <p:nvPr/>
        </p:nvPicPr>
        <p:blipFill>
          <a:blip r:embed="rId3"/>
          <a:stretch>
            <a:fillRect/>
          </a:stretch>
        </p:blipFill>
        <p:spPr>
          <a:xfrm>
            <a:off x="667512" y="1778508"/>
            <a:ext cx="5157216" cy="3438144"/>
          </a:xfrm>
          <a:prstGeom prst="rect">
            <a:avLst/>
          </a:prstGeom>
        </p:spPr>
      </p:pic>
      <p:sp>
        <p:nvSpPr>
          <p:cNvPr id="9" name="Rectangle 8"/>
          <p:cNvSpPr/>
          <p:nvPr/>
        </p:nvSpPr>
        <p:spPr>
          <a:xfrm>
            <a:off x="6217920" y="914400"/>
            <a:ext cx="5120640"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024128"/>
            <a:ext cx="4828031" cy="256032"/>
          </a:xfrm>
          <a:prstGeom prst="rect">
            <a:avLst/>
          </a:prstGeom>
          <a:noFill/>
        </p:spPr>
        <p:txBody>
          <a:bodyPr wrap="square">
            <a:spAutoFit/>
          </a:bodyPr>
          <a:lstStyle/>
          <a:p>
            <a:pPr algn="l">
              <a:defRPr sz="1100" b="1">
                <a:solidFill>
                  <a:srgbClr val="97423E"/>
                </a:solidFill>
                <a:latin typeface="Aptos"/>
              </a:defRPr>
            </a:pPr>
            <a:r>
              <a:t>Formula</a:t>
            </a:r>
          </a:p>
        </p:txBody>
      </p:sp>
      <p:sp>
        <p:nvSpPr>
          <p:cNvPr id="11" name="TextBox 10"/>
          <p:cNvSpPr txBox="1"/>
          <p:nvPr/>
        </p:nvSpPr>
        <p:spPr>
          <a:xfrm>
            <a:off x="6364224" y="1353312"/>
            <a:ext cx="4828031" cy="630936"/>
          </a:xfrm>
          <a:prstGeom prst="rect">
            <a:avLst/>
          </a:prstGeom>
          <a:noFill/>
        </p:spPr>
        <p:txBody>
          <a:bodyPr wrap="square">
            <a:spAutoFit/>
          </a:bodyPr>
          <a:lstStyle/>
          <a:p>
            <a:pPr algn="l">
              <a:defRPr sz="1000" b="0">
                <a:solidFill>
                  <a:srgbClr val="302422"/>
                </a:solidFill>
                <a:latin typeface="Aptos"/>
              </a:defRPr>
            </a:pPr>
            <a:r>
              <a:t>Delta t_k = k * Delta t_a, with Delta t_a = 1.5 s</a:t>
            </a:r>
          </a:p>
        </p:txBody>
      </p:sp>
      <p:graphicFrame>
        <p:nvGraphicFramePr>
          <p:cNvPr id="12" name="Table 11"/>
          <p:cNvGraphicFramePr>
            <a:graphicFrameLocks noGrp="1"/>
          </p:cNvGraphicFramePr>
          <p:nvPr/>
        </p:nvGraphicFramePr>
        <p:xfrm>
          <a:off x="6217920" y="2331720"/>
          <a:ext cx="5120640" cy="2240280"/>
        </p:xfrm>
        <a:graphic>
          <a:graphicData uri="http://schemas.openxmlformats.org/drawingml/2006/table">
            <a:tbl>
              <a:tblPr firstRow="1" bandRow="1">
                <a:tableStyleId>{5C22544A-7EE6-4342-B048-85BDC9FD1C3A}</a:tableStyleId>
              </a:tblPr>
              <a:tblGrid>
                <a:gridCol w="1706880"/>
                <a:gridCol w="1706880"/>
                <a:gridCol w="1706880"/>
              </a:tblGrid>
              <a:tr h="373380">
                <a:tc>
                  <a:txBody>
                    <a:bodyPr anchor="ctr"/>
                    <a:lstStyle/>
                    <a:p>
                      <a:pPr algn="ctr">
                        <a:defRPr sz="1000" b="1">
                          <a:solidFill>
                            <a:srgbClr val="FFFFFF"/>
                          </a:solidFill>
                          <a:latin typeface="Aptos"/>
                        </a:defRPr>
                      </a:pPr>
                      <a:r>
                        <a:t>k</a:t>
                      </a:r>
                    </a:p>
                  </a:txBody>
                  <a:tcPr>
                    <a:solidFill>
                      <a:srgbClr val="97423E"/>
                    </a:solidFill>
                  </a:tcPr>
                </a:tc>
                <a:tc>
                  <a:txBody>
                    <a:bodyPr anchor="ctr"/>
                    <a:lstStyle/>
                    <a:p>
                      <a:pPr algn="ctr">
                        <a:defRPr sz="1000" b="1">
                          <a:solidFill>
                            <a:srgbClr val="FFFFFF"/>
                          </a:solidFill>
                          <a:latin typeface="Aptos"/>
                        </a:defRPr>
                      </a:pPr>
                      <a:r>
                        <a:t>Windows</a:t>
                      </a:r>
                    </a:p>
                  </a:txBody>
                  <a:tcPr>
                    <a:solidFill>
                      <a:srgbClr val="97423E"/>
                    </a:solidFill>
                  </a:tcPr>
                </a:tc>
                <a:tc>
                  <a:txBody>
                    <a:bodyPr anchor="ctr"/>
                    <a:lstStyle/>
                    <a:p>
                      <a:pPr algn="ctr">
                        <a:defRPr sz="1000" b="1">
                          <a:solidFill>
                            <a:srgbClr val="FFFFFF"/>
                          </a:solidFill>
                          <a:latin typeface="Aptos"/>
                        </a:defRPr>
                      </a:pPr>
                      <a:r>
                        <a:t>FEM saving</a:t>
                      </a:r>
                    </a:p>
                  </a:txBody>
                  <a:tcPr>
                    <a:solidFill>
                      <a:srgbClr val="97423E"/>
                    </a:solidFill>
                  </a:tcPr>
                </a:tc>
              </a:tr>
              <a:tr h="373380">
                <a:tc>
                  <a:txBody>
                    <a:bodyPr anchor="ctr"/>
                    <a:lstStyle/>
                    <a:p>
                      <a:pPr algn="ctr">
                        <a:defRPr sz="1000">
                          <a:solidFill>
                            <a:srgbClr val="302422"/>
                          </a:solidFill>
                          <a:latin typeface="Aptos"/>
                        </a:defRPr>
                      </a:pPr>
                      <a:r>
                        <a:t>1</a:t>
                      </a:r>
                    </a:p>
                  </a:txBody>
                  <a:tcPr marL="36576" marR="36576">
                    <a:solidFill>
                      <a:srgbClr val="FFFFFF"/>
                    </a:solidFill>
                  </a:tcPr>
                </a:tc>
                <a:tc>
                  <a:txBody>
                    <a:bodyPr anchor="ctr"/>
                    <a:lstStyle/>
                    <a:p>
                      <a:pPr algn="ctr">
                        <a:defRPr sz="1000">
                          <a:solidFill>
                            <a:srgbClr val="302422"/>
                          </a:solidFill>
                          <a:latin typeface="Aptos"/>
                        </a:defRPr>
                      </a:pPr>
                      <a:r>
                        <a:t>20</a:t>
                      </a:r>
                    </a:p>
                  </a:txBody>
                  <a:tcPr marL="36576" marR="36576">
                    <a:solidFill>
                      <a:srgbClr val="FFFFFF"/>
                    </a:solidFill>
                  </a:tcPr>
                </a:tc>
                <a:tc>
                  <a:txBody>
                    <a:bodyPr anchor="ctr"/>
                    <a:lstStyle/>
                    <a:p>
                      <a:pPr algn="ctr">
                        <a:defRPr sz="1000">
                          <a:solidFill>
                            <a:srgbClr val="302422"/>
                          </a:solidFill>
                          <a:latin typeface="Aptos"/>
                        </a:defRPr>
                      </a:pPr>
                      <a:r>
                        <a:t>0%</a:t>
                      </a:r>
                    </a:p>
                  </a:txBody>
                  <a:tcPr marL="36576" marR="36576">
                    <a:solidFill>
                      <a:srgbClr val="FFFFFF"/>
                    </a:solidFill>
                  </a:tcPr>
                </a:tc>
              </a:tr>
              <a:tr h="373380">
                <a:tc>
                  <a:txBody>
                    <a:bodyPr anchor="ctr"/>
                    <a:lstStyle/>
                    <a:p>
                      <a:pPr algn="ctr">
                        <a:defRPr sz="1000">
                          <a:solidFill>
                            <a:srgbClr val="302422"/>
                          </a:solidFill>
                          <a:latin typeface="Aptos"/>
                        </a:defRPr>
                      </a:pPr>
                      <a:r>
                        <a:t>2</a:t>
                      </a:r>
                    </a:p>
                  </a:txBody>
                  <a:tcPr marL="36576" marR="36576">
                    <a:solidFill>
                      <a:srgbClr val="FFF7F5"/>
                    </a:solidFill>
                  </a:tcPr>
                </a:tc>
                <a:tc>
                  <a:txBody>
                    <a:bodyPr anchor="ctr"/>
                    <a:lstStyle/>
                    <a:p>
                      <a:pPr algn="ctr">
                        <a:defRPr sz="1000">
                          <a:solidFill>
                            <a:srgbClr val="302422"/>
                          </a:solidFill>
                          <a:latin typeface="Aptos"/>
                        </a:defRPr>
                      </a:pPr>
                      <a:r>
                        <a:t>10</a:t>
                      </a:r>
                    </a:p>
                  </a:txBody>
                  <a:tcPr marL="36576" marR="36576">
                    <a:solidFill>
                      <a:srgbClr val="FFF7F5"/>
                    </a:solidFill>
                  </a:tcPr>
                </a:tc>
                <a:tc>
                  <a:txBody>
                    <a:bodyPr anchor="ctr"/>
                    <a:lstStyle/>
                    <a:p>
                      <a:pPr algn="ctr">
                        <a:defRPr sz="1000">
                          <a:solidFill>
                            <a:srgbClr val="302422"/>
                          </a:solidFill>
                          <a:latin typeface="Aptos"/>
                        </a:defRPr>
                      </a:pPr>
                      <a:r>
                        <a:t>50%</a:t>
                      </a:r>
                    </a:p>
                  </a:txBody>
                  <a:tcPr marL="36576" marR="36576">
                    <a:solidFill>
                      <a:srgbClr val="FFF7F5"/>
                    </a:solidFill>
                  </a:tcPr>
                </a:tc>
              </a:tr>
              <a:tr h="373380">
                <a:tc>
                  <a:txBody>
                    <a:bodyPr anchor="ctr"/>
                    <a:lstStyle/>
                    <a:p>
                      <a:pPr algn="ctr">
                        <a:defRPr sz="1000">
                          <a:solidFill>
                            <a:srgbClr val="302422"/>
                          </a:solidFill>
                          <a:latin typeface="Aptos"/>
                        </a:defRPr>
                      </a:pPr>
                      <a:r>
                        <a:t>3</a:t>
                      </a:r>
                    </a:p>
                  </a:txBody>
                  <a:tcPr marL="36576" marR="36576">
                    <a:solidFill>
                      <a:srgbClr val="FFFFFF"/>
                    </a:solidFill>
                  </a:tcPr>
                </a:tc>
                <a:tc>
                  <a:txBody>
                    <a:bodyPr anchor="ctr"/>
                    <a:lstStyle/>
                    <a:p>
                      <a:pPr algn="ctr">
                        <a:defRPr sz="1000">
                          <a:solidFill>
                            <a:srgbClr val="302422"/>
                          </a:solidFill>
                          <a:latin typeface="Aptos"/>
                        </a:defRPr>
                      </a:pPr>
                      <a:r>
                        <a:t>7</a:t>
                      </a:r>
                    </a:p>
                  </a:txBody>
                  <a:tcPr marL="36576" marR="36576">
                    <a:solidFill>
                      <a:srgbClr val="FFFFFF"/>
                    </a:solidFill>
                  </a:tcPr>
                </a:tc>
                <a:tc>
                  <a:txBody>
                    <a:bodyPr anchor="ctr"/>
                    <a:lstStyle/>
                    <a:p>
                      <a:pPr algn="ctr">
                        <a:defRPr sz="1000">
                          <a:solidFill>
                            <a:srgbClr val="302422"/>
                          </a:solidFill>
                          <a:latin typeface="Aptos"/>
                        </a:defRPr>
                      </a:pPr>
                      <a:r>
                        <a:t>65%</a:t>
                      </a:r>
                    </a:p>
                  </a:txBody>
                  <a:tcPr marL="36576" marR="36576">
                    <a:solidFill>
                      <a:srgbClr val="FFFFFF"/>
                    </a:solidFill>
                  </a:tcPr>
                </a:tc>
              </a:tr>
              <a:tr h="373380">
                <a:tc>
                  <a:txBody>
                    <a:bodyPr anchor="ctr"/>
                    <a:lstStyle/>
                    <a:p>
                      <a:pPr algn="ctr">
                        <a:defRPr sz="1000">
                          <a:solidFill>
                            <a:srgbClr val="302422"/>
                          </a:solidFill>
                          <a:latin typeface="Aptos"/>
                        </a:defRPr>
                      </a:pPr>
                      <a:r>
                        <a:t>4</a:t>
                      </a:r>
                    </a:p>
                  </a:txBody>
                  <a:tcPr marL="36576" marR="36576">
                    <a:solidFill>
                      <a:srgbClr val="FFF7F5"/>
                    </a:solidFill>
                  </a:tcPr>
                </a:tc>
                <a:tc>
                  <a:txBody>
                    <a:bodyPr anchor="ctr"/>
                    <a:lstStyle/>
                    <a:p>
                      <a:pPr algn="ctr">
                        <a:defRPr sz="1000">
                          <a:solidFill>
                            <a:srgbClr val="302422"/>
                          </a:solidFill>
                          <a:latin typeface="Aptos"/>
                        </a:defRPr>
                      </a:pPr>
                      <a:r>
                        <a:t>5</a:t>
                      </a:r>
                    </a:p>
                  </a:txBody>
                  <a:tcPr marL="36576" marR="36576">
                    <a:solidFill>
                      <a:srgbClr val="FFF7F5"/>
                    </a:solidFill>
                  </a:tcPr>
                </a:tc>
                <a:tc>
                  <a:txBody>
                    <a:bodyPr anchor="ctr"/>
                    <a:lstStyle/>
                    <a:p>
                      <a:pPr algn="ctr">
                        <a:defRPr sz="1000">
                          <a:solidFill>
                            <a:srgbClr val="302422"/>
                          </a:solidFill>
                          <a:latin typeface="Aptos"/>
                        </a:defRPr>
                      </a:pPr>
                      <a:r>
                        <a:t>75%</a:t>
                      </a:r>
                    </a:p>
                  </a:txBody>
                  <a:tcPr marL="36576" marR="36576">
                    <a:solidFill>
                      <a:srgbClr val="FFF7F5"/>
                    </a:solidFill>
                  </a:tcPr>
                </a:tc>
              </a:tr>
              <a:tr h="373380">
                <a:tc>
                  <a:txBody>
                    <a:bodyPr anchor="ctr"/>
                    <a:lstStyle/>
                    <a:p>
                      <a:pPr algn="ctr">
                        <a:defRPr sz="1000">
                          <a:solidFill>
                            <a:srgbClr val="302422"/>
                          </a:solidFill>
                          <a:latin typeface="Aptos"/>
                        </a:defRPr>
                      </a:pPr>
                      <a:r>
                        <a:t>5</a:t>
                      </a:r>
                    </a:p>
                  </a:txBody>
                  <a:tcPr marL="36576" marR="36576">
                    <a:solidFill>
                      <a:srgbClr val="FFFFFF"/>
                    </a:solidFill>
                  </a:tcPr>
                </a:tc>
                <a:tc>
                  <a:txBody>
                    <a:bodyPr anchor="ctr"/>
                    <a:lstStyle/>
                    <a:p>
                      <a:pPr algn="ctr">
                        <a:defRPr sz="1000">
                          <a:solidFill>
                            <a:srgbClr val="302422"/>
                          </a:solidFill>
                          <a:latin typeface="Aptos"/>
                        </a:defRPr>
                      </a:pPr>
                      <a:r>
                        <a:t>4</a:t>
                      </a:r>
                    </a:p>
                  </a:txBody>
                  <a:tcPr marL="36576" marR="36576">
                    <a:solidFill>
                      <a:srgbClr val="FFFFFF"/>
                    </a:solidFill>
                  </a:tcPr>
                </a:tc>
                <a:tc>
                  <a:txBody>
                    <a:bodyPr anchor="ctr"/>
                    <a:lstStyle/>
                    <a:p>
                      <a:pPr algn="ctr">
                        <a:defRPr sz="1000">
                          <a:solidFill>
                            <a:srgbClr val="302422"/>
                          </a:solidFill>
                          <a:latin typeface="Aptos"/>
                        </a:defRPr>
                      </a:pPr>
                      <a:r>
                        <a:t>80%</a:t>
                      </a:r>
                    </a:p>
                  </a:txBody>
                  <a:tcPr marL="36576" marR="36576">
                    <a:solidFill>
                      <a:srgbClr val="FFFFFF"/>
                    </a:solidFill>
                  </a:tcPr>
                </a:tc>
              </a:tr>
            </a:tbl>
          </a:graphicData>
        </a:graphic>
      </p:graphicFrame>
      <p:sp>
        <p:nvSpPr>
          <p:cNvPr id="13" name="Rectangle 12"/>
          <p:cNvSpPr/>
          <p:nvPr/>
        </p:nvSpPr>
        <p:spPr>
          <a:xfrm>
            <a:off x="6217920" y="4892040"/>
            <a:ext cx="5120640" cy="8686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5001768"/>
            <a:ext cx="4828031" cy="256032"/>
          </a:xfrm>
          <a:prstGeom prst="rect">
            <a:avLst/>
          </a:prstGeom>
          <a:noFill/>
        </p:spPr>
        <p:txBody>
          <a:bodyPr wrap="square">
            <a:spAutoFit/>
          </a:bodyPr>
          <a:lstStyle/>
          <a:p>
            <a:pPr algn="l">
              <a:defRPr sz="1100" b="1">
                <a:solidFill>
                  <a:srgbClr val="97423E"/>
                </a:solidFill>
                <a:latin typeface="Aptos"/>
              </a:defRPr>
            </a:pPr>
            <a:r>
              <a:t>Operating modes</a:t>
            </a:r>
          </a:p>
        </p:txBody>
      </p:sp>
      <p:sp>
        <p:nvSpPr>
          <p:cNvPr id="15" name="TextBox 14"/>
          <p:cNvSpPr txBox="1"/>
          <p:nvPr/>
        </p:nvSpPr>
        <p:spPr>
          <a:xfrm>
            <a:off x="6364224" y="5330952"/>
            <a:ext cx="4828031" cy="356615"/>
          </a:xfrm>
          <a:prstGeom prst="rect">
            <a:avLst/>
          </a:prstGeom>
          <a:noFill/>
        </p:spPr>
        <p:txBody>
          <a:bodyPr wrap="square">
            <a:spAutoFit/>
          </a:bodyPr>
          <a:lstStyle/>
          <a:p>
            <a:pPr algn="l">
              <a:defRPr sz="1000" b="0">
                <a:solidFill>
                  <a:srgbClr val="302422"/>
                </a:solidFill>
                <a:latin typeface="Aptos"/>
              </a:defRPr>
            </a:pPr>
            <a:r>
              <a:t>Fixed-k tests constant windows, adaptive-k changes k during the transient, and PINN-only removes FEM correction after the first state.</a:t>
            </a:r>
          </a:p>
        </p:txBody>
      </p:sp>
      <p:sp>
        <p:nvSpPr>
          <p:cNvPr id="16" name="Rectangle 1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Skip Factor and Operating Modes</a:t>
            </a:r>
          </a:p>
        </p:txBody>
      </p:sp>
      <p:sp>
        <p:nvSpPr>
          <p:cNvPr id="18" name="TextBox 1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METHOD</a:t>
            </a:r>
          </a:p>
        </p:txBody>
      </p:sp>
      <p:sp>
        <p:nvSpPr>
          <p:cNvPr id="19" name="Rectangle 1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1" name="TextBox 2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2" name="TextBox 2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914400"/>
            <a:ext cx="5257800" cy="24231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1_naspinn_2d.png"/>
          <p:cNvPicPr>
            <a:picLocks noChangeAspect="1"/>
          </p:cNvPicPr>
          <p:nvPr/>
        </p:nvPicPr>
        <p:blipFill>
          <a:blip r:embed="rId3"/>
          <a:stretch>
            <a:fillRect/>
          </a:stretch>
        </p:blipFill>
        <p:spPr>
          <a:xfrm>
            <a:off x="854964" y="987552"/>
            <a:ext cx="4553712" cy="2276856"/>
          </a:xfrm>
          <a:prstGeom prst="rect">
            <a:avLst/>
          </a:prstGeom>
        </p:spPr>
      </p:pic>
      <p:sp>
        <p:nvSpPr>
          <p:cNvPr id="9" name="Rectangle 8"/>
          <p:cNvSpPr/>
          <p:nvPr/>
        </p:nvSpPr>
        <p:spPr>
          <a:xfrm>
            <a:off x="6172200" y="914400"/>
            <a:ext cx="5440680" cy="24231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2_thesis_2d.png"/>
          <p:cNvPicPr>
            <a:picLocks noChangeAspect="1"/>
          </p:cNvPicPr>
          <p:nvPr/>
        </p:nvPicPr>
        <p:blipFill>
          <a:blip r:embed="rId4"/>
          <a:stretch>
            <a:fillRect/>
          </a:stretch>
        </p:blipFill>
        <p:spPr>
          <a:xfrm>
            <a:off x="6889147" y="987552"/>
            <a:ext cx="4006784" cy="2276856"/>
          </a:xfrm>
          <a:prstGeom prst="rect">
            <a:avLst/>
          </a:prstGeom>
        </p:spPr>
      </p:pic>
      <p:sp>
        <p:nvSpPr>
          <p:cNvPr id="11" name="Rectangle 10"/>
          <p:cNvSpPr/>
          <p:nvPr/>
        </p:nvSpPr>
        <p:spPr>
          <a:xfrm>
            <a:off x="502920" y="3657600"/>
            <a:ext cx="5257800" cy="19659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3767328"/>
            <a:ext cx="4965192" cy="256032"/>
          </a:xfrm>
          <a:prstGeom prst="rect">
            <a:avLst/>
          </a:prstGeom>
          <a:noFill/>
        </p:spPr>
        <p:txBody>
          <a:bodyPr wrap="square">
            <a:spAutoFit/>
          </a:bodyPr>
          <a:lstStyle/>
          <a:p>
            <a:pPr algn="l">
              <a:defRPr sz="1100" b="1">
                <a:solidFill>
                  <a:srgbClr val="97423E"/>
                </a:solidFill>
                <a:latin typeface="Aptos"/>
              </a:defRPr>
            </a:pPr>
            <a:r>
              <a:t>Level 1: NAS transfer + adaptive-k</a:t>
            </a:r>
          </a:p>
        </p:txBody>
      </p:sp>
      <p:sp>
        <p:nvSpPr>
          <p:cNvPr id="13" name="TextBox 12"/>
          <p:cNvSpPr txBox="1"/>
          <p:nvPr/>
        </p:nvSpPr>
        <p:spPr>
          <a:xfrm>
            <a:off x="649224" y="4096512"/>
            <a:ext cx="4965192" cy="1453895"/>
          </a:xfrm>
          <a:prstGeom prst="rect">
            <a:avLst/>
          </a:prstGeom>
          <a:noFill/>
        </p:spPr>
        <p:txBody>
          <a:bodyPr wrap="square">
            <a:spAutoFit/>
          </a:bodyPr>
          <a:lstStyle/>
          <a:p>
            <a:pPr algn="l">
              <a:defRPr sz="1000" b="0">
                <a:solidFill>
                  <a:srgbClr val="302422"/>
                </a:solidFill>
                <a:latin typeface="Aptos"/>
              </a:defRPr>
            </a:pPr>
            <a:r>
              <a:t>Domains: Square, Circle, L-Shape, Flower. Purpose: test NAS-PINN transfer architecture and our NAS-found architectures under adaptive-k. Values: T0=540 C, Tw=20 C, h=5000, kT=160.</a:t>
            </a:r>
          </a:p>
        </p:txBody>
      </p:sp>
      <p:sp>
        <p:nvSpPr>
          <p:cNvPr id="14" name="Rectangle 13"/>
          <p:cNvSpPr/>
          <p:nvPr/>
        </p:nvSpPr>
        <p:spPr>
          <a:xfrm>
            <a:off x="6172200" y="3657600"/>
            <a:ext cx="5440680" cy="19659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18504" y="3767328"/>
            <a:ext cx="5148072" cy="256032"/>
          </a:xfrm>
          <a:prstGeom prst="rect">
            <a:avLst/>
          </a:prstGeom>
          <a:noFill/>
        </p:spPr>
        <p:txBody>
          <a:bodyPr wrap="square">
            <a:spAutoFit/>
          </a:bodyPr>
          <a:lstStyle/>
          <a:p>
            <a:pPr algn="l">
              <a:defRPr sz="1100" b="1">
                <a:solidFill>
                  <a:srgbClr val="97423E"/>
                </a:solidFill>
                <a:latin typeface="Aptos"/>
              </a:defRPr>
            </a:pPr>
            <a:r>
              <a:t>Level 2: canonical 2D fixed-k sweep</a:t>
            </a:r>
          </a:p>
        </p:txBody>
      </p:sp>
      <p:sp>
        <p:nvSpPr>
          <p:cNvPr id="16" name="TextBox 15"/>
          <p:cNvSpPr txBox="1"/>
          <p:nvPr/>
        </p:nvSpPr>
        <p:spPr>
          <a:xfrm>
            <a:off x="6318504" y="4096512"/>
            <a:ext cx="5148072" cy="1453895"/>
          </a:xfrm>
          <a:prstGeom prst="rect">
            <a:avLst/>
          </a:prstGeom>
          <a:noFill/>
        </p:spPr>
        <p:txBody>
          <a:bodyPr wrap="square">
            <a:spAutoFit/>
          </a:bodyPr>
          <a:lstStyle/>
          <a:p>
            <a:pPr algn="l">
              <a:defRPr sz="1000" b="0">
                <a:solidFill>
                  <a:srgbClr val="302422"/>
                </a:solidFill>
                <a:latin typeface="Aptos"/>
              </a:defRPr>
            </a:pPr>
            <a:r>
              <a:t>Domains: Rectangle, Circle, L-Shape. Purpose: compare Bayesian/TPE, NSGA-II and NSGA-III over k=1...5. Values: T0=540 C, Tw=20 C, h=5000, kT=150.</a:t>
            </a:r>
          </a:p>
        </p:txBody>
      </p:sp>
      <p:sp>
        <p:nvSpPr>
          <p:cNvPr id="17" name="Rectangle 1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Benchmark Domains: 2D Domain Groups</a:t>
            </a:r>
          </a:p>
        </p:txBody>
      </p:sp>
      <p:sp>
        <p:nvSpPr>
          <p:cNvPr id="19" name="TextBox 1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BENCHMARKS AND METRICS</a:t>
            </a:r>
          </a:p>
        </p:txBody>
      </p:sp>
      <p:sp>
        <p:nvSpPr>
          <p:cNvPr id="20" name="Rectangle 1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2" name="TextBox 2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3" name="TextBox 2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914400"/>
            <a:ext cx="5440680" cy="2743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g3_thesis_3d.png"/>
          <p:cNvPicPr>
            <a:picLocks noChangeAspect="1"/>
          </p:cNvPicPr>
          <p:nvPr/>
        </p:nvPicPr>
        <p:blipFill>
          <a:blip r:embed="rId3"/>
          <a:stretch>
            <a:fillRect/>
          </a:stretch>
        </p:blipFill>
        <p:spPr>
          <a:xfrm>
            <a:off x="1458468" y="987552"/>
            <a:ext cx="3895344" cy="2596896"/>
          </a:xfrm>
          <a:prstGeom prst="rect">
            <a:avLst/>
          </a:prstGeom>
        </p:spPr>
      </p:pic>
      <p:sp>
        <p:nvSpPr>
          <p:cNvPr id="9" name="Rectangle 8"/>
          <p:cNvSpPr/>
          <p:nvPr/>
        </p:nvSpPr>
        <p:spPr>
          <a:xfrm>
            <a:off x="6400800" y="914400"/>
            <a:ext cx="5120640" cy="2743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4_thermalfin.png"/>
          <p:cNvPicPr>
            <a:picLocks noChangeAspect="1"/>
          </p:cNvPicPr>
          <p:nvPr/>
        </p:nvPicPr>
        <p:blipFill>
          <a:blip r:embed="rId4"/>
          <a:stretch>
            <a:fillRect/>
          </a:stretch>
        </p:blipFill>
        <p:spPr>
          <a:xfrm>
            <a:off x="6473952" y="1042416"/>
            <a:ext cx="4974336" cy="2487168"/>
          </a:xfrm>
          <a:prstGeom prst="rect">
            <a:avLst/>
          </a:prstGeom>
        </p:spPr>
      </p:pic>
      <p:sp>
        <p:nvSpPr>
          <p:cNvPr id="11" name="Rectangle 10"/>
          <p:cNvSpPr/>
          <p:nvPr/>
        </p:nvSpPr>
        <p:spPr>
          <a:xfrm>
            <a:off x="822960" y="4069080"/>
            <a:ext cx="5074920" cy="16002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4178808"/>
            <a:ext cx="4782312" cy="256032"/>
          </a:xfrm>
          <a:prstGeom prst="rect">
            <a:avLst/>
          </a:prstGeom>
          <a:noFill/>
        </p:spPr>
        <p:txBody>
          <a:bodyPr wrap="square">
            <a:spAutoFit/>
          </a:bodyPr>
          <a:lstStyle/>
          <a:p>
            <a:pPr algn="l">
              <a:defRPr sz="1100" b="1">
                <a:solidFill>
                  <a:srgbClr val="97423E"/>
                </a:solidFill>
                <a:latin typeface="Aptos"/>
              </a:defRPr>
            </a:pPr>
            <a:r>
              <a:t>Level 3: canonical 3D</a:t>
            </a:r>
          </a:p>
        </p:txBody>
      </p:sp>
      <p:sp>
        <p:nvSpPr>
          <p:cNvPr id="13" name="TextBox 12"/>
          <p:cNvSpPr txBox="1"/>
          <p:nvPr/>
        </p:nvSpPr>
        <p:spPr>
          <a:xfrm>
            <a:off x="969264" y="4507992"/>
            <a:ext cx="4782312" cy="1088136"/>
          </a:xfrm>
          <a:prstGeom prst="rect">
            <a:avLst/>
          </a:prstGeom>
          <a:noFill/>
        </p:spPr>
        <p:txBody>
          <a:bodyPr wrap="square">
            <a:spAutoFit/>
          </a:bodyPr>
          <a:lstStyle/>
          <a:p>
            <a:pPr algn="l">
              <a:defRPr sz="1000" b="0">
                <a:solidFill>
                  <a:srgbClr val="302422"/>
                </a:solidFill>
                <a:latin typeface="Aptos"/>
              </a:defRPr>
            </a:pPr>
            <a:r>
              <a:t>Rectangular, Cylinder, Stacked Cubes and L-Shape Prism test whether the method remains stable when geometric complexity increases.</a:t>
            </a:r>
          </a:p>
        </p:txBody>
      </p:sp>
      <p:sp>
        <p:nvSpPr>
          <p:cNvPr id="14" name="Rectangle 13"/>
          <p:cNvSpPr/>
          <p:nvPr/>
        </p:nvSpPr>
        <p:spPr>
          <a:xfrm>
            <a:off x="6263640" y="4069080"/>
            <a:ext cx="5074920" cy="16002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4178808"/>
            <a:ext cx="4782312" cy="256032"/>
          </a:xfrm>
          <a:prstGeom prst="rect">
            <a:avLst/>
          </a:prstGeom>
          <a:noFill/>
        </p:spPr>
        <p:txBody>
          <a:bodyPr wrap="square">
            <a:spAutoFit/>
          </a:bodyPr>
          <a:lstStyle/>
          <a:p>
            <a:pPr algn="l">
              <a:defRPr sz="1100" b="1">
                <a:solidFill>
                  <a:srgbClr val="97423E"/>
                </a:solidFill>
                <a:latin typeface="Aptos"/>
              </a:defRPr>
            </a:pPr>
            <a:r>
              <a:t>Level 4: Thermal Fin</a:t>
            </a:r>
          </a:p>
        </p:txBody>
      </p:sp>
      <p:sp>
        <p:nvSpPr>
          <p:cNvPr id="16" name="TextBox 15"/>
          <p:cNvSpPr txBox="1"/>
          <p:nvPr/>
        </p:nvSpPr>
        <p:spPr>
          <a:xfrm>
            <a:off x="6409944" y="4507992"/>
            <a:ext cx="4782312" cy="1088136"/>
          </a:xfrm>
          <a:prstGeom prst="rect">
            <a:avLst/>
          </a:prstGeom>
          <a:noFill/>
        </p:spPr>
        <p:txBody>
          <a:bodyPr wrap="square">
            <a:spAutoFit/>
          </a:bodyPr>
          <a:lstStyle/>
          <a:p>
            <a:pPr algn="l">
              <a:defRPr sz="1000" b="0">
                <a:solidFill>
                  <a:srgbClr val="302422"/>
                </a:solidFill>
                <a:latin typeface="Aptos"/>
              </a:defRPr>
            </a:pPr>
            <a:r>
              <a:t>Thermal Fin is the most demanding benchmark; it tests anchoring, architecture capacity and Fourier features under sharp local gradients.</a:t>
            </a:r>
          </a:p>
        </p:txBody>
      </p:sp>
      <p:sp>
        <p:nvSpPr>
          <p:cNvPr id="17" name="Rectangle 16"/>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Benchmark Domains: 3D and Thermal Fin</a:t>
            </a:r>
          </a:p>
        </p:txBody>
      </p:sp>
      <p:sp>
        <p:nvSpPr>
          <p:cNvPr id="19" name="TextBox 18"/>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BENCHMARKS AND METRICS</a:t>
            </a:r>
          </a:p>
        </p:txBody>
      </p:sp>
      <p:sp>
        <p:nvSpPr>
          <p:cNvPr id="20" name="Rectangle 19"/>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2" name="TextBox 21"/>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3" name="TextBox 22"/>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4" name="Rounded Rectangle 3"/>
          <p:cNvSpPr/>
          <p:nvPr/>
        </p:nvSpPr>
        <p:spPr>
          <a:xfrm>
            <a:off x="548640" y="1097280"/>
            <a:ext cx="5806440" cy="1234440"/>
          </a:xfrm>
          <a:prstGeom prst="roundRect">
            <a:avLst/>
          </a:prstGeom>
          <a:solidFill>
            <a:srgbClr val="EFF6FF"/>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91440" wrap="square">
            <a:normAutofit/>
          </a:bodyPr>
          <a:lstStyle/>
          <a:p>
            <a:pPr algn="ctr"/>
            <a:r>
              <a:rPr sz="1500" b="1">
                <a:solidFill>
                  <a:srgbClr val="2563EB"/>
                </a:solidFill>
                <a:latin typeface="Aptos Display"/>
              </a:rPr>
              <a:t>Mean Absolute Error (MAE)</a:t>
            </a:r>
          </a:p>
          <a:p>
            <a:pPr>
              <a:spcBef>
                <a:spcPts val="500"/>
              </a:spcBef>
            </a:pPr>
            <a:r>
              <a:rPr sz="1800" b="1">
                <a:solidFill>
                  <a:srgbClr val="1F2937"/>
                </a:solidFill>
                <a:latin typeface="Aptos"/>
              </a:rPr>
              <a:t>MAE = (1/N) sum_i |T_i^PINN - T_i^FEM|</a:t>
            </a:r>
          </a:p>
          <a:p>
            <a:pPr>
              <a:spcBef>
                <a:spcPts val="600"/>
              </a:spcBef>
            </a:pPr>
            <a:r>
              <a:rPr sz="1250">
                <a:solidFill>
                  <a:srgbClr val="374151"/>
                </a:solidFill>
                <a:latin typeface="Aptos"/>
              </a:rPr>
              <a:t>Main accuracy metric. It is reported as mean-window MAE over the prediction windows.</a:t>
            </a:r>
          </a:p>
        </p:txBody>
      </p:sp>
      <p:sp>
        <p:nvSpPr>
          <p:cNvPr id="5" name="Rounded Rectangle 4"/>
          <p:cNvSpPr/>
          <p:nvPr/>
        </p:nvSpPr>
        <p:spPr>
          <a:xfrm>
            <a:off x="548640" y="2542032"/>
            <a:ext cx="5806440" cy="1325880"/>
          </a:xfrm>
          <a:prstGeom prst="roundRect">
            <a:avLst/>
          </a:prstGeom>
          <a:solidFill>
            <a:srgbClr val="F0FDF4"/>
          </a:solidFill>
          <a:ln w="1397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91440" wrap="square">
            <a:normAutofit/>
          </a:bodyPr>
          <a:lstStyle/>
          <a:p>
            <a:pPr algn="ctr"/>
            <a:r>
              <a:rPr sz="1500" b="1">
                <a:solidFill>
                  <a:srgbClr val="16A34A"/>
                </a:solidFill>
                <a:latin typeface="Aptos Display"/>
              </a:rPr>
              <a:t>Relative L2 Error</a:t>
            </a:r>
          </a:p>
          <a:p>
            <a:pPr>
              <a:spcBef>
                <a:spcPts val="500"/>
              </a:spcBef>
            </a:pPr>
            <a:r>
              <a:rPr sz="1800" b="1">
                <a:solidFill>
                  <a:srgbClr val="1F2937"/>
                </a:solidFill>
                <a:latin typeface="Aptos"/>
              </a:rPr>
              <a:t>Rel. L2 = ||T_hat - T_FEM||_2 / ||T_FEM - T_w||_2</a:t>
            </a:r>
          </a:p>
          <a:p>
            <a:pPr>
              <a:spcBef>
                <a:spcPts val="600"/>
              </a:spcBef>
            </a:pPr>
            <a:r>
              <a:rPr sz="1250">
                <a:solidFill>
                  <a:srgbClr val="374151"/>
                </a:solidFill>
                <a:latin typeface="Aptos"/>
              </a:rPr>
              <a:t>Full-field error, normalised by the temperature change above the water bath. Here T_w = 20 deg C.</a:t>
            </a:r>
          </a:p>
        </p:txBody>
      </p:sp>
      <p:sp>
        <p:nvSpPr>
          <p:cNvPr id="6" name="Rounded Rectangle 5"/>
          <p:cNvSpPr/>
          <p:nvPr/>
        </p:nvSpPr>
        <p:spPr>
          <a:xfrm>
            <a:off x="548640" y="4160520"/>
            <a:ext cx="5806440" cy="1234440"/>
          </a:xfrm>
          <a:prstGeom prst="roundRect">
            <a:avLst/>
          </a:prstGeom>
          <a:solidFill>
            <a:srgbClr val="FFFBEB"/>
          </a:solidFill>
          <a:ln w="1397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91440" wrap="square">
            <a:normAutofit/>
          </a:bodyPr>
          <a:lstStyle/>
          <a:p>
            <a:pPr algn="ctr"/>
            <a:r>
              <a:rPr sz="1500" b="1">
                <a:solidFill>
                  <a:srgbClr val="D97706"/>
                </a:solidFill>
                <a:latin typeface="Aptos Display"/>
              </a:rPr>
              <a:t>FEM Anchor Reduction</a:t>
            </a:r>
          </a:p>
          <a:p>
            <a:pPr>
              <a:spcBef>
                <a:spcPts val="500"/>
              </a:spcBef>
            </a:pPr>
            <a:r>
              <a:rPr sz="1800" b="1">
                <a:solidFill>
                  <a:srgbClr val="1F2937"/>
                </a:solidFill>
                <a:latin typeface="Aptos"/>
              </a:rPr>
              <a:t>R(k) = (1 - N_win(k)/20) x 100%</a:t>
            </a:r>
          </a:p>
          <a:p>
            <a:pPr>
              <a:spcBef>
                <a:spcPts val="600"/>
              </a:spcBef>
            </a:pPr>
            <a:r>
              <a:rPr sz="1250">
                <a:solidFill>
                  <a:srgbClr val="374151"/>
                </a:solidFill>
                <a:latin typeface="Aptos"/>
              </a:rPr>
              <a:t>Efficiency metric. It shows how many FEM anchor calls are saved when the PINN predicts longer windows.</a:t>
            </a:r>
          </a:p>
        </p:txBody>
      </p:sp>
      <p:sp>
        <p:nvSpPr>
          <p:cNvPr id="7" name="Rounded Rectangle 6"/>
          <p:cNvSpPr/>
          <p:nvPr/>
        </p:nvSpPr>
        <p:spPr>
          <a:xfrm>
            <a:off x="6720840" y="1097280"/>
            <a:ext cx="4709160" cy="2103120"/>
          </a:xfrm>
          <a:prstGeom prst="roundRect">
            <a:avLst/>
          </a:prstGeom>
          <a:solidFill>
            <a:srgbClr val="FEF2F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91440" wrap="square">
            <a:normAutofit/>
          </a:bodyPr>
          <a:lstStyle/>
          <a:p>
            <a:pPr algn="ctr"/>
            <a:r>
              <a:rPr sz="1500" b="1">
                <a:solidFill>
                  <a:srgbClr val="B91C1C"/>
                </a:solidFill>
                <a:latin typeface="Aptos Display"/>
              </a:rPr>
              <a:t>How I read the numbers</a:t>
            </a:r>
          </a:p>
          <a:p>
            <a:pPr>
              <a:spcBef>
                <a:spcPts val="400"/>
              </a:spcBef>
            </a:pPr>
            <a:r>
              <a:rPr sz="1280">
                <a:solidFill>
                  <a:srgbClr val="374151"/>
                </a:solidFill>
                <a:latin typeface="Aptos"/>
              </a:rPr>
              <a:t>MAE: average temperature error in deg C.</a:t>
            </a:r>
          </a:p>
          <a:p>
            <a:pPr>
              <a:spcBef>
                <a:spcPts val="400"/>
              </a:spcBef>
            </a:pPr>
            <a:r>
              <a:rPr sz="1280">
                <a:solidFill>
                  <a:srgbClr val="374151"/>
                </a:solidFill>
                <a:latin typeface="Aptos"/>
              </a:rPr>
              <a:t>Relative L2: spatial field quality at 30 s.</a:t>
            </a:r>
          </a:p>
          <a:p>
            <a:pPr>
              <a:spcBef>
                <a:spcPts val="400"/>
              </a:spcBef>
            </a:pPr>
            <a:r>
              <a:rPr sz="1280">
                <a:solidFill>
                  <a:srgbClr val="374151"/>
                </a:solidFill>
                <a:latin typeface="Aptos"/>
              </a:rPr>
              <a:t>R(k): saved FEM solver calls.</a:t>
            </a:r>
          </a:p>
          <a:p>
            <a:pPr>
              <a:spcBef>
                <a:spcPts val="400"/>
              </a:spcBef>
            </a:pPr>
            <a:r>
              <a:rPr sz="1280">
                <a:solidFill>
                  <a:srgbClr val="374151"/>
                </a:solidFill>
                <a:latin typeface="Aptos"/>
              </a:rPr>
              <a:t>Together, they show the trade-off between accuracy and computational cost.</a:t>
            </a:r>
          </a:p>
        </p:txBody>
      </p:sp>
      <p:sp>
        <p:nvSpPr>
          <p:cNvPr id="8" name="Rounded Rectangle 7"/>
          <p:cNvSpPr/>
          <p:nvPr/>
        </p:nvSpPr>
        <p:spPr>
          <a:xfrm>
            <a:off x="6720840" y="3520440"/>
            <a:ext cx="4709160" cy="169164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lIns="164592" rIns="164592" tIns="109728" bIns="91440" wrap="square">
            <a:normAutofit/>
          </a:bodyPr>
          <a:lstStyle/>
          <a:p>
            <a:pPr algn="ctr"/>
            <a:r>
              <a:rPr sz="1500" b="1">
                <a:solidFill>
                  <a:srgbClr val="2563EB"/>
                </a:solidFill>
                <a:latin typeface="Aptos Display"/>
              </a:rPr>
              <a:t>Important note from the report</a:t>
            </a:r>
          </a:p>
          <a:p>
            <a:pPr>
              <a:spcBef>
                <a:spcPts val="400"/>
              </a:spcBef>
            </a:pPr>
            <a:r>
              <a:rPr sz="1280">
                <a:solidFill>
                  <a:srgbClr val="374151"/>
                </a:solidFill>
                <a:latin typeface="Aptos"/>
              </a:rPr>
              <a:t>Final-window MAE alone can be misleading in PINN-only tests.</a:t>
            </a:r>
          </a:p>
          <a:p>
            <a:pPr>
              <a:spcBef>
                <a:spcPts val="400"/>
              </a:spcBef>
            </a:pPr>
            <a:r>
              <a:rPr sz="1280">
                <a:solidFill>
                  <a:srgbClr val="374151"/>
                </a:solidFill>
                <a:latin typeface="Aptos"/>
              </a:rPr>
              <a:t>Near 30 s, the field naturally moves toward the water temperature.</a:t>
            </a:r>
          </a:p>
          <a:p>
            <a:pPr>
              <a:spcBef>
                <a:spcPts val="400"/>
              </a:spcBef>
            </a:pPr>
            <a:r>
              <a:rPr sz="1280">
                <a:solidFill>
                  <a:srgbClr val="374151"/>
                </a:solidFill>
                <a:latin typeface="Aptos"/>
              </a:rPr>
              <a:t>So the mean-window MAE is used as the primary metric.</a:t>
            </a:r>
          </a:p>
        </p:txBody>
      </p:sp>
      <p:sp>
        <p:nvSpPr>
          <p:cNvPr id="9" name="TextBox 8"/>
          <p:cNvSpPr txBox="1"/>
          <p:nvPr/>
        </p:nvSpPr>
        <p:spPr>
          <a:xfrm>
            <a:off x="6766560" y="5650992"/>
            <a:ext cx="4389120" cy="256032"/>
          </a:xfrm>
          <a:prstGeom prst="rect">
            <a:avLst/>
          </a:prstGeom>
          <a:noFill/>
        </p:spPr>
        <p:txBody>
          <a:bodyPr wrap="square">
            <a:normAutofit/>
          </a:bodyPr>
          <a:lstStyle/>
          <a:p>
            <a:r>
              <a:rPr sz="1050" b="0">
                <a:solidFill>
                  <a:srgbClr val="6B7280"/>
                </a:solidFill>
                <a:latin typeface="Aptos"/>
              </a:rPr>
              <a:t>Source: Chapter 3, Evaluation Metrics.</a:t>
            </a:r>
          </a:p>
        </p:txBody>
      </p:sp>
      <p:sp>
        <p:nvSpPr>
          <p:cNvPr id="10" name="Rectangle 9"/>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Evaluation Metrics</a:t>
            </a:r>
          </a:p>
        </p:txBody>
      </p:sp>
      <p:sp>
        <p:nvSpPr>
          <p:cNvPr id="12" name="TextBox 11"/>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BENCHMARKS AND METRICS</a:t>
            </a:r>
          </a:p>
        </p:txBody>
      </p:sp>
      <p:sp>
        <p:nvSpPr>
          <p:cNvPr id="13" name="Rectangle 12"/>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5" name="TextBox 14"/>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6" name="TextBox 15"/>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51560"/>
            <a:ext cx="55321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2.png"/>
          <p:cNvPicPr>
            <a:picLocks noChangeAspect="1"/>
          </p:cNvPicPr>
          <p:nvPr/>
        </p:nvPicPr>
        <p:blipFill>
          <a:blip r:embed="rId3"/>
          <a:stretch>
            <a:fillRect/>
          </a:stretch>
        </p:blipFill>
        <p:spPr>
          <a:xfrm>
            <a:off x="962117" y="1124712"/>
            <a:ext cx="4430844" cy="3739896"/>
          </a:xfrm>
          <a:prstGeom prst="rect">
            <a:avLst/>
          </a:prstGeom>
        </p:spPr>
      </p:pic>
      <p:sp>
        <p:nvSpPr>
          <p:cNvPr id="11" name="Rectangle 10"/>
          <p:cNvSpPr/>
          <p:nvPr/>
        </p:nvSpPr>
        <p:spPr>
          <a:xfrm>
            <a:off x="6080760" y="1051560"/>
            <a:ext cx="50749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ble D.5.png"/>
          <p:cNvPicPr>
            <a:picLocks noChangeAspect="1"/>
          </p:cNvPicPr>
          <p:nvPr/>
        </p:nvPicPr>
        <p:blipFill>
          <a:blip r:embed="rId4"/>
          <a:stretch>
            <a:fillRect/>
          </a:stretch>
        </p:blipFill>
        <p:spPr>
          <a:xfrm>
            <a:off x="6153912" y="1301673"/>
            <a:ext cx="4928616" cy="3385972"/>
          </a:xfrm>
          <a:prstGeom prst="rect">
            <a:avLst/>
          </a:prstGeom>
        </p:spPr>
      </p:pic>
      <p:sp>
        <p:nvSpPr>
          <p:cNvPr id="13" name="Rectangle 12"/>
          <p:cNvSpPr/>
          <p:nvPr/>
        </p:nvSpPr>
        <p:spPr>
          <a:xfrm>
            <a:off x="594360" y="5166360"/>
            <a:ext cx="3337560" cy="8686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5276088"/>
            <a:ext cx="3044952" cy="256032"/>
          </a:xfrm>
          <a:prstGeom prst="rect">
            <a:avLst/>
          </a:prstGeom>
          <a:noFill/>
        </p:spPr>
        <p:txBody>
          <a:bodyPr wrap="square">
            <a:spAutoFit/>
          </a:bodyPr>
          <a:lstStyle/>
          <a:p>
            <a:pPr algn="l">
              <a:defRPr sz="1100" b="1">
                <a:solidFill>
                  <a:srgbClr val="97423E"/>
                </a:solidFill>
                <a:latin typeface="Aptos"/>
              </a:defRPr>
            </a:pPr>
            <a:r>
              <a:t>MAE</a:t>
            </a:r>
          </a:p>
        </p:txBody>
      </p:sp>
      <p:sp>
        <p:nvSpPr>
          <p:cNvPr id="15" name="TextBox 14"/>
          <p:cNvSpPr txBox="1"/>
          <p:nvPr/>
        </p:nvSpPr>
        <p:spPr>
          <a:xfrm>
            <a:off x="740664" y="5605272"/>
            <a:ext cx="3044952" cy="356615"/>
          </a:xfrm>
          <a:prstGeom prst="rect">
            <a:avLst/>
          </a:prstGeom>
          <a:noFill/>
        </p:spPr>
        <p:txBody>
          <a:bodyPr wrap="square">
            <a:spAutoFit/>
          </a:bodyPr>
          <a:lstStyle/>
          <a:p>
            <a:pPr algn="l">
              <a:defRPr sz="1000" b="0">
                <a:solidFill>
                  <a:srgbClr val="302422"/>
                </a:solidFill>
                <a:latin typeface="Aptos"/>
              </a:defRPr>
            </a:pPr>
            <a:r>
              <a:t>Average Celsius error over windows. It answers: how large is the temperature error on average?</a:t>
            </a:r>
          </a:p>
        </p:txBody>
      </p:sp>
      <p:sp>
        <p:nvSpPr>
          <p:cNvPr id="16" name="Rectangle 15"/>
          <p:cNvSpPr/>
          <p:nvPr/>
        </p:nvSpPr>
        <p:spPr>
          <a:xfrm>
            <a:off x="4160520" y="5166360"/>
            <a:ext cx="3337560" cy="8686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6824" y="5276088"/>
            <a:ext cx="3044952" cy="256032"/>
          </a:xfrm>
          <a:prstGeom prst="rect">
            <a:avLst/>
          </a:prstGeom>
          <a:noFill/>
        </p:spPr>
        <p:txBody>
          <a:bodyPr wrap="square">
            <a:spAutoFit/>
          </a:bodyPr>
          <a:lstStyle/>
          <a:p>
            <a:pPr algn="l">
              <a:defRPr sz="1100" b="1">
                <a:solidFill>
                  <a:srgbClr val="97423E"/>
                </a:solidFill>
                <a:latin typeface="Aptos"/>
              </a:defRPr>
            </a:pPr>
            <a:r>
              <a:t>L2</a:t>
            </a:r>
          </a:p>
        </p:txBody>
      </p:sp>
      <p:sp>
        <p:nvSpPr>
          <p:cNvPr id="18" name="TextBox 17"/>
          <p:cNvSpPr txBox="1"/>
          <p:nvPr/>
        </p:nvSpPr>
        <p:spPr>
          <a:xfrm>
            <a:off x="4306824" y="5605272"/>
            <a:ext cx="3044952" cy="356615"/>
          </a:xfrm>
          <a:prstGeom prst="rect">
            <a:avLst/>
          </a:prstGeom>
          <a:noFill/>
        </p:spPr>
        <p:txBody>
          <a:bodyPr wrap="square">
            <a:spAutoFit/>
          </a:bodyPr>
          <a:lstStyle/>
          <a:p>
            <a:pPr algn="l">
              <a:defRPr sz="1000" b="0">
                <a:solidFill>
                  <a:srgbClr val="302422"/>
                </a:solidFill>
                <a:latin typeface="Aptos"/>
              </a:defRPr>
            </a:pPr>
            <a:r>
              <a:t>Relative field error at t=30 s. It answers: is the full spatial field close to FEM?</a:t>
            </a:r>
          </a:p>
        </p:txBody>
      </p:sp>
      <p:sp>
        <p:nvSpPr>
          <p:cNvPr id="19" name="Rectangle 18"/>
          <p:cNvSpPr/>
          <p:nvPr/>
        </p:nvSpPr>
        <p:spPr>
          <a:xfrm>
            <a:off x="7726679" y="5166360"/>
            <a:ext cx="3154680" cy="8686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2983" y="5276088"/>
            <a:ext cx="2862072" cy="256032"/>
          </a:xfrm>
          <a:prstGeom prst="rect">
            <a:avLst/>
          </a:prstGeom>
          <a:noFill/>
        </p:spPr>
        <p:txBody>
          <a:bodyPr wrap="square">
            <a:spAutoFit/>
          </a:bodyPr>
          <a:lstStyle/>
          <a:p>
            <a:pPr algn="l">
              <a:defRPr sz="1100" b="1">
                <a:solidFill>
                  <a:srgbClr val="97423E"/>
                </a:solidFill>
                <a:latin typeface="Aptos"/>
              </a:defRPr>
            </a:pPr>
            <a:r>
              <a:t>Key result</a:t>
            </a:r>
          </a:p>
        </p:txBody>
      </p:sp>
      <p:sp>
        <p:nvSpPr>
          <p:cNvPr id="21" name="TextBox 20"/>
          <p:cNvSpPr txBox="1"/>
          <p:nvPr/>
        </p:nvSpPr>
        <p:spPr>
          <a:xfrm>
            <a:off x="7872983" y="5605272"/>
            <a:ext cx="2862072" cy="356615"/>
          </a:xfrm>
          <a:prstGeom prst="rect">
            <a:avLst/>
          </a:prstGeom>
          <a:noFill/>
        </p:spPr>
        <p:txBody>
          <a:bodyPr wrap="square">
            <a:spAutoFit/>
          </a:bodyPr>
          <a:lstStyle/>
          <a:p>
            <a:pPr algn="l">
              <a:defRPr sz="1000" b="0">
                <a:solidFill>
                  <a:srgbClr val="302422"/>
                </a:solidFill>
                <a:latin typeface="Aptos"/>
              </a:defRPr>
            </a:pPr>
            <a:r>
              <a:t>Low MAE and low L2: adaptive-k saves FEM calls without losing field quality.</a:t>
            </a:r>
          </a:p>
        </p:txBody>
      </p:sp>
      <p:sp>
        <p:nvSpPr>
          <p:cNvPr id="22" name="Rectangle 2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2D Adaptive-k: MAE and L2 Summary</a:t>
            </a:r>
          </a:p>
        </p:txBody>
      </p:sp>
      <p:sp>
        <p:nvSpPr>
          <p:cNvPr id="24" name="TextBox 2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5" name="Rectangle 2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7" name="TextBox 2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8" name="TextBox 2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868680"/>
            <a:ext cx="2743200" cy="1965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em_pinn_adaptive_k_square.png"/>
          <p:cNvPicPr>
            <a:picLocks noChangeAspect="1"/>
          </p:cNvPicPr>
          <p:nvPr/>
        </p:nvPicPr>
        <p:blipFill>
          <a:blip r:embed="rId3"/>
          <a:stretch>
            <a:fillRect/>
          </a:stretch>
        </p:blipFill>
        <p:spPr>
          <a:xfrm>
            <a:off x="576072" y="1374309"/>
            <a:ext cx="2596896" cy="954701"/>
          </a:xfrm>
          <a:prstGeom prst="rect">
            <a:avLst/>
          </a:prstGeom>
        </p:spPr>
      </p:pic>
      <p:sp>
        <p:nvSpPr>
          <p:cNvPr id="9" name="Rectangle 8"/>
          <p:cNvSpPr/>
          <p:nvPr/>
        </p:nvSpPr>
        <p:spPr>
          <a:xfrm>
            <a:off x="3429000" y="868680"/>
            <a:ext cx="2743200" cy="1965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em_pinn_adaptive_k_circle.png"/>
          <p:cNvPicPr>
            <a:picLocks noChangeAspect="1"/>
          </p:cNvPicPr>
          <p:nvPr/>
        </p:nvPicPr>
        <p:blipFill>
          <a:blip r:embed="rId4"/>
          <a:stretch>
            <a:fillRect/>
          </a:stretch>
        </p:blipFill>
        <p:spPr>
          <a:xfrm>
            <a:off x="3502152" y="1374309"/>
            <a:ext cx="2596896" cy="954701"/>
          </a:xfrm>
          <a:prstGeom prst="rect">
            <a:avLst/>
          </a:prstGeom>
        </p:spPr>
      </p:pic>
      <p:sp>
        <p:nvSpPr>
          <p:cNvPr id="11" name="Rectangle 10"/>
          <p:cNvSpPr/>
          <p:nvPr/>
        </p:nvSpPr>
        <p:spPr>
          <a:xfrm>
            <a:off x="6355080" y="868680"/>
            <a:ext cx="2743200" cy="1965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em_pinn_adaptive_k_lshape.png"/>
          <p:cNvPicPr>
            <a:picLocks noChangeAspect="1"/>
          </p:cNvPicPr>
          <p:nvPr/>
        </p:nvPicPr>
        <p:blipFill>
          <a:blip r:embed="rId5"/>
          <a:stretch>
            <a:fillRect/>
          </a:stretch>
        </p:blipFill>
        <p:spPr>
          <a:xfrm>
            <a:off x="6428232" y="1374309"/>
            <a:ext cx="2596896" cy="954701"/>
          </a:xfrm>
          <a:prstGeom prst="rect">
            <a:avLst/>
          </a:prstGeom>
        </p:spPr>
      </p:pic>
      <p:sp>
        <p:nvSpPr>
          <p:cNvPr id="13" name="Rectangle 12"/>
          <p:cNvSpPr/>
          <p:nvPr/>
        </p:nvSpPr>
        <p:spPr>
          <a:xfrm>
            <a:off x="9281160" y="868680"/>
            <a:ext cx="2514600" cy="1965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em_pinn_adaptive_k_flower.png"/>
          <p:cNvPicPr>
            <a:picLocks noChangeAspect="1"/>
          </p:cNvPicPr>
          <p:nvPr/>
        </p:nvPicPr>
        <p:blipFill>
          <a:blip r:embed="rId6"/>
          <a:stretch>
            <a:fillRect/>
          </a:stretch>
        </p:blipFill>
        <p:spPr>
          <a:xfrm>
            <a:off x="9354312" y="1416329"/>
            <a:ext cx="2368296" cy="870661"/>
          </a:xfrm>
          <a:prstGeom prst="rect">
            <a:avLst/>
          </a:prstGeom>
        </p:spPr>
      </p:pic>
      <p:sp>
        <p:nvSpPr>
          <p:cNvPr id="15" name="Rectangle 14"/>
          <p:cNvSpPr/>
          <p:nvPr/>
        </p:nvSpPr>
        <p:spPr>
          <a:xfrm>
            <a:off x="731520" y="3337560"/>
            <a:ext cx="3566160" cy="13716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447288"/>
            <a:ext cx="3273552" cy="256032"/>
          </a:xfrm>
          <a:prstGeom prst="rect">
            <a:avLst/>
          </a:prstGeom>
          <a:noFill/>
        </p:spPr>
        <p:txBody>
          <a:bodyPr wrap="square">
            <a:spAutoFit/>
          </a:bodyPr>
          <a:lstStyle/>
          <a:p>
            <a:pPr algn="l">
              <a:defRPr sz="1100" b="1">
                <a:solidFill>
                  <a:srgbClr val="97423E"/>
                </a:solidFill>
                <a:latin typeface="Aptos"/>
              </a:defRPr>
            </a:pPr>
            <a:r>
              <a:t>What I found</a:t>
            </a:r>
          </a:p>
        </p:txBody>
      </p:sp>
      <p:sp>
        <p:nvSpPr>
          <p:cNvPr id="17" name="TextBox 16"/>
          <p:cNvSpPr txBox="1"/>
          <p:nvPr/>
        </p:nvSpPr>
        <p:spPr>
          <a:xfrm>
            <a:off x="877824" y="3776472"/>
            <a:ext cx="3273552" cy="859536"/>
          </a:xfrm>
          <a:prstGeom prst="rect">
            <a:avLst/>
          </a:prstGeom>
          <a:noFill/>
        </p:spPr>
        <p:txBody>
          <a:bodyPr wrap="square">
            <a:spAutoFit/>
          </a:bodyPr>
          <a:lstStyle/>
          <a:p>
            <a:pPr algn="l">
              <a:defRPr sz="1000" b="0">
                <a:solidFill>
                  <a:srgbClr val="302422"/>
                </a:solidFill>
                <a:latin typeface="Aptos"/>
              </a:defRPr>
            </a:pPr>
            <a:r>
              <a:t>FEM and PINN curves are close. Error is highest in early windows.</a:t>
            </a:r>
          </a:p>
        </p:txBody>
      </p:sp>
      <p:sp>
        <p:nvSpPr>
          <p:cNvPr id="18" name="Rectangle 17"/>
          <p:cNvSpPr/>
          <p:nvPr/>
        </p:nvSpPr>
        <p:spPr>
          <a:xfrm>
            <a:off x="4526280" y="3337560"/>
            <a:ext cx="3566160" cy="13716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72584" y="3447288"/>
            <a:ext cx="3273552" cy="256032"/>
          </a:xfrm>
          <a:prstGeom prst="rect">
            <a:avLst/>
          </a:prstGeom>
          <a:noFill/>
        </p:spPr>
        <p:txBody>
          <a:bodyPr wrap="square">
            <a:spAutoFit/>
          </a:bodyPr>
          <a:lstStyle/>
          <a:p>
            <a:pPr algn="l">
              <a:defRPr sz="1100" b="1">
                <a:solidFill>
                  <a:srgbClr val="97423E"/>
                </a:solidFill>
                <a:latin typeface="Aptos"/>
              </a:defRPr>
            </a:pPr>
            <a:r>
              <a:t>Why it happens</a:t>
            </a:r>
          </a:p>
        </p:txBody>
      </p:sp>
      <p:sp>
        <p:nvSpPr>
          <p:cNvPr id="20" name="TextBox 19"/>
          <p:cNvSpPr txBox="1"/>
          <p:nvPr/>
        </p:nvSpPr>
        <p:spPr>
          <a:xfrm>
            <a:off x="4672584" y="3776472"/>
            <a:ext cx="3273552" cy="859536"/>
          </a:xfrm>
          <a:prstGeom prst="rect">
            <a:avLst/>
          </a:prstGeom>
          <a:noFill/>
        </p:spPr>
        <p:txBody>
          <a:bodyPr wrap="square">
            <a:spAutoFit/>
          </a:bodyPr>
          <a:lstStyle/>
          <a:p>
            <a:pPr algn="l">
              <a:defRPr sz="1000" b="0">
                <a:solidFill>
                  <a:srgbClr val="302422"/>
                </a:solidFill>
                <a:latin typeface="Aptos"/>
              </a:defRPr>
            </a:pPr>
            <a:r>
              <a:t>Early cooling has steep gradients. Complex boundaries make local errors harder.</a:t>
            </a:r>
          </a:p>
        </p:txBody>
      </p:sp>
      <p:sp>
        <p:nvSpPr>
          <p:cNvPr id="21" name="Rectangle 20"/>
          <p:cNvSpPr/>
          <p:nvPr/>
        </p:nvSpPr>
        <p:spPr>
          <a:xfrm>
            <a:off x="8321040" y="3337560"/>
            <a:ext cx="2788920" cy="13716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67344" y="3447288"/>
            <a:ext cx="2496312" cy="256032"/>
          </a:xfrm>
          <a:prstGeom prst="rect">
            <a:avLst/>
          </a:prstGeom>
          <a:noFill/>
        </p:spPr>
        <p:txBody>
          <a:bodyPr wrap="square">
            <a:spAutoFit/>
          </a:bodyPr>
          <a:lstStyle/>
          <a:p>
            <a:pPr algn="l">
              <a:defRPr sz="1100" b="1">
                <a:solidFill>
                  <a:srgbClr val="97423E"/>
                </a:solidFill>
                <a:latin typeface="Aptos"/>
              </a:defRPr>
            </a:pPr>
            <a:r>
              <a:t>Result link</a:t>
            </a:r>
          </a:p>
        </p:txBody>
      </p:sp>
      <p:sp>
        <p:nvSpPr>
          <p:cNvPr id="23" name="TextBox 22"/>
          <p:cNvSpPr txBox="1"/>
          <p:nvPr/>
        </p:nvSpPr>
        <p:spPr>
          <a:xfrm>
            <a:off x="8467344" y="3776472"/>
            <a:ext cx="2496312" cy="859536"/>
          </a:xfrm>
          <a:prstGeom prst="rect">
            <a:avLst/>
          </a:prstGeom>
          <a:noFill/>
        </p:spPr>
        <p:txBody>
          <a:bodyPr wrap="square">
            <a:spAutoFit/>
          </a:bodyPr>
          <a:lstStyle/>
          <a:p>
            <a:pPr algn="l">
              <a:defRPr sz="1000" b="0">
                <a:solidFill>
                  <a:srgbClr val="302422"/>
                </a:solidFill>
                <a:latin typeface="Aptos"/>
              </a:defRPr>
            </a:pPr>
            <a:r>
              <a:t>I use this to explain why adaptive-k works and why L2 stays low.</a:t>
            </a:r>
          </a:p>
        </p:txBody>
      </p:sp>
      <p:sp>
        <p:nvSpPr>
          <p:cNvPr id="24" name="Rectangle 23"/>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2D Adaptive-k: Figure 4.1 FEM-PINN Curves</a:t>
            </a:r>
          </a:p>
        </p:txBody>
      </p:sp>
      <p:sp>
        <p:nvSpPr>
          <p:cNvPr id="26" name="TextBox 25"/>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7" name="Rectangle 26"/>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9" name="TextBox 28"/>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30" name="TextBox 29"/>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051560"/>
            <a:ext cx="438912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3.png"/>
          <p:cNvPicPr>
            <a:picLocks noChangeAspect="1"/>
          </p:cNvPicPr>
          <p:nvPr/>
        </p:nvPicPr>
        <p:blipFill>
          <a:blip r:embed="rId3"/>
          <a:stretch>
            <a:fillRect/>
          </a:stretch>
        </p:blipFill>
        <p:spPr>
          <a:xfrm>
            <a:off x="758952" y="1457418"/>
            <a:ext cx="4242816" cy="2617283"/>
          </a:xfrm>
          <a:prstGeom prst="rect">
            <a:avLst/>
          </a:prstGeom>
        </p:spPr>
      </p:pic>
      <p:sp>
        <p:nvSpPr>
          <p:cNvPr id="11" name="Rectangle 10"/>
          <p:cNvSpPr/>
          <p:nvPr/>
        </p:nvSpPr>
        <p:spPr>
          <a:xfrm>
            <a:off x="5349240" y="1051560"/>
            <a:ext cx="566928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daptive_k_2d_canonical_schedules_table.png"/>
          <p:cNvPicPr>
            <a:picLocks noChangeAspect="1"/>
          </p:cNvPicPr>
          <p:nvPr/>
        </p:nvPicPr>
        <p:blipFill>
          <a:blip r:embed="rId4"/>
          <a:stretch>
            <a:fillRect/>
          </a:stretch>
        </p:blipFill>
        <p:spPr>
          <a:xfrm>
            <a:off x="5422392" y="1294212"/>
            <a:ext cx="5522976" cy="2943694"/>
          </a:xfrm>
          <a:prstGeom prst="rect">
            <a:avLst/>
          </a:prstGeom>
        </p:spPr>
      </p:pic>
      <p:sp>
        <p:nvSpPr>
          <p:cNvPr id="13" name="Rectangle 12"/>
          <p:cNvSpPr/>
          <p:nvPr/>
        </p:nvSpPr>
        <p:spPr>
          <a:xfrm>
            <a:off x="914400" y="4892040"/>
            <a:ext cx="10378440" cy="8229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5001768"/>
            <a:ext cx="10085832" cy="256032"/>
          </a:xfrm>
          <a:prstGeom prst="rect">
            <a:avLst/>
          </a:prstGeom>
          <a:noFill/>
        </p:spPr>
        <p:txBody>
          <a:bodyPr wrap="square">
            <a:spAutoFit/>
          </a:bodyPr>
          <a:lstStyle/>
          <a:p>
            <a:pPr algn="l">
              <a:defRPr sz="1100" b="1">
                <a:solidFill>
                  <a:srgbClr val="97423E"/>
                </a:solidFill>
                <a:latin typeface="Aptos"/>
              </a:defRPr>
            </a:pPr>
            <a:r>
              <a:t>Why this helps</a:t>
            </a:r>
          </a:p>
        </p:txBody>
      </p:sp>
      <p:sp>
        <p:nvSpPr>
          <p:cNvPr id="15" name="TextBox 14"/>
          <p:cNvSpPr txBox="1"/>
          <p:nvPr/>
        </p:nvSpPr>
        <p:spPr>
          <a:xfrm>
            <a:off x="1060704" y="5330952"/>
            <a:ext cx="10085832" cy="310896"/>
          </a:xfrm>
          <a:prstGeom prst="rect">
            <a:avLst/>
          </a:prstGeom>
          <a:noFill/>
        </p:spPr>
        <p:txBody>
          <a:bodyPr wrap="square">
            <a:spAutoFit/>
          </a:bodyPr>
          <a:lstStyle/>
          <a:p>
            <a:pPr algn="l">
              <a:defRPr sz="1000" b="0">
                <a:solidFill>
                  <a:srgbClr val="302422"/>
                </a:solidFill>
                <a:latin typeface="Aptos"/>
              </a:defRPr>
            </a:pPr>
            <a:r>
              <a:t>The setup gives the experiment rules. The schedule table shows when FEM calls are skipped. Read them together before judging MAE and L2.</a:t>
            </a:r>
          </a:p>
        </p:txBody>
      </p:sp>
      <p:sp>
        <p:nvSpPr>
          <p:cNvPr id="16" name="Rectangle 1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Canonical 2D: Setup and Adaptive-k Schedule</a:t>
            </a:r>
          </a:p>
        </p:txBody>
      </p:sp>
      <p:sp>
        <p:nvSpPr>
          <p:cNvPr id="18" name="TextBox 1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19" name="Rectangle 1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1" name="TextBox 2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2" name="TextBox 2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51560"/>
            <a:ext cx="55321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4.png"/>
          <p:cNvPicPr>
            <a:picLocks noChangeAspect="1"/>
          </p:cNvPicPr>
          <p:nvPr/>
        </p:nvPicPr>
        <p:blipFill>
          <a:blip r:embed="rId3"/>
          <a:stretch>
            <a:fillRect/>
          </a:stretch>
        </p:blipFill>
        <p:spPr>
          <a:xfrm>
            <a:off x="484632" y="1561195"/>
            <a:ext cx="5385816" cy="2866929"/>
          </a:xfrm>
          <a:prstGeom prst="rect">
            <a:avLst/>
          </a:prstGeom>
        </p:spPr>
      </p:pic>
      <p:sp>
        <p:nvSpPr>
          <p:cNvPr id="11" name="Rectangle 10"/>
          <p:cNvSpPr/>
          <p:nvPr/>
        </p:nvSpPr>
        <p:spPr>
          <a:xfrm>
            <a:off x="6080760" y="1051560"/>
            <a:ext cx="50749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ble D.13.png"/>
          <p:cNvPicPr>
            <a:picLocks noChangeAspect="1"/>
          </p:cNvPicPr>
          <p:nvPr/>
        </p:nvPicPr>
        <p:blipFill>
          <a:blip r:embed="rId4"/>
          <a:stretch>
            <a:fillRect/>
          </a:stretch>
        </p:blipFill>
        <p:spPr>
          <a:xfrm>
            <a:off x="6153912" y="1654728"/>
            <a:ext cx="4928616" cy="2679862"/>
          </a:xfrm>
          <a:prstGeom prst="rect">
            <a:avLst/>
          </a:prstGeom>
        </p:spPr>
      </p:pic>
      <p:sp>
        <p:nvSpPr>
          <p:cNvPr id="13" name="Rectangle 12"/>
          <p:cNvSpPr/>
          <p:nvPr/>
        </p:nvSpPr>
        <p:spPr>
          <a:xfrm>
            <a:off x="594360" y="5166360"/>
            <a:ext cx="3337560" cy="8686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5276088"/>
            <a:ext cx="3044952" cy="256032"/>
          </a:xfrm>
          <a:prstGeom prst="rect">
            <a:avLst/>
          </a:prstGeom>
          <a:noFill/>
        </p:spPr>
        <p:txBody>
          <a:bodyPr wrap="square">
            <a:spAutoFit/>
          </a:bodyPr>
          <a:lstStyle/>
          <a:p>
            <a:pPr algn="l">
              <a:defRPr sz="1100" b="1">
                <a:solidFill>
                  <a:srgbClr val="97423E"/>
                </a:solidFill>
                <a:latin typeface="Aptos"/>
              </a:defRPr>
            </a:pPr>
            <a:r>
              <a:t>MAE</a:t>
            </a:r>
          </a:p>
        </p:txBody>
      </p:sp>
      <p:sp>
        <p:nvSpPr>
          <p:cNvPr id="15" name="TextBox 14"/>
          <p:cNvSpPr txBox="1"/>
          <p:nvPr/>
        </p:nvSpPr>
        <p:spPr>
          <a:xfrm>
            <a:off x="740664" y="5605272"/>
            <a:ext cx="3044952" cy="356615"/>
          </a:xfrm>
          <a:prstGeom prst="rect">
            <a:avLst/>
          </a:prstGeom>
          <a:noFill/>
        </p:spPr>
        <p:txBody>
          <a:bodyPr wrap="square">
            <a:spAutoFit/>
          </a:bodyPr>
          <a:lstStyle/>
          <a:p>
            <a:pPr algn="l">
              <a:defRPr sz="1000" b="0">
                <a:solidFill>
                  <a:srgbClr val="302422"/>
                </a:solidFill>
                <a:latin typeface="Aptos"/>
              </a:defRPr>
            </a:pPr>
            <a:r>
              <a:t>Average error across windows. It is the engineering temperature error.</a:t>
            </a:r>
          </a:p>
        </p:txBody>
      </p:sp>
      <p:sp>
        <p:nvSpPr>
          <p:cNvPr id="16" name="Rectangle 15"/>
          <p:cNvSpPr/>
          <p:nvPr/>
        </p:nvSpPr>
        <p:spPr>
          <a:xfrm>
            <a:off x="4160520" y="5166360"/>
            <a:ext cx="3337560" cy="8686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6824" y="5276088"/>
            <a:ext cx="3044952" cy="256032"/>
          </a:xfrm>
          <a:prstGeom prst="rect">
            <a:avLst/>
          </a:prstGeom>
          <a:noFill/>
        </p:spPr>
        <p:txBody>
          <a:bodyPr wrap="square">
            <a:spAutoFit/>
          </a:bodyPr>
          <a:lstStyle/>
          <a:p>
            <a:pPr algn="l">
              <a:defRPr sz="1100" b="1">
                <a:solidFill>
                  <a:srgbClr val="97423E"/>
                </a:solidFill>
                <a:latin typeface="Aptos"/>
              </a:defRPr>
            </a:pPr>
            <a:r>
              <a:t>L2</a:t>
            </a:r>
          </a:p>
        </p:txBody>
      </p:sp>
      <p:sp>
        <p:nvSpPr>
          <p:cNvPr id="18" name="TextBox 17"/>
          <p:cNvSpPr txBox="1"/>
          <p:nvPr/>
        </p:nvSpPr>
        <p:spPr>
          <a:xfrm>
            <a:off x="4306824" y="5605272"/>
            <a:ext cx="3044952" cy="356615"/>
          </a:xfrm>
          <a:prstGeom prst="rect">
            <a:avLst/>
          </a:prstGeom>
          <a:noFill/>
        </p:spPr>
        <p:txBody>
          <a:bodyPr wrap="square">
            <a:spAutoFit/>
          </a:bodyPr>
          <a:lstStyle/>
          <a:p>
            <a:pPr algn="l">
              <a:defRPr sz="1000" b="0">
                <a:solidFill>
                  <a:srgbClr val="302422"/>
                </a:solidFill>
                <a:latin typeface="Aptos"/>
              </a:defRPr>
            </a:pPr>
            <a:r>
              <a:t>Field error at t=30 s. It checks if the full temperature map is right.</a:t>
            </a:r>
          </a:p>
        </p:txBody>
      </p:sp>
      <p:sp>
        <p:nvSpPr>
          <p:cNvPr id="19" name="Rectangle 18"/>
          <p:cNvSpPr/>
          <p:nvPr/>
        </p:nvSpPr>
        <p:spPr>
          <a:xfrm>
            <a:off x="7726679" y="5166360"/>
            <a:ext cx="3154680" cy="8686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2983" y="5276088"/>
            <a:ext cx="2862072" cy="256032"/>
          </a:xfrm>
          <a:prstGeom prst="rect">
            <a:avLst/>
          </a:prstGeom>
          <a:noFill/>
        </p:spPr>
        <p:txBody>
          <a:bodyPr wrap="square">
            <a:spAutoFit/>
          </a:bodyPr>
          <a:lstStyle/>
          <a:p>
            <a:pPr algn="l">
              <a:defRPr sz="1100" b="1">
                <a:solidFill>
                  <a:srgbClr val="97423E"/>
                </a:solidFill>
                <a:latin typeface="Aptos"/>
              </a:defRPr>
            </a:pPr>
            <a:r>
              <a:t>Key result</a:t>
            </a:r>
          </a:p>
        </p:txBody>
      </p:sp>
      <p:sp>
        <p:nvSpPr>
          <p:cNvPr id="21" name="TextBox 20"/>
          <p:cNvSpPr txBox="1"/>
          <p:nvPr/>
        </p:nvSpPr>
        <p:spPr>
          <a:xfrm>
            <a:off x="7872983" y="5605272"/>
            <a:ext cx="2862072" cy="356615"/>
          </a:xfrm>
          <a:prstGeom prst="rect">
            <a:avLst/>
          </a:prstGeom>
          <a:noFill/>
        </p:spPr>
        <p:txBody>
          <a:bodyPr wrap="square">
            <a:spAutoFit/>
          </a:bodyPr>
          <a:lstStyle/>
          <a:p>
            <a:pPr algn="l">
              <a:defRPr sz="1000" b="0">
                <a:solidFill>
                  <a:srgbClr val="302422"/>
                </a:solidFill>
                <a:latin typeface="Aptos"/>
              </a:defRPr>
            </a:pPr>
            <a:r>
              <a:t>Bayesian/TPE stays strongest; high k is harder for complex geometry.</a:t>
            </a:r>
          </a:p>
        </p:txBody>
      </p:sp>
      <p:sp>
        <p:nvSpPr>
          <p:cNvPr id="22" name="Rectangle 2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Canonical 2D: MAE and L2 Summary</a:t>
            </a:r>
          </a:p>
        </p:txBody>
      </p:sp>
      <p:sp>
        <p:nvSpPr>
          <p:cNvPr id="24" name="TextBox 2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5" name="Rectangle 2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7" name="TextBox 2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8" name="TextBox 2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ed_bar_2d.png"/>
          <p:cNvPicPr>
            <a:picLocks noChangeAspect="1"/>
          </p:cNvPicPr>
          <p:nvPr/>
        </p:nvPicPr>
        <p:blipFill>
          <a:blip r:embed="rId3"/>
          <a:stretch>
            <a:fillRect/>
          </a:stretch>
        </p:blipFill>
        <p:spPr>
          <a:xfrm>
            <a:off x="576072" y="1759789"/>
            <a:ext cx="5248656" cy="1646781"/>
          </a:xfrm>
          <a:prstGeom prst="rect">
            <a:avLst/>
          </a:prstGeom>
        </p:spPr>
      </p:pic>
      <p:sp>
        <p:nvSpPr>
          <p:cNvPr id="9" name="Rectangle 8"/>
          <p:cNvSpPr/>
          <p:nvPr/>
        </p:nvSpPr>
        <p:spPr>
          <a:xfrm>
            <a:off x="626364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2_all_k_2d.png"/>
          <p:cNvPicPr>
            <a:picLocks noChangeAspect="1"/>
          </p:cNvPicPr>
          <p:nvPr/>
        </p:nvPicPr>
        <p:blipFill>
          <a:blip r:embed="rId4"/>
          <a:stretch>
            <a:fillRect/>
          </a:stretch>
        </p:blipFill>
        <p:spPr>
          <a:xfrm>
            <a:off x="6639509" y="941832"/>
            <a:ext cx="4643220" cy="3282695"/>
          </a:xfrm>
          <a:prstGeom prst="rect">
            <a:avLst/>
          </a:prstGeom>
        </p:spPr>
      </p:pic>
      <p:sp>
        <p:nvSpPr>
          <p:cNvPr id="11" name="Rectangle 10"/>
          <p:cNvSpPr/>
          <p:nvPr/>
        </p:nvSpPr>
        <p:spPr>
          <a:xfrm>
            <a:off x="685800" y="4800600"/>
            <a:ext cx="3429000" cy="9144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910328"/>
            <a:ext cx="3136392" cy="256032"/>
          </a:xfrm>
          <a:prstGeom prst="rect">
            <a:avLst/>
          </a:prstGeom>
          <a:noFill/>
        </p:spPr>
        <p:txBody>
          <a:bodyPr wrap="square">
            <a:spAutoFit/>
          </a:bodyPr>
          <a:lstStyle/>
          <a:p>
            <a:pPr algn="l">
              <a:defRPr sz="1100" b="1">
                <a:solidFill>
                  <a:srgbClr val="97423E"/>
                </a:solidFill>
                <a:latin typeface="Aptos"/>
              </a:defRPr>
            </a:pPr>
            <a:r>
              <a:t>MAE graph</a:t>
            </a:r>
          </a:p>
        </p:txBody>
      </p:sp>
      <p:sp>
        <p:nvSpPr>
          <p:cNvPr id="13" name="TextBox 12"/>
          <p:cNvSpPr txBox="1"/>
          <p:nvPr/>
        </p:nvSpPr>
        <p:spPr>
          <a:xfrm>
            <a:off x="832104" y="5239512"/>
            <a:ext cx="3136392" cy="402335"/>
          </a:xfrm>
          <a:prstGeom prst="rect">
            <a:avLst/>
          </a:prstGeom>
          <a:noFill/>
        </p:spPr>
        <p:txBody>
          <a:bodyPr wrap="square">
            <a:spAutoFit/>
          </a:bodyPr>
          <a:lstStyle/>
          <a:p>
            <a:pPr algn="l">
              <a:defRPr sz="1000" b="0">
                <a:solidFill>
                  <a:srgbClr val="302422"/>
                </a:solidFill>
                <a:latin typeface="Aptos"/>
              </a:defRPr>
            </a:pPr>
            <a:r>
              <a:t>Shows mean error and seed stability.</a:t>
            </a:r>
          </a:p>
        </p:txBody>
      </p:sp>
      <p:sp>
        <p:nvSpPr>
          <p:cNvPr id="14" name="Rectangle 13"/>
          <p:cNvSpPr/>
          <p:nvPr/>
        </p:nvSpPr>
        <p:spPr>
          <a:xfrm>
            <a:off x="4343400" y="4800600"/>
            <a:ext cx="3429000" cy="9144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4910328"/>
            <a:ext cx="3136392" cy="256032"/>
          </a:xfrm>
          <a:prstGeom prst="rect">
            <a:avLst/>
          </a:prstGeom>
          <a:noFill/>
        </p:spPr>
        <p:txBody>
          <a:bodyPr wrap="square">
            <a:spAutoFit/>
          </a:bodyPr>
          <a:lstStyle/>
          <a:p>
            <a:pPr algn="l">
              <a:defRPr sz="1100" b="1">
                <a:solidFill>
                  <a:srgbClr val="97423E"/>
                </a:solidFill>
                <a:latin typeface="Aptos"/>
              </a:defRPr>
            </a:pPr>
            <a:r>
              <a:t>L2 graph</a:t>
            </a:r>
          </a:p>
        </p:txBody>
      </p:sp>
      <p:sp>
        <p:nvSpPr>
          <p:cNvPr id="16" name="TextBox 15"/>
          <p:cNvSpPr txBox="1"/>
          <p:nvPr/>
        </p:nvSpPr>
        <p:spPr>
          <a:xfrm>
            <a:off x="4489704" y="5239512"/>
            <a:ext cx="3136392" cy="402335"/>
          </a:xfrm>
          <a:prstGeom prst="rect">
            <a:avLst/>
          </a:prstGeom>
          <a:noFill/>
        </p:spPr>
        <p:txBody>
          <a:bodyPr wrap="square">
            <a:spAutoFit/>
          </a:bodyPr>
          <a:lstStyle/>
          <a:p>
            <a:pPr algn="l">
              <a:defRPr sz="1000" b="0">
                <a:solidFill>
                  <a:srgbClr val="302422"/>
                </a:solidFill>
                <a:latin typeface="Aptos"/>
              </a:defRPr>
            </a:pPr>
            <a:r>
              <a:t>Shows full-field error over time.</a:t>
            </a:r>
          </a:p>
        </p:txBody>
      </p:sp>
      <p:sp>
        <p:nvSpPr>
          <p:cNvPr id="17" name="Rectangle 16"/>
          <p:cNvSpPr/>
          <p:nvPr/>
        </p:nvSpPr>
        <p:spPr>
          <a:xfrm>
            <a:off x="8001000" y="4800600"/>
            <a:ext cx="2834640" cy="9144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4910328"/>
            <a:ext cx="2542032" cy="256032"/>
          </a:xfrm>
          <a:prstGeom prst="rect">
            <a:avLst/>
          </a:prstGeom>
          <a:noFill/>
        </p:spPr>
        <p:txBody>
          <a:bodyPr wrap="square">
            <a:spAutoFit/>
          </a:bodyPr>
          <a:lstStyle/>
          <a:p>
            <a:pPr algn="l">
              <a:defRPr sz="1100" b="1">
                <a:solidFill>
                  <a:srgbClr val="97423E"/>
                </a:solidFill>
                <a:latin typeface="Aptos"/>
              </a:defRPr>
            </a:pPr>
            <a:r>
              <a:t>Together</a:t>
            </a:r>
          </a:p>
        </p:txBody>
      </p:sp>
      <p:sp>
        <p:nvSpPr>
          <p:cNvPr id="19" name="TextBox 18"/>
          <p:cNvSpPr txBox="1"/>
          <p:nvPr/>
        </p:nvSpPr>
        <p:spPr>
          <a:xfrm>
            <a:off x="8147304" y="5239512"/>
            <a:ext cx="2542032" cy="402335"/>
          </a:xfrm>
          <a:prstGeom prst="rect">
            <a:avLst/>
          </a:prstGeom>
          <a:noFill/>
        </p:spPr>
        <p:txBody>
          <a:bodyPr wrap="square">
            <a:spAutoFit/>
          </a:bodyPr>
          <a:lstStyle/>
          <a:p>
            <a:pPr algn="l">
              <a:defRPr sz="1000" b="0">
                <a:solidFill>
                  <a:srgbClr val="302422"/>
                </a:solidFill>
                <a:latin typeface="Aptos"/>
              </a:defRPr>
            </a:pPr>
            <a:r>
              <a:t>Bayesian/TPE is robust; early windows are hardest.</a:t>
            </a:r>
          </a:p>
        </p:txBody>
      </p:sp>
      <p:sp>
        <p:nvSpPr>
          <p:cNvPr id="20" name="Rectangle 19"/>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Canonical 2D: MAE Variability and L2 Curves</a:t>
            </a:r>
          </a:p>
        </p:txBody>
      </p:sp>
      <p:sp>
        <p:nvSpPr>
          <p:cNvPr id="22" name="TextBox 21"/>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3" name="Rectangle 22"/>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5" name="TextBox 24"/>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6" name="TextBox 25"/>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2d_bestk_bayesian_rectangle.png"/>
          <p:cNvPicPr>
            <a:picLocks noChangeAspect="1"/>
          </p:cNvPicPr>
          <p:nvPr/>
        </p:nvPicPr>
        <p:blipFill>
          <a:blip r:embed="rId3"/>
          <a:stretch>
            <a:fillRect/>
          </a:stretch>
        </p:blipFill>
        <p:spPr>
          <a:xfrm>
            <a:off x="576071" y="2138086"/>
            <a:ext cx="3465576" cy="2170346"/>
          </a:xfrm>
          <a:prstGeom prst="rect">
            <a:avLst/>
          </a:prstGeom>
        </p:spPr>
      </p:pic>
      <p:sp>
        <p:nvSpPr>
          <p:cNvPr id="12" name="Rectangle 11"/>
          <p:cNvSpPr/>
          <p:nvPr/>
        </p:nvSpPr>
        <p:spPr>
          <a:xfrm>
            <a:off x="41605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2d_bestk_nsga2_rectangle.png"/>
          <p:cNvPicPr>
            <a:picLocks noChangeAspect="1"/>
          </p:cNvPicPr>
          <p:nvPr/>
        </p:nvPicPr>
        <p:blipFill>
          <a:blip r:embed="rId4"/>
          <a:stretch>
            <a:fillRect/>
          </a:stretch>
        </p:blipFill>
        <p:spPr>
          <a:xfrm>
            <a:off x="4233672" y="2138086"/>
            <a:ext cx="3465576" cy="2170346"/>
          </a:xfrm>
          <a:prstGeom prst="rect">
            <a:avLst/>
          </a:prstGeom>
        </p:spPr>
      </p:pic>
      <p:sp>
        <p:nvSpPr>
          <p:cNvPr id="14" name="Rectangle 13"/>
          <p:cNvSpPr/>
          <p:nvPr/>
        </p:nvSpPr>
        <p:spPr>
          <a:xfrm>
            <a:off x="78181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2d_bestk_nsga3_lshape.png"/>
          <p:cNvPicPr>
            <a:picLocks noChangeAspect="1"/>
          </p:cNvPicPr>
          <p:nvPr/>
        </p:nvPicPr>
        <p:blipFill>
          <a:blip r:embed="rId5"/>
          <a:stretch>
            <a:fillRect/>
          </a:stretch>
        </p:blipFill>
        <p:spPr>
          <a:xfrm>
            <a:off x="7891272" y="2032383"/>
            <a:ext cx="3465576" cy="2381752"/>
          </a:xfrm>
          <a:prstGeom prst="rect">
            <a:avLst/>
          </a:prstGeom>
        </p:spPr>
      </p:pic>
      <p:sp>
        <p:nvSpPr>
          <p:cNvPr id="16" name="Rectangle 15"/>
          <p:cNvSpPr/>
          <p:nvPr/>
        </p:nvSpPr>
        <p:spPr>
          <a:xfrm>
            <a:off x="731520" y="5577840"/>
            <a:ext cx="3383280" cy="594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687568"/>
            <a:ext cx="3090672" cy="256032"/>
          </a:xfrm>
          <a:prstGeom prst="rect">
            <a:avLst/>
          </a:prstGeom>
          <a:noFill/>
        </p:spPr>
        <p:txBody>
          <a:bodyPr wrap="square">
            <a:spAutoFit/>
          </a:bodyPr>
          <a:lstStyle/>
          <a:p>
            <a:pPr algn="l">
              <a:defRPr sz="1100" b="1">
                <a:solidFill>
                  <a:srgbClr val="97423E"/>
                </a:solidFill>
                <a:latin typeface="Aptos"/>
              </a:defRPr>
            </a:pPr>
            <a:r>
              <a:t>Why these?</a:t>
            </a:r>
          </a:p>
        </p:txBody>
      </p:sp>
      <p:sp>
        <p:nvSpPr>
          <p:cNvPr id="18" name="TextBox 17"/>
          <p:cNvSpPr txBox="1"/>
          <p:nvPr/>
        </p:nvSpPr>
        <p:spPr>
          <a:xfrm>
            <a:off x="877824" y="6016752"/>
            <a:ext cx="3090672" cy="82295"/>
          </a:xfrm>
          <a:prstGeom prst="rect">
            <a:avLst/>
          </a:prstGeom>
          <a:noFill/>
        </p:spPr>
        <p:txBody>
          <a:bodyPr wrap="square">
            <a:spAutoFit/>
          </a:bodyPr>
          <a:lstStyle/>
          <a:p>
            <a:pPr algn="l">
              <a:defRPr sz="1000" b="0">
                <a:solidFill>
                  <a:srgbClr val="302422"/>
                </a:solidFill>
                <a:latin typeface="Aptos"/>
              </a:defRPr>
            </a:pPr>
            <a:r>
              <a:t>One best representative geometry per architecture.</a:t>
            </a:r>
          </a:p>
        </p:txBody>
      </p:sp>
      <p:sp>
        <p:nvSpPr>
          <p:cNvPr id="19" name="Rectangle 18"/>
          <p:cNvSpPr/>
          <p:nvPr/>
        </p:nvSpPr>
        <p:spPr>
          <a:xfrm>
            <a:off x="4343400" y="5577840"/>
            <a:ext cx="3383280" cy="594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5687568"/>
            <a:ext cx="3090672" cy="256032"/>
          </a:xfrm>
          <a:prstGeom prst="rect">
            <a:avLst/>
          </a:prstGeom>
          <a:noFill/>
        </p:spPr>
        <p:txBody>
          <a:bodyPr wrap="square">
            <a:spAutoFit/>
          </a:bodyPr>
          <a:lstStyle/>
          <a:p>
            <a:pPr algn="l">
              <a:defRPr sz="1100" b="1">
                <a:solidFill>
                  <a:srgbClr val="97423E"/>
                </a:solidFill>
                <a:latin typeface="Aptos"/>
              </a:defRPr>
            </a:pPr>
            <a:r>
              <a:t>How to read</a:t>
            </a:r>
          </a:p>
        </p:txBody>
      </p:sp>
      <p:sp>
        <p:nvSpPr>
          <p:cNvPr id="21" name="TextBox 20"/>
          <p:cNvSpPr txBox="1"/>
          <p:nvPr/>
        </p:nvSpPr>
        <p:spPr>
          <a:xfrm>
            <a:off x="4489704" y="6016752"/>
            <a:ext cx="3090672" cy="82295"/>
          </a:xfrm>
          <a:prstGeom prst="rect">
            <a:avLst/>
          </a:prstGeom>
          <a:noFill/>
        </p:spPr>
        <p:txBody>
          <a:bodyPr wrap="square">
            <a:spAutoFit/>
          </a:bodyPr>
          <a:lstStyle/>
          <a:p>
            <a:pPr algn="l">
              <a:defRPr sz="1000" b="0">
                <a:solidFill>
                  <a:srgbClr val="302422"/>
                </a:solidFill>
                <a:latin typeface="Aptos"/>
              </a:defRPr>
            </a:pPr>
            <a:r>
              <a:t>MAE tells average error; heat map shows where the field error appears.</a:t>
            </a:r>
          </a:p>
        </p:txBody>
      </p:sp>
      <p:sp>
        <p:nvSpPr>
          <p:cNvPr id="22" name="Rectangle 21"/>
          <p:cNvSpPr/>
          <p:nvPr/>
        </p:nvSpPr>
        <p:spPr>
          <a:xfrm>
            <a:off x="7955279" y="5577840"/>
            <a:ext cx="3246120" cy="594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3" y="5687568"/>
            <a:ext cx="2953512" cy="256032"/>
          </a:xfrm>
          <a:prstGeom prst="rect">
            <a:avLst/>
          </a:prstGeom>
          <a:noFill/>
        </p:spPr>
        <p:txBody>
          <a:bodyPr wrap="square">
            <a:spAutoFit/>
          </a:bodyPr>
          <a:lstStyle/>
          <a:p>
            <a:pPr algn="l">
              <a:defRPr sz="1100" b="1">
                <a:solidFill>
                  <a:srgbClr val="97423E"/>
                </a:solidFill>
                <a:latin typeface="Aptos"/>
              </a:defRPr>
            </a:pPr>
            <a:r>
              <a:t>Message</a:t>
            </a:r>
          </a:p>
        </p:txBody>
      </p:sp>
      <p:sp>
        <p:nvSpPr>
          <p:cNvPr id="24" name="TextBox 23"/>
          <p:cNvSpPr txBox="1"/>
          <p:nvPr/>
        </p:nvSpPr>
        <p:spPr>
          <a:xfrm>
            <a:off x="8101583" y="6016752"/>
            <a:ext cx="2953512" cy="82295"/>
          </a:xfrm>
          <a:prstGeom prst="rect">
            <a:avLst/>
          </a:prstGeom>
          <a:noFill/>
        </p:spPr>
        <p:txBody>
          <a:bodyPr wrap="square">
            <a:spAutoFit/>
          </a:bodyPr>
          <a:lstStyle/>
          <a:p>
            <a:pPr algn="l">
              <a:defRPr sz="1000" b="0">
                <a:solidFill>
                  <a:srgbClr val="302422"/>
                </a:solidFill>
                <a:latin typeface="Aptos"/>
              </a:defRPr>
            </a:pPr>
            <a:r>
              <a:t>The best visual cases still need L2/MAE support.</a:t>
            </a:r>
          </a:p>
        </p:txBody>
      </p:sp>
      <p:sp>
        <p:nvSpPr>
          <p:cNvPr id="25" name="Rectangle 24"/>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Canonical 2D Heat Maps: Best Geometry per Architecture</a:t>
            </a:r>
          </a:p>
        </p:txBody>
      </p:sp>
      <p:sp>
        <p:nvSpPr>
          <p:cNvPr id="27" name="TextBox 26"/>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8" name="Rectangle 27"/>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30" name="TextBox 29"/>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31" name="TextBox 30"/>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51560"/>
            <a:ext cx="55321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6.png"/>
          <p:cNvPicPr>
            <a:picLocks noChangeAspect="1"/>
          </p:cNvPicPr>
          <p:nvPr/>
        </p:nvPicPr>
        <p:blipFill>
          <a:blip r:embed="rId3"/>
          <a:stretch>
            <a:fillRect/>
          </a:stretch>
        </p:blipFill>
        <p:spPr>
          <a:xfrm>
            <a:off x="484632" y="1269470"/>
            <a:ext cx="5385816" cy="3450378"/>
          </a:xfrm>
          <a:prstGeom prst="rect">
            <a:avLst/>
          </a:prstGeom>
        </p:spPr>
      </p:pic>
      <p:sp>
        <p:nvSpPr>
          <p:cNvPr id="11" name="Rectangle 10"/>
          <p:cNvSpPr/>
          <p:nvPr/>
        </p:nvSpPr>
        <p:spPr>
          <a:xfrm>
            <a:off x="6080760" y="1051560"/>
            <a:ext cx="5074920" cy="38862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ble D.21.png"/>
          <p:cNvPicPr>
            <a:picLocks noChangeAspect="1"/>
          </p:cNvPicPr>
          <p:nvPr/>
        </p:nvPicPr>
        <p:blipFill>
          <a:blip r:embed="rId4"/>
          <a:stretch>
            <a:fillRect/>
          </a:stretch>
        </p:blipFill>
        <p:spPr>
          <a:xfrm>
            <a:off x="6153912" y="1433639"/>
            <a:ext cx="4928616" cy="3122041"/>
          </a:xfrm>
          <a:prstGeom prst="rect">
            <a:avLst/>
          </a:prstGeom>
        </p:spPr>
      </p:pic>
      <p:sp>
        <p:nvSpPr>
          <p:cNvPr id="13" name="Rectangle 12"/>
          <p:cNvSpPr/>
          <p:nvPr/>
        </p:nvSpPr>
        <p:spPr>
          <a:xfrm>
            <a:off x="594360" y="5166360"/>
            <a:ext cx="3337560" cy="8686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5276088"/>
            <a:ext cx="3044952" cy="256032"/>
          </a:xfrm>
          <a:prstGeom prst="rect">
            <a:avLst/>
          </a:prstGeom>
          <a:noFill/>
        </p:spPr>
        <p:txBody>
          <a:bodyPr wrap="square">
            <a:spAutoFit/>
          </a:bodyPr>
          <a:lstStyle/>
          <a:p>
            <a:pPr algn="l">
              <a:defRPr sz="1100" b="1">
                <a:solidFill>
                  <a:srgbClr val="97423E"/>
                </a:solidFill>
                <a:latin typeface="Aptos"/>
              </a:defRPr>
            </a:pPr>
            <a:r>
              <a:t>MAE</a:t>
            </a:r>
          </a:p>
        </p:txBody>
      </p:sp>
      <p:sp>
        <p:nvSpPr>
          <p:cNvPr id="15" name="TextBox 14"/>
          <p:cNvSpPr txBox="1"/>
          <p:nvPr/>
        </p:nvSpPr>
        <p:spPr>
          <a:xfrm>
            <a:off x="740664" y="5605272"/>
            <a:ext cx="3044952" cy="356615"/>
          </a:xfrm>
          <a:prstGeom prst="rect">
            <a:avLst/>
          </a:prstGeom>
          <a:noFill/>
        </p:spPr>
        <p:txBody>
          <a:bodyPr wrap="square">
            <a:spAutoFit/>
          </a:bodyPr>
          <a:lstStyle/>
          <a:p>
            <a:pPr algn="l">
              <a:defRPr sz="1000" b="0">
                <a:solidFill>
                  <a:srgbClr val="302422"/>
                </a:solidFill>
                <a:latin typeface="Aptos"/>
              </a:defRPr>
            </a:pPr>
            <a:r>
              <a:t>Average Celsius error over 3D windows. Lower is better.</a:t>
            </a:r>
          </a:p>
        </p:txBody>
      </p:sp>
      <p:sp>
        <p:nvSpPr>
          <p:cNvPr id="16" name="Rectangle 15"/>
          <p:cNvSpPr/>
          <p:nvPr/>
        </p:nvSpPr>
        <p:spPr>
          <a:xfrm>
            <a:off x="4160520" y="5166360"/>
            <a:ext cx="3337560" cy="8686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06824" y="5276088"/>
            <a:ext cx="3044952" cy="256032"/>
          </a:xfrm>
          <a:prstGeom prst="rect">
            <a:avLst/>
          </a:prstGeom>
          <a:noFill/>
        </p:spPr>
        <p:txBody>
          <a:bodyPr wrap="square">
            <a:spAutoFit/>
          </a:bodyPr>
          <a:lstStyle/>
          <a:p>
            <a:pPr algn="l">
              <a:defRPr sz="1100" b="1">
                <a:solidFill>
                  <a:srgbClr val="97423E"/>
                </a:solidFill>
                <a:latin typeface="Aptos"/>
              </a:defRPr>
            </a:pPr>
            <a:r>
              <a:t>L2</a:t>
            </a:r>
          </a:p>
        </p:txBody>
      </p:sp>
      <p:sp>
        <p:nvSpPr>
          <p:cNvPr id="18" name="TextBox 17"/>
          <p:cNvSpPr txBox="1"/>
          <p:nvPr/>
        </p:nvSpPr>
        <p:spPr>
          <a:xfrm>
            <a:off x="4306824" y="5605272"/>
            <a:ext cx="3044952" cy="356615"/>
          </a:xfrm>
          <a:prstGeom prst="rect">
            <a:avLst/>
          </a:prstGeom>
          <a:noFill/>
        </p:spPr>
        <p:txBody>
          <a:bodyPr wrap="square">
            <a:spAutoFit/>
          </a:bodyPr>
          <a:lstStyle/>
          <a:p>
            <a:pPr algn="l">
              <a:defRPr sz="1000" b="0">
                <a:solidFill>
                  <a:srgbClr val="302422"/>
                </a:solidFill>
                <a:latin typeface="Aptos"/>
              </a:defRPr>
            </a:pPr>
            <a:r>
              <a:t>Field error at t=30 s. It checks the 3D temperature volume.</a:t>
            </a:r>
          </a:p>
        </p:txBody>
      </p:sp>
      <p:sp>
        <p:nvSpPr>
          <p:cNvPr id="19" name="Rectangle 18"/>
          <p:cNvSpPr/>
          <p:nvPr/>
        </p:nvSpPr>
        <p:spPr>
          <a:xfrm>
            <a:off x="7726679" y="5166360"/>
            <a:ext cx="3154680" cy="8686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2983" y="5276088"/>
            <a:ext cx="2862072" cy="256032"/>
          </a:xfrm>
          <a:prstGeom prst="rect">
            <a:avLst/>
          </a:prstGeom>
          <a:noFill/>
        </p:spPr>
        <p:txBody>
          <a:bodyPr wrap="square">
            <a:spAutoFit/>
          </a:bodyPr>
          <a:lstStyle/>
          <a:p>
            <a:pPr algn="l">
              <a:defRPr sz="1100" b="1">
                <a:solidFill>
                  <a:srgbClr val="97423E"/>
                </a:solidFill>
                <a:latin typeface="Aptos"/>
              </a:defRPr>
            </a:pPr>
            <a:r>
              <a:t>Key result</a:t>
            </a:r>
          </a:p>
        </p:txBody>
      </p:sp>
      <p:sp>
        <p:nvSpPr>
          <p:cNvPr id="21" name="TextBox 20"/>
          <p:cNvSpPr txBox="1"/>
          <p:nvPr/>
        </p:nvSpPr>
        <p:spPr>
          <a:xfrm>
            <a:off x="7872983" y="5605272"/>
            <a:ext cx="2862072" cy="356615"/>
          </a:xfrm>
          <a:prstGeom prst="rect">
            <a:avLst/>
          </a:prstGeom>
          <a:noFill/>
        </p:spPr>
        <p:txBody>
          <a:bodyPr wrap="square">
            <a:spAutoFit/>
          </a:bodyPr>
          <a:lstStyle/>
          <a:p>
            <a:pPr algn="l">
              <a:defRPr sz="1000" b="0">
                <a:solidFill>
                  <a:srgbClr val="302422"/>
                </a:solidFill>
                <a:latin typeface="Aptos"/>
              </a:defRPr>
            </a:pPr>
            <a:r>
              <a:t>Bayesian/TPE is robust, but curved and stacked geometries are harder.</a:t>
            </a:r>
          </a:p>
        </p:txBody>
      </p:sp>
      <p:sp>
        <p:nvSpPr>
          <p:cNvPr id="22" name="Rectangle 21"/>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3D Results: MAE and L2 Summary</a:t>
            </a:r>
          </a:p>
        </p:txBody>
      </p:sp>
      <p:sp>
        <p:nvSpPr>
          <p:cNvPr id="24" name="TextBox 23"/>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5" name="Rectangle 24"/>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7" name="TextBox 26"/>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8" name="TextBox 27"/>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ed_bar_3d.png"/>
          <p:cNvPicPr>
            <a:picLocks noChangeAspect="1"/>
          </p:cNvPicPr>
          <p:nvPr/>
        </p:nvPicPr>
        <p:blipFill>
          <a:blip r:embed="rId3"/>
          <a:stretch>
            <a:fillRect/>
          </a:stretch>
        </p:blipFill>
        <p:spPr>
          <a:xfrm>
            <a:off x="576072" y="1929767"/>
            <a:ext cx="5248656" cy="1306824"/>
          </a:xfrm>
          <a:prstGeom prst="rect">
            <a:avLst/>
          </a:prstGeom>
        </p:spPr>
      </p:pic>
      <p:sp>
        <p:nvSpPr>
          <p:cNvPr id="9" name="Rectangle 8"/>
          <p:cNvSpPr/>
          <p:nvPr/>
        </p:nvSpPr>
        <p:spPr>
          <a:xfrm>
            <a:off x="626364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2_all_k_3d.png"/>
          <p:cNvPicPr>
            <a:picLocks noChangeAspect="1"/>
          </p:cNvPicPr>
          <p:nvPr/>
        </p:nvPicPr>
        <p:blipFill>
          <a:blip r:embed="rId4"/>
          <a:stretch>
            <a:fillRect/>
          </a:stretch>
        </p:blipFill>
        <p:spPr>
          <a:xfrm>
            <a:off x="6336792" y="1193779"/>
            <a:ext cx="5248656" cy="2778801"/>
          </a:xfrm>
          <a:prstGeom prst="rect">
            <a:avLst/>
          </a:prstGeom>
        </p:spPr>
      </p:pic>
      <p:sp>
        <p:nvSpPr>
          <p:cNvPr id="11" name="Rectangle 10"/>
          <p:cNvSpPr/>
          <p:nvPr/>
        </p:nvSpPr>
        <p:spPr>
          <a:xfrm>
            <a:off x="685800" y="4800600"/>
            <a:ext cx="3429000" cy="9144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910328"/>
            <a:ext cx="3136392" cy="256032"/>
          </a:xfrm>
          <a:prstGeom prst="rect">
            <a:avLst/>
          </a:prstGeom>
          <a:noFill/>
        </p:spPr>
        <p:txBody>
          <a:bodyPr wrap="square">
            <a:spAutoFit/>
          </a:bodyPr>
          <a:lstStyle/>
          <a:p>
            <a:pPr algn="l">
              <a:defRPr sz="1100" b="1">
                <a:solidFill>
                  <a:srgbClr val="97423E"/>
                </a:solidFill>
                <a:latin typeface="Aptos"/>
              </a:defRPr>
            </a:pPr>
            <a:r>
              <a:t>MAE graph</a:t>
            </a:r>
          </a:p>
        </p:txBody>
      </p:sp>
      <p:sp>
        <p:nvSpPr>
          <p:cNvPr id="13" name="TextBox 12"/>
          <p:cNvSpPr txBox="1"/>
          <p:nvPr/>
        </p:nvSpPr>
        <p:spPr>
          <a:xfrm>
            <a:off x="832104" y="5239512"/>
            <a:ext cx="3136392" cy="402335"/>
          </a:xfrm>
          <a:prstGeom prst="rect">
            <a:avLst/>
          </a:prstGeom>
          <a:noFill/>
        </p:spPr>
        <p:txBody>
          <a:bodyPr wrap="square">
            <a:spAutoFit/>
          </a:bodyPr>
          <a:lstStyle/>
          <a:p>
            <a:pPr algn="l">
              <a:defRPr sz="1000" b="0">
                <a:solidFill>
                  <a:srgbClr val="302422"/>
                </a:solidFill>
                <a:latin typeface="Aptos"/>
              </a:defRPr>
            </a:pPr>
            <a:r>
              <a:t>Shows seed sensitivity for each 3D geometry.</a:t>
            </a:r>
          </a:p>
        </p:txBody>
      </p:sp>
      <p:sp>
        <p:nvSpPr>
          <p:cNvPr id="14" name="Rectangle 13"/>
          <p:cNvSpPr/>
          <p:nvPr/>
        </p:nvSpPr>
        <p:spPr>
          <a:xfrm>
            <a:off x="4343400" y="4800600"/>
            <a:ext cx="3429000" cy="9144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4910328"/>
            <a:ext cx="3136392" cy="256032"/>
          </a:xfrm>
          <a:prstGeom prst="rect">
            <a:avLst/>
          </a:prstGeom>
          <a:noFill/>
        </p:spPr>
        <p:txBody>
          <a:bodyPr wrap="square">
            <a:spAutoFit/>
          </a:bodyPr>
          <a:lstStyle/>
          <a:p>
            <a:pPr algn="l">
              <a:defRPr sz="1100" b="1">
                <a:solidFill>
                  <a:srgbClr val="97423E"/>
                </a:solidFill>
                <a:latin typeface="Aptos"/>
              </a:defRPr>
            </a:pPr>
            <a:r>
              <a:t>L2 graph</a:t>
            </a:r>
          </a:p>
        </p:txBody>
      </p:sp>
      <p:sp>
        <p:nvSpPr>
          <p:cNvPr id="16" name="TextBox 15"/>
          <p:cNvSpPr txBox="1"/>
          <p:nvPr/>
        </p:nvSpPr>
        <p:spPr>
          <a:xfrm>
            <a:off x="4489704" y="5239512"/>
            <a:ext cx="3136392" cy="402335"/>
          </a:xfrm>
          <a:prstGeom prst="rect">
            <a:avLst/>
          </a:prstGeom>
          <a:noFill/>
        </p:spPr>
        <p:txBody>
          <a:bodyPr wrap="square">
            <a:spAutoFit/>
          </a:bodyPr>
          <a:lstStyle/>
          <a:p>
            <a:pPr algn="l">
              <a:defRPr sz="1000" b="0">
                <a:solidFill>
                  <a:srgbClr val="302422"/>
                </a:solidFill>
                <a:latin typeface="Aptos"/>
              </a:defRPr>
            </a:pPr>
            <a:r>
              <a:t>Shows field error during the 30 s quench.</a:t>
            </a:r>
          </a:p>
        </p:txBody>
      </p:sp>
      <p:sp>
        <p:nvSpPr>
          <p:cNvPr id="17" name="Rectangle 16"/>
          <p:cNvSpPr/>
          <p:nvPr/>
        </p:nvSpPr>
        <p:spPr>
          <a:xfrm>
            <a:off x="8001000" y="4800600"/>
            <a:ext cx="2834640" cy="9144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4910328"/>
            <a:ext cx="2542032" cy="256032"/>
          </a:xfrm>
          <a:prstGeom prst="rect">
            <a:avLst/>
          </a:prstGeom>
          <a:noFill/>
        </p:spPr>
        <p:txBody>
          <a:bodyPr wrap="square">
            <a:spAutoFit/>
          </a:bodyPr>
          <a:lstStyle/>
          <a:p>
            <a:pPr algn="l">
              <a:defRPr sz="1100" b="1">
                <a:solidFill>
                  <a:srgbClr val="97423E"/>
                </a:solidFill>
                <a:latin typeface="Aptos"/>
              </a:defRPr>
            </a:pPr>
            <a:r>
              <a:t>Together</a:t>
            </a:r>
          </a:p>
        </p:txBody>
      </p:sp>
      <p:sp>
        <p:nvSpPr>
          <p:cNvPr id="19" name="TextBox 18"/>
          <p:cNvSpPr txBox="1"/>
          <p:nvPr/>
        </p:nvSpPr>
        <p:spPr>
          <a:xfrm>
            <a:off x="8147304" y="5239512"/>
            <a:ext cx="2542032" cy="402335"/>
          </a:xfrm>
          <a:prstGeom prst="rect">
            <a:avLst/>
          </a:prstGeom>
          <a:noFill/>
        </p:spPr>
        <p:txBody>
          <a:bodyPr wrap="square">
            <a:spAutoFit/>
          </a:bodyPr>
          <a:lstStyle/>
          <a:p>
            <a:pPr algn="l">
              <a:defRPr sz="1000" b="0">
                <a:solidFill>
                  <a:srgbClr val="302422"/>
                </a:solidFill>
                <a:latin typeface="Aptos"/>
              </a:defRPr>
            </a:pPr>
            <a:r>
              <a:t>3D difficulty is geometry-dependent.</a:t>
            </a:r>
          </a:p>
        </p:txBody>
      </p:sp>
      <p:sp>
        <p:nvSpPr>
          <p:cNvPr id="20" name="Rectangle 19"/>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3D Results: MAE Variability and L2 Curves</a:t>
            </a:r>
          </a:p>
        </p:txBody>
      </p:sp>
      <p:sp>
        <p:nvSpPr>
          <p:cNvPr id="22" name="TextBox 21"/>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3" name="Rectangle 22"/>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5" name="TextBox 24"/>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6" name="TextBox 25"/>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3d_bestk_bayesian_cylinder.png"/>
          <p:cNvPicPr>
            <a:picLocks noChangeAspect="1"/>
          </p:cNvPicPr>
          <p:nvPr/>
        </p:nvPicPr>
        <p:blipFill>
          <a:blip r:embed="rId3"/>
          <a:stretch>
            <a:fillRect/>
          </a:stretch>
        </p:blipFill>
        <p:spPr>
          <a:xfrm>
            <a:off x="576072" y="2201588"/>
            <a:ext cx="3465576" cy="2043343"/>
          </a:xfrm>
          <a:prstGeom prst="rect">
            <a:avLst/>
          </a:prstGeom>
        </p:spPr>
      </p:pic>
      <p:sp>
        <p:nvSpPr>
          <p:cNvPr id="12" name="Rectangle 11"/>
          <p:cNvSpPr/>
          <p:nvPr/>
        </p:nvSpPr>
        <p:spPr>
          <a:xfrm>
            <a:off x="41605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3d_bestk_nsga2_lshape.png"/>
          <p:cNvPicPr>
            <a:picLocks noChangeAspect="1"/>
          </p:cNvPicPr>
          <p:nvPr/>
        </p:nvPicPr>
        <p:blipFill>
          <a:blip r:embed="rId4"/>
          <a:stretch>
            <a:fillRect/>
          </a:stretch>
        </p:blipFill>
        <p:spPr>
          <a:xfrm>
            <a:off x="4233672" y="2201588"/>
            <a:ext cx="3465576" cy="2043343"/>
          </a:xfrm>
          <a:prstGeom prst="rect">
            <a:avLst/>
          </a:prstGeom>
        </p:spPr>
      </p:pic>
      <p:sp>
        <p:nvSpPr>
          <p:cNvPr id="14" name="Rectangle 13"/>
          <p:cNvSpPr/>
          <p:nvPr/>
        </p:nvSpPr>
        <p:spPr>
          <a:xfrm>
            <a:off x="7818120" y="1051560"/>
            <a:ext cx="3611880" cy="43434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3d_bestk_nsga3_lshape.png"/>
          <p:cNvPicPr>
            <a:picLocks noChangeAspect="1"/>
          </p:cNvPicPr>
          <p:nvPr/>
        </p:nvPicPr>
        <p:blipFill>
          <a:blip r:embed="rId5"/>
          <a:stretch>
            <a:fillRect/>
          </a:stretch>
        </p:blipFill>
        <p:spPr>
          <a:xfrm>
            <a:off x="7891272" y="2201588"/>
            <a:ext cx="3465576" cy="2043343"/>
          </a:xfrm>
          <a:prstGeom prst="rect">
            <a:avLst/>
          </a:prstGeom>
        </p:spPr>
      </p:pic>
      <p:sp>
        <p:nvSpPr>
          <p:cNvPr id="16" name="Rectangle 15"/>
          <p:cNvSpPr/>
          <p:nvPr/>
        </p:nvSpPr>
        <p:spPr>
          <a:xfrm>
            <a:off x="731520" y="5577840"/>
            <a:ext cx="3383280" cy="594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687568"/>
            <a:ext cx="3090672" cy="256032"/>
          </a:xfrm>
          <a:prstGeom prst="rect">
            <a:avLst/>
          </a:prstGeom>
          <a:noFill/>
        </p:spPr>
        <p:txBody>
          <a:bodyPr wrap="square">
            <a:spAutoFit/>
          </a:bodyPr>
          <a:lstStyle/>
          <a:p>
            <a:pPr algn="l">
              <a:defRPr sz="1100" b="1">
                <a:solidFill>
                  <a:srgbClr val="97423E"/>
                </a:solidFill>
                <a:latin typeface="Aptos"/>
              </a:defRPr>
            </a:pPr>
            <a:r>
              <a:t>Why these?</a:t>
            </a:r>
          </a:p>
        </p:txBody>
      </p:sp>
      <p:sp>
        <p:nvSpPr>
          <p:cNvPr id="18" name="TextBox 17"/>
          <p:cNvSpPr txBox="1"/>
          <p:nvPr/>
        </p:nvSpPr>
        <p:spPr>
          <a:xfrm>
            <a:off x="877824" y="6016752"/>
            <a:ext cx="3090672" cy="82295"/>
          </a:xfrm>
          <a:prstGeom prst="rect">
            <a:avLst/>
          </a:prstGeom>
          <a:noFill/>
        </p:spPr>
        <p:txBody>
          <a:bodyPr wrap="square">
            <a:spAutoFit/>
          </a:bodyPr>
          <a:lstStyle/>
          <a:p>
            <a:pPr algn="l">
              <a:defRPr sz="1000" b="0">
                <a:solidFill>
                  <a:srgbClr val="302422"/>
                </a:solidFill>
                <a:latin typeface="Aptos"/>
              </a:defRPr>
            </a:pPr>
            <a:r>
              <a:t>One strong 3D visual case per architecture.</a:t>
            </a:r>
          </a:p>
        </p:txBody>
      </p:sp>
      <p:sp>
        <p:nvSpPr>
          <p:cNvPr id="19" name="Rectangle 18"/>
          <p:cNvSpPr/>
          <p:nvPr/>
        </p:nvSpPr>
        <p:spPr>
          <a:xfrm>
            <a:off x="4343400" y="5577840"/>
            <a:ext cx="3383280" cy="594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9704" y="5687568"/>
            <a:ext cx="3090672" cy="256032"/>
          </a:xfrm>
          <a:prstGeom prst="rect">
            <a:avLst/>
          </a:prstGeom>
          <a:noFill/>
        </p:spPr>
        <p:txBody>
          <a:bodyPr wrap="square">
            <a:spAutoFit/>
          </a:bodyPr>
          <a:lstStyle/>
          <a:p>
            <a:pPr algn="l">
              <a:defRPr sz="1100" b="1">
                <a:solidFill>
                  <a:srgbClr val="97423E"/>
                </a:solidFill>
                <a:latin typeface="Aptos"/>
              </a:defRPr>
            </a:pPr>
            <a:r>
              <a:t>How to read</a:t>
            </a:r>
          </a:p>
        </p:txBody>
      </p:sp>
      <p:sp>
        <p:nvSpPr>
          <p:cNvPr id="21" name="TextBox 20"/>
          <p:cNvSpPr txBox="1"/>
          <p:nvPr/>
        </p:nvSpPr>
        <p:spPr>
          <a:xfrm>
            <a:off x="4489704" y="6016752"/>
            <a:ext cx="3090672" cy="82295"/>
          </a:xfrm>
          <a:prstGeom prst="rect">
            <a:avLst/>
          </a:prstGeom>
          <a:noFill/>
        </p:spPr>
        <p:txBody>
          <a:bodyPr wrap="square">
            <a:spAutoFit/>
          </a:bodyPr>
          <a:lstStyle/>
          <a:p>
            <a:pPr algn="l">
              <a:defRPr sz="1000" b="0">
                <a:solidFill>
                  <a:srgbClr val="302422"/>
                </a:solidFill>
                <a:latin typeface="Aptos"/>
              </a:defRPr>
            </a:pPr>
            <a:r>
              <a:t>Volumetric maps show geometry-specific field behaviour.</a:t>
            </a:r>
          </a:p>
        </p:txBody>
      </p:sp>
      <p:sp>
        <p:nvSpPr>
          <p:cNvPr id="22" name="Rectangle 21"/>
          <p:cNvSpPr/>
          <p:nvPr/>
        </p:nvSpPr>
        <p:spPr>
          <a:xfrm>
            <a:off x="7955279" y="5577840"/>
            <a:ext cx="3246120" cy="594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01583" y="5687568"/>
            <a:ext cx="2953512" cy="256032"/>
          </a:xfrm>
          <a:prstGeom prst="rect">
            <a:avLst/>
          </a:prstGeom>
          <a:noFill/>
        </p:spPr>
        <p:txBody>
          <a:bodyPr wrap="square">
            <a:spAutoFit/>
          </a:bodyPr>
          <a:lstStyle/>
          <a:p>
            <a:pPr algn="l">
              <a:defRPr sz="1100" b="1">
                <a:solidFill>
                  <a:srgbClr val="97423E"/>
                </a:solidFill>
                <a:latin typeface="Aptos"/>
              </a:defRPr>
            </a:pPr>
            <a:r>
              <a:t>Message</a:t>
            </a:r>
          </a:p>
        </p:txBody>
      </p:sp>
      <p:sp>
        <p:nvSpPr>
          <p:cNvPr id="24" name="TextBox 23"/>
          <p:cNvSpPr txBox="1"/>
          <p:nvPr/>
        </p:nvSpPr>
        <p:spPr>
          <a:xfrm>
            <a:off x="8101583" y="6016752"/>
            <a:ext cx="2953512" cy="82295"/>
          </a:xfrm>
          <a:prstGeom prst="rect">
            <a:avLst/>
          </a:prstGeom>
          <a:noFill/>
        </p:spPr>
        <p:txBody>
          <a:bodyPr wrap="square">
            <a:spAutoFit/>
          </a:bodyPr>
          <a:lstStyle/>
          <a:p>
            <a:pPr algn="l">
              <a:defRPr sz="1000" b="0">
                <a:solidFill>
                  <a:srgbClr val="302422"/>
                </a:solidFill>
                <a:latin typeface="Aptos"/>
              </a:defRPr>
            </a:pPr>
            <a:r>
              <a:t>3D accuracy depends strongly on geometry.</a:t>
            </a:r>
          </a:p>
        </p:txBody>
      </p:sp>
      <p:sp>
        <p:nvSpPr>
          <p:cNvPr id="25" name="Rectangle 24"/>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Canonical 3D Heat Maps: Best Geometry per Architecture</a:t>
            </a:r>
          </a:p>
        </p:txBody>
      </p:sp>
      <p:sp>
        <p:nvSpPr>
          <p:cNvPr id="27" name="TextBox 26"/>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8" name="Rectangle 27"/>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30" name="TextBox 29"/>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31" name="TextBox 30"/>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051560"/>
            <a:ext cx="5532120" cy="37947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8.png"/>
          <p:cNvPicPr>
            <a:picLocks noChangeAspect="1"/>
          </p:cNvPicPr>
          <p:nvPr/>
        </p:nvPicPr>
        <p:blipFill>
          <a:blip r:embed="rId3"/>
          <a:stretch>
            <a:fillRect/>
          </a:stretch>
        </p:blipFill>
        <p:spPr>
          <a:xfrm>
            <a:off x="484632" y="1586263"/>
            <a:ext cx="5385816" cy="2725352"/>
          </a:xfrm>
          <a:prstGeom prst="rect">
            <a:avLst/>
          </a:prstGeom>
        </p:spPr>
      </p:pic>
      <p:graphicFrame>
        <p:nvGraphicFramePr>
          <p:cNvPr id="11" name="Table 10"/>
          <p:cNvGraphicFramePr>
            <a:graphicFrameLocks noGrp="1"/>
          </p:cNvGraphicFramePr>
          <p:nvPr/>
        </p:nvGraphicFramePr>
        <p:xfrm>
          <a:off x="6172200" y="1143000"/>
          <a:ext cx="4983480" cy="2331720"/>
        </p:xfrm>
        <a:graphic>
          <a:graphicData uri="http://schemas.openxmlformats.org/drawingml/2006/table">
            <a:tbl>
              <a:tblPr firstRow="1" bandRow="1">
                <a:tableStyleId>{5C22544A-7EE6-4342-B048-85BDC9FD1C3A}</a:tableStyleId>
              </a:tblPr>
              <a:tblGrid>
                <a:gridCol w="830580"/>
                <a:gridCol w="830580"/>
                <a:gridCol w="830580"/>
                <a:gridCol w="830580"/>
                <a:gridCol w="830580"/>
                <a:gridCol w="830580"/>
              </a:tblGrid>
              <a:tr h="582930">
                <a:tc>
                  <a:txBody>
                    <a:bodyPr anchor="ctr"/>
                    <a:lstStyle/>
                    <a:p>
                      <a:pPr algn="ctr">
                        <a:defRPr sz="700" b="1">
                          <a:solidFill>
                            <a:srgbClr val="FFFFFF"/>
                          </a:solidFill>
                          <a:latin typeface="Aptos"/>
                        </a:defRPr>
                      </a:pPr>
                      <a:r>
                        <a:t>Architecture</a:t>
                      </a:r>
                    </a:p>
                  </a:txBody>
                  <a:tcPr>
                    <a:solidFill>
                      <a:srgbClr val="97423E"/>
                    </a:solidFill>
                  </a:tcPr>
                </a:tc>
                <a:tc>
                  <a:txBody>
                    <a:bodyPr anchor="ctr"/>
                    <a:lstStyle/>
                    <a:p>
                      <a:pPr algn="ctr">
                        <a:defRPr sz="700" b="1">
                          <a:solidFill>
                            <a:srgbClr val="FFFFFF"/>
                          </a:solidFill>
                          <a:latin typeface="Aptos"/>
                        </a:defRPr>
                      </a:pPr>
                      <a:r>
                        <a:t>k=1</a:t>
                      </a:r>
                    </a:p>
                  </a:txBody>
                  <a:tcPr>
                    <a:solidFill>
                      <a:srgbClr val="97423E"/>
                    </a:solidFill>
                  </a:tcPr>
                </a:tc>
                <a:tc>
                  <a:txBody>
                    <a:bodyPr anchor="ctr"/>
                    <a:lstStyle/>
                    <a:p>
                      <a:pPr algn="ctr">
                        <a:defRPr sz="700" b="1">
                          <a:solidFill>
                            <a:srgbClr val="FFFFFF"/>
                          </a:solidFill>
                          <a:latin typeface="Aptos"/>
                        </a:defRPr>
                      </a:pPr>
                      <a:r>
                        <a:t>k=2</a:t>
                      </a:r>
                    </a:p>
                  </a:txBody>
                  <a:tcPr>
                    <a:solidFill>
                      <a:srgbClr val="97423E"/>
                    </a:solidFill>
                  </a:tcPr>
                </a:tc>
                <a:tc>
                  <a:txBody>
                    <a:bodyPr anchor="ctr"/>
                    <a:lstStyle/>
                    <a:p>
                      <a:pPr algn="ctr">
                        <a:defRPr sz="700" b="1">
                          <a:solidFill>
                            <a:srgbClr val="FFFFFF"/>
                          </a:solidFill>
                          <a:latin typeface="Aptos"/>
                        </a:defRPr>
                      </a:pPr>
                      <a:r>
                        <a:t>k=3</a:t>
                      </a:r>
                    </a:p>
                  </a:txBody>
                  <a:tcPr>
                    <a:solidFill>
                      <a:srgbClr val="97423E"/>
                    </a:solidFill>
                  </a:tcPr>
                </a:tc>
                <a:tc>
                  <a:txBody>
                    <a:bodyPr anchor="ctr"/>
                    <a:lstStyle/>
                    <a:p>
                      <a:pPr algn="ctr">
                        <a:defRPr sz="700" b="1">
                          <a:solidFill>
                            <a:srgbClr val="FFFFFF"/>
                          </a:solidFill>
                          <a:latin typeface="Aptos"/>
                        </a:defRPr>
                      </a:pPr>
                      <a:r>
                        <a:t>k=4</a:t>
                      </a:r>
                    </a:p>
                  </a:txBody>
                  <a:tcPr>
                    <a:solidFill>
                      <a:srgbClr val="97423E"/>
                    </a:solidFill>
                  </a:tcPr>
                </a:tc>
                <a:tc>
                  <a:txBody>
                    <a:bodyPr anchor="ctr"/>
                    <a:lstStyle/>
                    <a:p>
                      <a:pPr algn="ctr">
                        <a:defRPr sz="700" b="1">
                          <a:solidFill>
                            <a:srgbClr val="FFFFFF"/>
                          </a:solidFill>
                          <a:latin typeface="Aptos"/>
                        </a:defRPr>
                      </a:pPr>
                      <a:r>
                        <a:t>k=5</a:t>
                      </a:r>
                    </a:p>
                  </a:txBody>
                  <a:tcPr>
                    <a:solidFill>
                      <a:srgbClr val="97423E"/>
                    </a:solidFill>
                  </a:tcPr>
                </a:tc>
              </a:tr>
              <a:tr h="582930">
                <a:tc>
                  <a:txBody>
                    <a:bodyPr anchor="ctr"/>
                    <a:lstStyle/>
                    <a:p>
                      <a:pPr algn="ctr">
                        <a:defRPr sz="700">
                          <a:solidFill>
                            <a:srgbClr val="302422"/>
                          </a:solidFill>
                          <a:latin typeface="Aptos"/>
                        </a:defRPr>
                      </a:pPr>
                      <a:r>
                        <a:t>Bayesian/TPE*</a:t>
                      </a:r>
                    </a:p>
                  </a:txBody>
                  <a:tcPr marL="36576" marR="36576">
                    <a:solidFill>
                      <a:srgbClr val="FFFFFF"/>
                    </a:solidFill>
                  </a:tcPr>
                </a:tc>
                <a:tc>
                  <a:txBody>
                    <a:bodyPr anchor="ctr"/>
                    <a:lstStyle/>
                    <a:p>
                      <a:pPr algn="ctr">
                        <a:defRPr sz="700">
                          <a:solidFill>
                            <a:srgbClr val="302422"/>
                          </a:solidFill>
                          <a:latin typeface="Aptos"/>
                        </a:defRPr>
                      </a:pPr>
                      <a:r>
                        <a:t>0.049</a:t>
                      </a:r>
                    </a:p>
                  </a:txBody>
                  <a:tcPr marL="36576" marR="36576">
                    <a:solidFill>
                      <a:srgbClr val="FFFFFF"/>
                    </a:solidFill>
                  </a:tcPr>
                </a:tc>
                <a:tc>
                  <a:txBody>
                    <a:bodyPr anchor="ctr"/>
                    <a:lstStyle/>
                    <a:p>
                      <a:pPr algn="ctr">
                        <a:defRPr sz="700">
                          <a:solidFill>
                            <a:srgbClr val="302422"/>
                          </a:solidFill>
                          <a:latin typeface="Aptos"/>
                        </a:defRPr>
                      </a:pPr>
                      <a:r>
                        <a:t>0.053</a:t>
                      </a:r>
                    </a:p>
                  </a:txBody>
                  <a:tcPr marL="36576" marR="36576">
                    <a:solidFill>
                      <a:srgbClr val="FFFFFF"/>
                    </a:solidFill>
                  </a:tcPr>
                </a:tc>
                <a:tc>
                  <a:txBody>
                    <a:bodyPr anchor="ctr"/>
                    <a:lstStyle/>
                    <a:p>
                      <a:pPr algn="ctr">
                        <a:defRPr sz="700">
                          <a:solidFill>
                            <a:srgbClr val="302422"/>
                          </a:solidFill>
                          <a:latin typeface="Aptos"/>
                        </a:defRPr>
                      </a:pPr>
                      <a:r>
                        <a:t>0.062</a:t>
                      </a:r>
                    </a:p>
                  </a:txBody>
                  <a:tcPr marL="36576" marR="36576">
                    <a:solidFill>
                      <a:srgbClr val="FFFFFF"/>
                    </a:solidFill>
                  </a:tcPr>
                </a:tc>
                <a:tc>
                  <a:txBody>
                    <a:bodyPr anchor="ctr"/>
                    <a:lstStyle/>
                    <a:p>
                      <a:pPr algn="ctr">
                        <a:defRPr sz="700">
                          <a:solidFill>
                            <a:srgbClr val="302422"/>
                          </a:solidFill>
                          <a:latin typeface="Aptos"/>
                        </a:defRPr>
                      </a:pPr>
                      <a:r>
                        <a:t>0.070</a:t>
                      </a:r>
                    </a:p>
                  </a:txBody>
                  <a:tcPr marL="36576" marR="36576">
                    <a:solidFill>
                      <a:srgbClr val="FFFFFF"/>
                    </a:solidFill>
                  </a:tcPr>
                </a:tc>
                <a:tc>
                  <a:txBody>
                    <a:bodyPr anchor="ctr"/>
                    <a:lstStyle/>
                    <a:p>
                      <a:pPr algn="ctr">
                        <a:defRPr sz="700">
                          <a:solidFill>
                            <a:srgbClr val="302422"/>
                          </a:solidFill>
                          <a:latin typeface="Aptos"/>
                        </a:defRPr>
                      </a:pPr>
                      <a:r>
                        <a:t>0.080</a:t>
                      </a:r>
                    </a:p>
                  </a:txBody>
                  <a:tcPr marL="36576" marR="36576">
                    <a:solidFill>
                      <a:srgbClr val="FFFFFF"/>
                    </a:solidFill>
                  </a:tcPr>
                </a:tc>
              </a:tr>
              <a:tr h="582930">
                <a:tc>
                  <a:txBody>
                    <a:bodyPr anchor="ctr"/>
                    <a:lstStyle/>
                    <a:p>
                      <a:pPr algn="ctr">
                        <a:defRPr sz="700">
                          <a:solidFill>
                            <a:srgbClr val="302422"/>
                          </a:solidFill>
                          <a:latin typeface="Aptos"/>
                        </a:defRPr>
                      </a:pPr>
                      <a:r>
                        <a:t>NSGA-II</a:t>
                      </a:r>
                    </a:p>
                  </a:txBody>
                  <a:tcPr marL="36576" marR="36576">
                    <a:solidFill>
                      <a:srgbClr val="FFF7F5"/>
                    </a:solidFill>
                  </a:tcPr>
                </a:tc>
                <a:tc>
                  <a:txBody>
                    <a:bodyPr anchor="ctr"/>
                    <a:lstStyle/>
                    <a:p>
                      <a:pPr algn="ctr">
                        <a:defRPr sz="700">
                          <a:solidFill>
                            <a:srgbClr val="302422"/>
                          </a:solidFill>
                          <a:latin typeface="Aptos"/>
                        </a:defRPr>
                      </a:pPr>
                      <a:r>
                        <a:t>0.054</a:t>
                      </a:r>
                    </a:p>
                  </a:txBody>
                  <a:tcPr marL="36576" marR="36576">
                    <a:solidFill>
                      <a:srgbClr val="FFF7F5"/>
                    </a:solidFill>
                  </a:tcPr>
                </a:tc>
                <a:tc>
                  <a:txBody>
                    <a:bodyPr anchor="ctr"/>
                    <a:lstStyle/>
                    <a:p>
                      <a:pPr algn="ctr">
                        <a:defRPr sz="700">
                          <a:solidFill>
                            <a:srgbClr val="302422"/>
                          </a:solidFill>
                          <a:latin typeface="Aptos"/>
                        </a:defRPr>
                      </a:pPr>
                      <a:r>
                        <a:t>0.064</a:t>
                      </a:r>
                    </a:p>
                  </a:txBody>
                  <a:tcPr marL="36576" marR="36576">
                    <a:solidFill>
                      <a:srgbClr val="FFF7F5"/>
                    </a:solidFill>
                  </a:tcPr>
                </a:tc>
                <a:tc>
                  <a:txBody>
                    <a:bodyPr anchor="ctr"/>
                    <a:lstStyle/>
                    <a:p>
                      <a:pPr algn="ctr">
                        <a:defRPr sz="700">
                          <a:solidFill>
                            <a:srgbClr val="302422"/>
                          </a:solidFill>
                          <a:latin typeface="Aptos"/>
                        </a:defRPr>
                      </a:pPr>
                      <a:r>
                        <a:t>0.070</a:t>
                      </a:r>
                    </a:p>
                  </a:txBody>
                  <a:tcPr marL="36576" marR="36576">
                    <a:solidFill>
                      <a:srgbClr val="FFF7F5"/>
                    </a:solidFill>
                  </a:tcPr>
                </a:tc>
                <a:tc>
                  <a:txBody>
                    <a:bodyPr anchor="ctr"/>
                    <a:lstStyle/>
                    <a:p>
                      <a:pPr algn="ctr">
                        <a:defRPr sz="700">
                          <a:solidFill>
                            <a:srgbClr val="302422"/>
                          </a:solidFill>
                          <a:latin typeface="Aptos"/>
                        </a:defRPr>
                      </a:pPr>
                      <a:r>
                        <a:t>0.077</a:t>
                      </a:r>
                    </a:p>
                  </a:txBody>
                  <a:tcPr marL="36576" marR="36576">
                    <a:solidFill>
                      <a:srgbClr val="FFF7F5"/>
                    </a:solidFill>
                  </a:tcPr>
                </a:tc>
                <a:tc>
                  <a:txBody>
                    <a:bodyPr anchor="ctr"/>
                    <a:lstStyle/>
                    <a:p>
                      <a:pPr algn="ctr">
                        <a:defRPr sz="700">
                          <a:solidFill>
                            <a:srgbClr val="302422"/>
                          </a:solidFill>
                          <a:latin typeface="Aptos"/>
                        </a:defRPr>
                      </a:pPr>
                      <a:r>
                        <a:t>0.082</a:t>
                      </a:r>
                    </a:p>
                  </a:txBody>
                  <a:tcPr marL="36576" marR="36576">
                    <a:solidFill>
                      <a:srgbClr val="FFF7F5"/>
                    </a:solidFill>
                  </a:tcPr>
                </a:tc>
              </a:tr>
              <a:tr h="582930">
                <a:tc>
                  <a:txBody>
                    <a:bodyPr anchor="ctr"/>
                    <a:lstStyle/>
                    <a:p>
                      <a:pPr algn="ctr">
                        <a:defRPr sz="700">
                          <a:solidFill>
                            <a:srgbClr val="302422"/>
                          </a:solidFill>
                          <a:latin typeface="Aptos"/>
                        </a:defRPr>
                      </a:pPr>
                      <a:r>
                        <a:t>NSGA-III</a:t>
                      </a:r>
                    </a:p>
                  </a:txBody>
                  <a:tcPr marL="36576" marR="36576">
                    <a:solidFill>
                      <a:srgbClr val="FFFFFF"/>
                    </a:solidFill>
                  </a:tcPr>
                </a:tc>
                <a:tc>
                  <a:txBody>
                    <a:bodyPr anchor="ctr"/>
                    <a:lstStyle/>
                    <a:p>
                      <a:pPr algn="ctr">
                        <a:defRPr sz="700">
                          <a:solidFill>
                            <a:srgbClr val="302422"/>
                          </a:solidFill>
                          <a:latin typeface="Aptos"/>
                        </a:defRPr>
                      </a:pPr>
                      <a:r>
                        <a:t>0.057</a:t>
                      </a:r>
                    </a:p>
                  </a:txBody>
                  <a:tcPr marL="36576" marR="36576">
                    <a:solidFill>
                      <a:srgbClr val="FFFFFF"/>
                    </a:solidFill>
                  </a:tcPr>
                </a:tc>
                <a:tc>
                  <a:txBody>
                    <a:bodyPr anchor="ctr"/>
                    <a:lstStyle/>
                    <a:p>
                      <a:pPr algn="ctr">
                        <a:defRPr sz="700">
                          <a:solidFill>
                            <a:srgbClr val="302422"/>
                          </a:solidFill>
                          <a:latin typeface="Aptos"/>
                        </a:defRPr>
                      </a:pPr>
                      <a:r>
                        <a:t>0.066</a:t>
                      </a:r>
                    </a:p>
                  </a:txBody>
                  <a:tcPr marL="36576" marR="36576">
                    <a:solidFill>
                      <a:srgbClr val="FFFFFF"/>
                    </a:solidFill>
                  </a:tcPr>
                </a:tc>
                <a:tc>
                  <a:txBody>
                    <a:bodyPr anchor="ctr"/>
                    <a:lstStyle/>
                    <a:p>
                      <a:pPr algn="ctr">
                        <a:defRPr sz="700">
                          <a:solidFill>
                            <a:srgbClr val="302422"/>
                          </a:solidFill>
                          <a:latin typeface="Aptos"/>
                        </a:defRPr>
                      </a:pPr>
                      <a:r>
                        <a:t>0.071</a:t>
                      </a:r>
                    </a:p>
                  </a:txBody>
                  <a:tcPr marL="36576" marR="36576">
                    <a:solidFill>
                      <a:srgbClr val="FFFFFF"/>
                    </a:solidFill>
                  </a:tcPr>
                </a:tc>
                <a:tc>
                  <a:txBody>
                    <a:bodyPr anchor="ctr"/>
                    <a:lstStyle/>
                    <a:p>
                      <a:pPr algn="ctr">
                        <a:defRPr sz="700">
                          <a:solidFill>
                            <a:srgbClr val="302422"/>
                          </a:solidFill>
                          <a:latin typeface="Aptos"/>
                        </a:defRPr>
                      </a:pPr>
                      <a:r>
                        <a:t>0.077</a:t>
                      </a:r>
                    </a:p>
                  </a:txBody>
                  <a:tcPr marL="36576" marR="36576">
                    <a:solidFill>
                      <a:srgbClr val="FFFFFF"/>
                    </a:solidFill>
                  </a:tcPr>
                </a:tc>
                <a:tc>
                  <a:txBody>
                    <a:bodyPr anchor="ctr"/>
                    <a:lstStyle/>
                    <a:p>
                      <a:pPr algn="ctr">
                        <a:defRPr sz="700">
                          <a:solidFill>
                            <a:srgbClr val="302422"/>
                          </a:solidFill>
                          <a:latin typeface="Aptos"/>
                        </a:defRPr>
                      </a:pPr>
                      <a:r>
                        <a:t>0.085</a:t>
                      </a:r>
                    </a:p>
                  </a:txBody>
                  <a:tcPr marL="36576" marR="36576">
                    <a:solidFill>
                      <a:srgbClr val="FFFFFF"/>
                    </a:solidFill>
                  </a:tcPr>
                </a:tc>
              </a:tr>
            </a:tbl>
          </a:graphicData>
        </a:graphic>
      </p:graphicFrame>
      <p:sp>
        <p:nvSpPr>
          <p:cNvPr id="12" name="Rectangle 11"/>
          <p:cNvSpPr/>
          <p:nvPr/>
        </p:nvSpPr>
        <p:spPr>
          <a:xfrm>
            <a:off x="6217920" y="3703320"/>
            <a:ext cx="4892040" cy="749808"/>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3813048"/>
            <a:ext cx="4599431" cy="256032"/>
          </a:xfrm>
          <a:prstGeom prst="rect">
            <a:avLst/>
          </a:prstGeom>
          <a:noFill/>
        </p:spPr>
        <p:txBody>
          <a:bodyPr wrap="square">
            <a:spAutoFit/>
          </a:bodyPr>
          <a:lstStyle/>
          <a:p>
            <a:pPr algn="l">
              <a:defRPr sz="1100" b="1">
                <a:solidFill>
                  <a:srgbClr val="97423E"/>
                </a:solidFill>
                <a:latin typeface="Aptos"/>
              </a:defRPr>
            </a:pPr>
            <a:r>
              <a:t>Reading note</a:t>
            </a:r>
          </a:p>
        </p:txBody>
      </p:sp>
      <p:sp>
        <p:nvSpPr>
          <p:cNvPr id="14" name="TextBox 13"/>
          <p:cNvSpPr txBox="1"/>
          <p:nvPr/>
        </p:nvSpPr>
        <p:spPr>
          <a:xfrm>
            <a:off x="6364224" y="4142231"/>
            <a:ext cx="4599431" cy="237743"/>
          </a:xfrm>
          <a:prstGeom prst="rect">
            <a:avLst/>
          </a:prstGeom>
          <a:noFill/>
        </p:spPr>
        <p:txBody>
          <a:bodyPr wrap="square">
            <a:spAutoFit/>
          </a:bodyPr>
          <a:lstStyle/>
          <a:p>
            <a:pPr algn="l">
              <a:defRPr sz="1000" b="0">
                <a:solidFill>
                  <a:srgbClr val="302422"/>
                </a:solidFill>
                <a:latin typeface="Aptos"/>
              </a:defRPr>
            </a:pPr>
            <a:r>
              <a:t>MAE = average Celsius error over windows. L2 = relative field error at t=30 s.</a:t>
            </a:r>
          </a:p>
        </p:txBody>
      </p:sp>
      <p:sp>
        <p:nvSpPr>
          <p:cNvPr id="15" name="Rectangle 14"/>
          <p:cNvSpPr/>
          <p:nvPr/>
        </p:nvSpPr>
        <p:spPr>
          <a:xfrm>
            <a:off x="594360" y="5166360"/>
            <a:ext cx="3337560" cy="86868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5276088"/>
            <a:ext cx="3044952" cy="256032"/>
          </a:xfrm>
          <a:prstGeom prst="rect">
            <a:avLst/>
          </a:prstGeom>
          <a:noFill/>
        </p:spPr>
        <p:txBody>
          <a:bodyPr wrap="square">
            <a:spAutoFit/>
          </a:bodyPr>
          <a:lstStyle/>
          <a:p>
            <a:pPr algn="l">
              <a:defRPr sz="1100" b="1">
                <a:solidFill>
                  <a:srgbClr val="97423E"/>
                </a:solidFill>
                <a:latin typeface="Aptos"/>
              </a:defRPr>
            </a:pPr>
            <a:r>
              <a:t>MAE</a:t>
            </a:r>
          </a:p>
        </p:txBody>
      </p:sp>
      <p:sp>
        <p:nvSpPr>
          <p:cNvPr id="17" name="TextBox 16"/>
          <p:cNvSpPr txBox="1"/>
          <p:nvPr/>
        </p:nvSpPr>
        <p:spPr>
          <a:xfrm>
            <a:off x="740664" y="5605272"/>
            <a:ext cx="3044952" cy="356615"/>
          </a:xfrm>
          <a:prstGeom prst="rect">
            <a:avLst/>
          </a:prstGeom>
          <a:noFill/>
        </p:spPr>
        <p:txBody>
          <a:bodyPr wrap="square">
            <a:spAutoFit/>
          </a:bodyPr>
          <a:lstStyle/>
          <a:p>
            <a:pPr algn="l">
              <a:defRPr sz="1000" b="0">
                <a:solidFill>
                  <a:srgbClr val="302422"/>
                </a:solidFill>
                <a:latin typeface="Aptos"/>
              </a:defRPr>
            </a:pPr>
            <a:r>
              <a:t>Shows average thermal accuracy and FEM-saving trade-off.</a:t>
            </a:r>
          </a:p>
        </p:txBody>
      </p:sp>
      <p:sp>
        <p:nvSpPr>
          <p:cNvPr id="18" name="Rectangle 17"/>
          <p:cNvSpPr/>
          <p:nvPr/>
        </p:nvSpPr>
        <p:spPr>
          <a:xfrm>
            <a:off x="4160520" y="5166360"/>
            <a:ext cx="3337560" cy="86868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06824" y="5276088"/>
            <a:ext cx="3044952" cy="256032"/>
          </a:xfrm>
          <a:prstGeom prst="rect">
            <a:avLst/>
          </a:prstGeom>
          <a:noFill/>
        </p:spPr>
        <p:txBody>
          <a:bodyPr wrap="square">
            <a:spAutoFit/>
          </a:bodyPr>
          <a:lstStyle/>
          <a:p>
            <a:pPr algn="l">
              <a:defRPr sz="1100" b="1">
                <a:solidFill>
                  <a:srgbClr val="97423E"/>
                </a:solidFill>
                <a:latin typeface="Aptos"/>
              </a:defRPr>
            </a:pPr>
            <a:r>
              <a:t>L2</a:t>
            </a:r>
          </a:p>
        </p:txBody>
      </p:sp>
      <p:sp>
        <p:nvSpPr>
          <p:cNvPr id="20" name="TextBox 19"/>
          <p:cNvSpPr txBox="1"/>
          <p:nvPr/>
        </p:nvSpPr>
        <p:spPr>
          <a:xfrm>
            <a:off x="4306824" y="5605272"/>
            <a:ext cx="3044952" cy="356615"/>
          </a:xfrm>
          <a:prstGeom prst="rect">
            <a:avLst/>
          </a:prstGeom>
          <a:noFill/>
        </p:spPr>
        <p:txBody>
          <a:bodyPr wrap="square">
            <a:spAutoFit/>
          </a:bodyPr>
          <a:lstStyle/>
          <a:p>
            <a:pPr algn="l">
              <a:defRPr sz="1000" b="0">
                <a:solidFill>
                  <a:srgbClr val="302422"/>
                </a:solidFill>
                <a:latin typeface="Aptos"/>
              </a:defRPr>
            </a:pPr>
            <a:r>
              <a:t>Shows if the final temperature field shape is close to FEM.</a:t>
            </a:r>
          </a:p>
        </p:txBody>
      </p:sp>
      <p:sp>
        <p:nvSpPr>
          <p:cNvPr id="21" name="Rectangle 20"/>
          <p:cNvSpPr/>
          <p:nvPr/>
        </p:nvSpPr>
        <p:spPr>
          <a:xfrm>
            <a:off x="7726679" y="5166360"/>
            <a:ext cx="3154680" cy="8686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2983" y="5276088"/>
            <a:ext cx="2862072" cy="256032"/>
          </a:xfrm>
          <a:prstGeom prst="rect">
            <a:avLst/>
          </a:prstGeom>
          <a:noFill/>
        </p:spPr>
        <p:txBody>
          <a:bodyPr wrap="square">
            <a:spAutoFit/>
          </a:bodyPr>
          <a:lstStyle/>
          <a:p>
            <a:pPr algn="l">
              <a:defRPr sz="1100" b="1">
                <a:solidFill>
                  <a:srgbClr val="97423E"/>
                </a:solidFill>
                <a:latin typeface="Aptos"/>
              </a:defRPr>
            </a:pPr>
            <a:r>
              <a:t>Key result</a:t>
            </a:r>
          </a:p>
        </p:txBody>
      </p:sp>
      <p:sp>
        <p:nvSpPr>
          <p:cNvPr id="23" name="TextBox 22"/>
          <p:cNvSpPr txBox="1"/>
          <p:nvPr/>
        </p:nvSpPr>
        <p:spPr>
          <a:xfrm>
            <a:off x="7872983" y="5605272"/>
            <a:ext cx="2862072" cy="356615"/>
          </a:xfrm>
          <a:prstGeom prst="rect">
            <a:avLst/>
          </a:prstGeom>
          <a:noFill/>
        </p:spPr>
        <p:txBody>
          <a:bodyPr wrap="square">
            <a:spAutoFit/>
          </a:bodyPr>
          <a:lstStyle/>
          <a:p>
            <a:pPr algn="l">
              <a:defRPr sz="1000" b="0">
                <a:solidFill>
                  <a:srgbClr val="302422"/>
                </a:solidFill>
                <a:latin typeface="Aptos"/>
              </a:defRPr>
            </a:pPr>
            <a:r>
              <a:t>Bayesian/TPE with Fourier has the best field accuracy.</a:t>
            </a:r>
          </a:p>
        </p:txBody>
      </p:sp>
      <p:sp>
        <p:nvSpPr>
          <p:cNvPr id="24" name="Rectangle 23"/>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MAE and L2 Summary</a:t>
            </a:r>
          </a:p>
        </p:txBody>
      </p:sp>
      <p:sp>
        <p:nvSpPr>
          <p:cNvPr id="26" name="TextBox 25"/>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7" name="Rectangle 26"/>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9" name="TextBox 28"/>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30" name="TextBox 29"/>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ed_bar_thermal_fin.png"/>
          <p:cNvPicPr>
            <a:picLocks noChangeAspect="1"/>
          </p:cNvPicPr>
          <p:nvPr/>
        </p:nvPicPr>
        <p:blipFill>
          <a:blip r:embed="rId3"/>
          <a:stretch>
            <a:fillRect/>
          </a:stretch>
        </p:blipFill>
        <p:spPr>
          <a:xfrm>
            <a:off x="576072" y="1832497"/>
            <a:ext cx="5248656" cy="1501365"/>
          </a:xfrm>
          <a:prstGeom prst="rect">
            <a:avLst/>
          </a:prstGeom>
        </p:spPr>
      </p:pic>
      <p:sp>
        <p:nvSpPr>
          <p:cNvPr id="9" name="Rectangle 8"/>
          <p:cNvSpPr/>
          <p:nvPr/>
        </p:nvSpPr>
        <p:spPr>
          <a:xfrm>
            <a:off x="6263640" y="868680"/>
            <a:ext cx="5394960" cy="342900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2_all_k_thermal_fin.png"/>
          <p:cNvPicPr>
            <a:picLocks noChangeAspect="1"/>
          </p:cNvPicPr>
          <p:nvPr/>
        </p:nvPicPr>
        <p:blipFill>
          <a:blip r:embed="rId4"/>
          <a:stretch>
            <a:fillRect/>
          </a:stretch>
        </p:blipFill>
        <p:spPr>
          <a:xfrm>
            <a:off x="6336792" y="1948298"/>
            <a:ext cx="5248656" cy="1269762"/>
          </a:xfrm>
          <a:prstGeom prst="rect">
            <a:avLst/>
          </a:prstGeom>
        </p:spPr>
      </p:pic>
      <p:sp>
        <p:nvSpPr>
          <p:cNvPr id="11" name="Rectangle 10"/>
          <p:cNvSpPr/>
          <p:nvPr/>
        </p:nvSpPr>
        <p:spPr>
          <a:xfrm>
            <a:off x="685800" y="4800600"/>
            <a:ext cx="3429000" cy="9144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910328"/>
            <a:ext cx="3136392" cy="256032"/>
          </a:xfrm>
          <a:prstGeom prst="rect">
            <a:avLst/>
          </a:prstGeom>
          <a:noFill/>
        </p:spPr>
        <p:txBody>
          <a:bodyPr wrap="square">
            <a:spAutoFit/>
          </a:bodyPr>
          <a:lstStyle/>
          <a:p>
            <a:pPr algn="l">
              <a:defRPr sz="1100" b="1">
                <a:solidFill>
                  <a:srgbClr val="97423E"/>
                </a:solidFill>
                <a:latin typeface="Aptos"/>
              </a:defRPr>
            </a:pPr>
            <a:r>
              <a:t>MAE graph</a:t>
            </a:r>
          </a:p>
        </p:txBody>
      </p:sp>
      <p:sp>
        <p:nvSpPr>
          <p:cNvPr id="13" name="TextBox 12"/>
          <p:cNvSpPr txBox="1"/>
          <p:nvPr/>
        </p:nvSpPr>
        <p:spPr>
          <a:xfrm>
            <a:off x="832104" y="5239512"/>
            <a:ext cx="3136392" cy="402335"/>
          </a:xfrm>
          <a:prstGeom prst="rect">
            <a:avLst/>
          </a:prstGeom>
          <a:noFill/>
        </p:spPr>
        <p:txBody>
          <a:bodyPr wrap="square">
            <a:spAutoFit/>
          </a:bodyPr>
          <a:lstStyle/>
          <a:p>
            <a:pPr algn="l">
              <a:defRPr sz="1000" b="0">
                <a:solidFill>
                  <a:srgbClr val="302422"/>
                </a:solidFill>
                <a:latin typeface="Aptos"/>
              </a:defRPr>
            </a:pPr>
            <a:r>
              <a:t>Fourier makes Bayesian/TPE stable.</a:t>
            </a:r>
          </a:p>
        </p:txBody>
      </p:sp>
      <p:sp>
        <p:nvSpPr>
          <p:cNvPr id="14" name="Rectangle 13"/>
          <p:cNvSpPr/>
          <p:nvPr/>
        </p:nvSpPr>
        <p:spPr>
          <a:xfrm>
            <a:off x="4343400" y="4800600"/>
            <a:ext cx="3429000" cy="9144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4910328"/>
            <a:ext cx="3136392" cy="256032"/>
          </a:xfrm>
          <a:prstGeom prst="rect">
            <a:avLst/>
          </a:prstGeom>
          <a:noFill/>
        </p:spPr>
        <p:txBody>
          <a:bodyPr wrap="square">
            <a:spAutoFit/>
          </a:bodyPr>
          <a:lstStyle/>
          <a:p>
            <a:pPr algn="l">
              <a:defRPr sz="1100" b="1">
                <a:solidFill>
                  <a:srgbClr val="97423E"/>
                </a:solidFill>
                <a:latin typeface="Aptos"/>
              </a:defRPr>
            </a:pPr>
            <a:r>
              <a:t>L2 graph</a:t>
            </a:r>
          </a:p>
        </p:txBody>
      </p:sp>
      <p:sp>
        <p:nvSpPr>
          <p:cNvPr id="16" name="TextBox 15"/>
          <p:cNvSpPr txBox="1"/>
          <p:nvPr/>
        </p:nvSpPr>
        <p:spPr>
          <a:xfrm>
            <a:off x="4489704" y="5239512"/>
            <a:ext cx="3136392" cy="402335"/>
          </a:xfrm>
          <a:prstGeom prst="rect">
            <a:avLst/>
          </a:prstGeom>
          <a:noFill/>
        </p:spPr>
        <p:txBody>
          <a:bodyPr wrap="square">
            <a:spAutoFit/>
          </a:bodyPr>
          <a:lstStyle/>
          <a:p>
            <a:pPr algn="l">
              <a:defRPr sz="1000" b="0">
                <a:solidFill>
                  <a:srgbClr val="302422"/>
                </a:solidFill>
                <a:latin typeface="Aptos"/>
              </a:defRPr>
            </a:pPr>
            <a:r>
              <a:t>Higher k increases field error.</a:t>
            </a:r>
          </a:p>
        </p:txBody>
      </p:sp>
      <p:sp>
        <p:nvSpPr>
          <p:cNvPr id="17" name="Rectangle 16"/>
          <p:cNvSpPr/>
          <p:nvPr/>
        </p:nvSpPr>
        <p:spPr>
          <a:xfrm>
            <a:off x="8001000" y="4800600"/>
            <a:ext cx="2834640" cy="91440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47304" y="4910328"/>
            <a:ext cx="2542032" cy="256032"/>
          </a:xfrm>
          <a:prstGeom prst="rect">
            <a:avLst/>
          </a:prstGeom>
          <a:noFill/>
        </p:spPr>
        <p:txBody>
          <a:bodyPr wrap="square">
            <a:spAutoFit/>
          </a:bodyPr>
          <a:lstStyle/>
          <a:p>
            <a:pPr algn="l">
              <a:defRPr sz="1100" b="1">
                <a:solidFill>
                  <a:srgbClr val="97423E"/>
                </a:solidFill>
                <a:latin typeface="Aptos"/>
              </a:defRPr>
            </a:pPr>
            <a:r>
              <a:t>Together</a:t>
            </a:r>
          </a:p>
        </p:txBody>
      </p:sp>
      <p:sp>
        <p:nvSpPr>
          <p:cNvPr id="19" name="TextBox 18"/>
          <p:cNvSpPr txBox="1"/>
          <p:nvPr/>
        </p:nvSpPr>
        <p:spPr>
          <a:xfrm>
            <a:off x="8147304" y="5239512"/>
            <a:ext cx="2542032" cy="402335"/>
          </a:xfrm>
          <a:prstGeom prst="rect">
            <a:avLst/>
          </a:prstGeom>
          <a:noFill/>
        </p:spPr>
        <p:txBody>
          <a:bodyPr wrap="square">
            <a:spAutoFit/>
          </a:bodyPr>
          <a:lstStyle/>
          <a:p>
            <a:pPr algn="l">
              <a:defRPr sz="1000" b="0">
                <a:solidFill>
                  <a:srgbClr val="302422"/>
                </a:solidFill>
                <a:latin typeface="Aptos"/>
              </a:defRPr>
            </a:pPr>
            <a:r>
              <a:t>Good result, but FEM anchors are still needed.</a:t>
            </a:r>
          </a:p>
        </p:txBody>
      </p:sp>
      <p:sp>
        <p:nvSpPr>
          <p:cNvPr id="20" name="Rectangle 19"/>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MAE Variability and L2 Curves</a:t>
            </a:r>
          </a:p>
        </p:txBody>
      </p:sp>
      <p:sp>
        <p:nvSpPr>
          <p:cNvPr id="22" name="TextBox 21"/>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3" name="Rectangle 22"/>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5" name="TextBox 24"/>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6" name="TextBox 25"/>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hermal_fin_bayesian_fixed_k_clean_heatmaps.png"/>
          <p:cNvPicPr>
            <a:picLocks noChangeAspect="1"/>
          </p:cNvPicPr>
          <p:nvPr/>
        </p:nvPicPr>
        <p:blipFill>
          <a:blip r:embed="rId3"/>
          <a:stretch>
            <a:fillRect/>
          </a:stretch>
        </p:blipFill>
        <p:spPr>
          <a:xfrm>
            <a:off x="539742" y="1124712"/>
            <a:ext cx="3401074" cy="4014215"/>
          </a:xfrm>
          <a:prstGeom prst="rect">
            <a:avLst/>
          </a:prstGeom>
        </p:spPr>
      </p:pic>
      <p:sp>
        <p:nvSpPr>
          <p:cNvPr id="12" name="Rectangle 11"/>
          <p:cNvSpPr/>
          <p:nvPr/>
        </p:nvSpPr>
        <p:spPr>
          <a:xfrm>
            <a:off x="416052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hermal_fin_nsga2_fixed_k_clean_heatmaps.png"/>
          <p:cNvPicPr>
            <a:picLocks noChangeAspect="1"/>
          </p:cNvPicPr>
          <p:nvPr/>
        </p:nvPicPr>
        <p:blipFill>
          <a:blip r:embed="rId4"/>
          <a:stretch>
            <a:fillRect/>
          </a:stretch>
        </p:blipFill>
        <p:spPr>
          <a:xfrm>
            <a:off x="4288782" y="1124712"/>
            <a:ext cx="3401074" cy="4014215"/>
          </a:xfrm>
          <a:prstGeom prst="rect">
            <a:avLst/>
          </a:prstGeom>
        </p:spPr>
      </p:pic>
      <p:sp>
        <p:nvSpPr>
          <p:cNvPr id="14" name="Rectangle 13"/>
          <p:cNvSpPr/>
          <p:nvPr/>
        </p:nvSpPr>
        <p:spPr>
          <a:xfrm>
            <a:off x="790956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hermal_fin_nsga3_fixed_k_clean_heatmaps.png"/>
          <p:cNvPicPr>
            <a:picLocks noChangeAspect="1"/>
          </p:cNvPicPr>
          <p:nvPr/>
        </p:nvPicPr>
        <p:blipFill>
          <a:blip r:embed="rId5"/>
          <a:stretch>
            <a:fillRect/>
          </a:stretch>
        </p:blipFill>
        <p:spPr>
          <a:xfrm>
            <a:off x="8036386" y="1124712"/>
            <a:ext cx="3403946" cy="4014215"/>
          </a:xfrm>
          <a:prstGeom prst="rect">
            <a:avLst/>
          </a:prstGeom>
        </p:spPr>
      </p:pic>
      <p:sp>
        <p:nvSpPr>
          <p:cNvPr id="16" name="Rectangle 15"/>
          <p:cNvSpPr/>
          <p:nvPr/>
        </p:nvSpPr>
        <p:spPr>
          <a:xfrm>
            <a:off x="914400" y="5532120"/>
            <a:ext cx="10378440" cy="594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5641848"/>
            <a:ext cx="10085832" cy="256032"/>
          </a:xfrm>
          <a:prstGeom prst="rect">
            <a:avLst/>
          </a:prstGeom>
          <a:noFill/>
        </p:spPr>
        <p:txBody>
          <a:bodyPr wrap="square">
            <a:spAutoFit/>
          </a:bodyPr>
          <a:lstStyle/>
          <a:p>
            <a:pPr algn="l">
              <a:defRPr sz="1100" b="1">
                <a:solidFill>
                  <a:srgbClr val="97423E"/>
                </a:solidFill>
                <a:latin typeface="Aptos"/>
              </a:defRPr>
            </a:pPr>
            <a:r>
              <a:t>Interpretation</a:t>
            </a:r>
          </a:p>
        </p:txBody>
      </p:sp>
      <p:sp>
        <p:nvSpPr>
          <p:cNvPr id="18" name="TextBox 17"/>
          <p:cNvSpPr txBox="1"/>
          <p:nvPr/>
        </p:nvSpPr>
        <p:spPr>
          <a:xfrm>
            <a:off x="1060704" y="5971031"/>
            <a:ext cx="10085832" cy="82295"/>
          </a:xfrm>
          <a:prstGeom prst="rect">
            <a:avLst/>
          </a:prstGeom>
          <a:noFill/>
        </p:spPr>
        <p:txBody>
          <a:bodyPr wrap="square">
            <a:spAutoFit/>
          </a:bodyPr>
          <a:lstStyle/>
          <a:p>
            <a:pPr algn="l">
              <a:defRPr sz="1000" b="0">
                <a:solidFill>
                  <a:srgbClr val="302422"/>
                </a:solidFill>
                <a:latin typeface="Aptos"/>
              </a:defRPr>
            </a:pPr>
            <a:r>
              <a:t>These 2D cross-sections show that FEM anchoring keeps the error pattern local and controlled.</a:t>
            </a:r>
          </a:p>
        </p:txBody>
      </p:sp>
      <p:sp>
        <p:nvSpPr>
          <p:cNvPr id="19" name="Rectangle 1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Fixed-k Heat Maps (2D)</a:t>
            </a:r>
          </a:p>
        </p:txBody>
      </p:sp>
      <p:sp>
        <p:nvSpPr>
          <p:cNvPr id="21" name="TextBox 20"/>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2" name="Rectangle 21"/>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4" name="TextBox 23"/>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5" name="TextBox 24"/>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051560"/>
            <a:ext cx="5303520" cy="4251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hermal_fin_fem_adaptive_clean_heatmaps.png"/>
          <p:cNvPicPr>
            <a:picLocks noChangeAspect="1"/>
          </p:cNvPicPr>
          <p:nvPr/>
        </p:nvPicPr>
        <p:blipFill>
          <a:blip r:embed="rId3"/>
          <a:stretch>
            <a:fillRect/>
          </a:stretch>
        </p:blipFill>
        <p:spPr>
          <a:xfrm>
            <a:off x="667512" y="1261892"/>
            <a:ext cx="5157216" cy="3831294"/>
          </a:xfrm>
          <a:prstGeom prst="rect">
            <a:avLst/>
          </a:prstGeom>
        </p:spPr>
      </p:pic>
      <p:sp>
        <p:nvSpPr>
          <p:cNvPr id="11" name="Rectangle 10"/>
          <p:cNvSpPr/>
          <p:nvPr/>
        </p:nvSpPr>
        <p:spPr>
          <a:xfrm>
            <a:off x="6263640" y="1051560"/>
            <a:ext cx="5303520" cy="4251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hermal_fin_pinn_only_best_clean_heatmaps.png"/>
          <p:cNvPicPr>
            <a:picLocks noChangeAspect="1"/>
          </p:cNvPicPr>
          <p:nvPr/>
        </p:nvPicPr>
        <p:blipFill>
          <a:blip r:embed="rId4"/>
          <a:stretch>
            <a:fillRect/>
          </a:stretch>
        </p:blipFill>
        <p:spPr>
          <a:xfrm>
            <a:off x="6336792" y="1267983"/>
            <a:ext cx="5157216" cy="3819113"/>
          </a:xfrm>
          <a:prstGeom prst="rect">
            <a:avLst/>
          </a:prstGeom>
        </p:spPr>
      </p:pic>
      <p:sp>
        <p:nvSpPr>
          <p:cNvPr id="13" name="Rectangle 12"/>
          <p:cNvSpPr/>
          <p:nvPr/>
        </p:nvSpPr>
        <p:spPr>
          <a:xfrm>
            <a:off x="868680" y="5532120"/>
            <a:ext cx="5074920" cy="594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5641848"/>
            <a:ext cx="4782312" cy="256032"/>
          </a:xfrm>
          <a:prstGeom prst="rect">
            <a:avLst/>
          </a:prstGeom>
          <a:noFill/>
        </p:spPr>
        <p:txBody>
          <a:bodyPr wrap="square">
            <a:spAutoFit/>
          </a:bodyPr>
          <a:lstStyle/>
          <a:p>
            <a:pPr algn="l">
              <a:defRPr sz="1100" b="1">
                <a:solidFill>
                  <a:srgbClr val="97423E"/>
                </a:solidFill>
                <a:latin typeface="Aptos"/>
              </a:defRPr>
            </a:pPr>
            <a:r>
              <a:t>With FEM anchors</a:t>
            </a:r>
          </a:p>
        </p:txBody>
      </p:sp>
      <p:sp>
        <p:nvSpPr>
          <p:cNvPr id="15" name="TextBox 14"/>
          <p:cNvSpPr txBox="1"/>
          <p:nvPr/>
        </p:nvSpPr>
        <p:spPr>
          <a:xfrm>
            <a:off x="1014983" y="5971031"/>
            <a:ext cx="4782312" cy="82295"/>
          </a:xfrm>
          <a:prstGeom prst="rect">
            <a:avLst/>
          </a:prstGeom>
          <a:noFill/>
        </p:spPr>
        <p:txBody>
          <a:bodyPr wrap="square">
            <a:spAutoFit/>
          </a:bodyPr>
          <a:lstStyle/>
          <a:p>
            <a:pPr algn="l">
              <a:defRPr sz="1000" b="0">
                <a:solidFill>
                  <a:srgbClr val="302422"/>
                </a:solidFill>
                <a:latin typeface="Aptos"/>
              </a:defRPr>
            </a:pPr>
            <a:r>
              <a:t>The field is corrected at window boundaries.</a:t>
            </a:r>
          </a:p>
        </p:txBody>
      </p:sp>
      <p:sp>
        <p:nvSpPr>
          <p:cNvPr id="16" name="Rectangle 15"/>
          <p:cNvSpPr/>
          <p:nvPr/>
        </p:nvSpPr>
        <p:spPr>
          <a:xfrm>
            <a:off x="6263640" y="5532120"/>
            <a:ext cx="5074920" cy="594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5641848"/>
            <a:ext cx="4782312" cy="256032"/>
          </a:xfrm>
          <a:prstGeom prst="rect">
            <a:avLst/>
          </a:prstGeom>
          <a:noFill/>
        </p:spPr>
        <p:txBody>
          <a:bodyPr wrap="square">
            <a:spAutoFit/>
          </a:bodyPr>
          <a:lstStyle/>
          <a:p>
            <a:pPr algn="l">
              <a:defRPr sz="1100" b="1">
                <a:solidFill>
                  <a:srgbClr val="97423E"/>
                </a:solidFill>
                <a:latin typeface="Aptos"/>
              </a:defRPr>
            </a:pPr>
            <a:r>
              <a:t>Without FEM anchors</a:t>
            </a:r>
          </a:p>
        </p:txBody>
      </p:sp>
      <p:sp>
        <p:nvSpPr>
          <p:cNvPr id="18" name="TextBox 17"/>
          <p:cNvSpPr txBox="1"/>
          <p:nvPr/>
        </p:nvSpPr>
        <p:spPr>
          <a:xfrm>
            <a:off x="6409944" y="5971031"/>
            <a:ext cx="4782312" cy="82295"/>
          </a:xfrm>
          <a:prstGeom prst="rect">
            <a:avLst/>
          </a:prstGeom>
          <a:noFill/>
        </p:spPr>
        <p:txBody>
          <a:bodyPr wrap="square">
            <a:spAutoFit/>
          </a:bodyPr>
          <a:lstStyle/>
          <a:p>
            <a:pPr algn="l">
              <a:defRPr sz="1000" b="0">
                <a:solidFill>
                  <a:srgbClr val="302422"/>
                </a:solidFill>
                <a:latin typeface="Aptos"/>
              </a:defRPr>
            </a:pPr>
            <a:r>
              <a:t>Errors accumulate and spread across the field.</a:t>
            </a:r>
          </a:p>
        </p:txBody>
      </p:sp>
      <p:sp>
        <p:nvSpPr>
          <p:cNvPr id="19" name="Rectangle 1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Adaptive vs PINN-only Heat Maps (2D)</a:t>
            </a:r>
          </a:p>
        </p:txBody>
      </p:sp>
      <p:sp>
        <p:nvSpPr>
          <p:cNvPr id="21" name="TextBox 20"/>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2" name="Rectangle 21"/>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4" name="TextBox 23"/>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5" name="TextBox 24"/>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hermal_fin_bayesian_fixed_k_clean_3d.png"/>
          <p:cNvPicPr>
            <a:picLocks noChangeAspect="1"/>
          </p:cNvPicPr>
          <p:nvPr/>
        </p:nvPicPr>
        <p:blipFill>
          <a:blip r:embed="rId3"/>
          <a:stretch>
            <a:fillRect/>
          </a:stretch>
        </p:blipFill>
        <p:spPr>
          <a:xfrm>
            <a:off x="484631" y="2157061"/>
            <a:ext cx="3511296" cy="1949516"/>
          </a:xfrm>
          <a:prstGeom prst="rect">
            <a:avLst/>
          </a:prstGeom>
        </p:spPr>
      </p:pic>
      <p:sp>
        <p:nvSpPr>
          <p:cNvPr id="12" name="Rectangle 11"/>
          <p:cNvSpPr/>
          <p:nvPr/>
        </p:nvSpPr>
        <p:spPr>
          <a:xfrm>
            <a:off x="416052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hermal_fin_nsga2_fixed_k_clean_3d.png"/>
          <p:cNvPicPr>
            <a:picLocks noChangeAspect="1"/>
          </p:cNvPicPr>
          <p:nvPr/>
        </p:nvPicPr>
        <p:blipFill>
          <a:blip r:embed="rId4"/>
          <a:stretch>
            <a:fillRect/>
          </a:stretch>
        </p:blipFill>
        <p:spPr>
          <a:xfrm>
            <a:off x="4233672" y="2157061"/>
            <a:ext cx="3511296" cy="1949516"/>
          </a:xfrm>
          <a:prstGeom prst="rect">
            <a:avLst/>
          </a:prstGeom>
        </p:spPr>
      </p:pic>
      <p:sp>
        <p:nvSpPr>
          <p:cNvPr id="14" name="Rectangle 13"/>
          <p:cNvSpPr/>
          <p:nvPr/>
        </p:nvSpPr>
        <p:spPr>
          <a:xfrm>
            <a:off x="7909560" y="1051560"/>
            <a:ext cx="3657600" cy="416052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hermal_fin_nsga3_fixed_k_clean_3d.png"/>
          <p:cNvPicPr>
            <a:picLocks noChangeAspect="1"/>
          </p:cNvPicPr>
          <p:nvPr/>
        </p:nvPicPr>
        <p:blipFill>
          <a:blip r:embed="rId5"/>
          <a:stretch>
            <a:fillRect/>
          </a:stretch>
        </p:blipFill>
        <p:spPr>
          <a:xfrm>
            <a:off x="7982712" y="2157061"/>
            <a:ext cx="3511296" cy="1949516"/>
          </a:xfrm>
          <a:prstGeom prst="rect">
            <a:avLst/>
          </a:prstGeom>
        </p:spPr>
      </p:pic>
      <p:sp>
        <p:nvSpPr>
          <p:cNvPr id="16" name="Rectangle 15"/>
          <p:cNvSpPr/>
          <p:nvPr/>
        </p:nvSpPr>
        <p:spPr>
          <a:xfrm>
            <a:off x="914400" y="5532120"/>
            <a:ext cx="10378440" cy="594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0704" y="5641848"/>
            <a:ext cx="10085832" cy="256032"/>
          </a:xfrm>
          <a:prstGeom prst="rect">
            <a:avLst/>
          </a:prstGeom>
          <a:noFill/>
        </p:spPr>
        <p:txBody>
          <a:bodyPr wrap="square">
            <a:spAutoFit/>
          </a:bodyPr>
          <a:lstStyle/>
          <a:p>
            <a:pPr algn="l">
              <a:defRPr sz="1100" b="1">
                <a:solidFill>
                  <a:srgbClr val="97423E"/>
                </a:solidFill>
                <a:latin typeface="Aptos"/>
              </a:defRPr>
            </a:pPr>
            <a:r>
              <a:t>Interpretation</a:t>
            </a:r>
          </a:p>
        </p:txBody>
      </p:sp>
      <p:sp>
        <p:nvSpPr>
          <p:cNvPr id="18" name="TextBox 17"/>
          <p:cNvSpPr txBox="1"/>
          <p:nvPr/>
        </p:nvSpPr>
        <p:spPr>
          <a:xfrm>
            <a:off x="1060704" y="5971031"/>
            <a:ext cx="10085832" cy="82295"/>
          </a:xfrm>
          <a:prstGeom prst="rect">
            <a:avLst/>
          </a:prstGeom>
          <a:noFill/>
        </p:spPr>
        <p:txBody>
          <a:bodyPr wrap="square">
            <a:spAutoFit/>
          </a:bodyPr>
          <a:lstStyle/>
          <a:p>
            <a:pPr algn="l">
              <a:defRPr sz="1000" b="0">
                <a:solidFill>
                  <a:srgbClr val="302422"/>
                </a:solidFill>
                <a:latin typeface="Aptos"/>
              </a:defRPr>
            </a:pPr>
            <a:r>
              <a:t>The volumetric view confirms the table result: sharp fin regions are the hardest parts of the domain.</a:t>
            </a:r>
          </a:p>
        </p:txBody>
      </p:sp>
      <p:sp>
        <p:nvSpPr>
          <p:cNvPr id="19" name="Rectangle 1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Fixed-k Volumetric Views (3D)</a:t>
            </a:r>
          </a:p>
        </p:txBody>
      </p:sp>
      <p:sp>
        <p:nvSpPr>
          <p:cNvPr id="21" name="TextBox 20"/>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2" name="Rectangle 21"/>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4" name="TextBox 23"/>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5" name="TextBox 24"/>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051560"/>
            <a:ext cx="5303520" cy="4251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hermal_fin_fem_adaptive_clean_3d.png"/>
          <p:cNvPicPr>
            <a:picLocks noChangeAspect="1"/>
          </p:cNvPicPr>
          <p:nvPr/>
        </p:nvPicPr>
        <p:blipFill>
          <a:blip r:embed="rId3"/>
          <a:stretch>
            <a:fillRect/>
          </a:stretch>
        </p:blipFill>
        <p:spPr>
          <a:xfrm>
            <a:off x="839749" y="1124712"/>
            <a:ext cx="4812741" cy="4105656"/>
          </a:xfrm>
          <a:prstGeom prst="rect">
            <a:avLst/>
          </a:prstGeom>
        </p:spPr>
      </p:pic>
      <p:sp>
        <p:nvSpPr>
          <p:cNvPr id="11" name="Rectangle 10"/>
          <p:cNvSpPr/>
          <p:nvPr/>
        </p:nvSpPr>
        <p:spPr>
          <a:xfrm>
            <a:off x="6263640" y="1051560"/>
            <a:ext cx="5303520" cy="425196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hermal_fin_pinn_only_best_clean_3d.png"/>
          <p:cNvPicPr>
            <a:picLocks noChangeAspect="1"/>
          </p:cNvPicPr>
          <p:nvPr/>
        </p:nvPicPr>
        <p:blipFill>
          <a:blip r:embed="rId4"/>
          <a:stretch>
            <a:fillRect/>
          </a:stretch>
        </p:blipFill>
        <p:spPr>
          <a:xfrm>
            <a:off x="6509029" y="1124712"/>
            <a:ext cx="4812741" cy="4105656"/>
          </a:xfrm>
          <a:prstGeom prst="rect">
            <a:avLst/>
          </a:prstGeom>
        </p:spPr>
      </p:pic>
      <p:sp>
        <p:nvSpPr>
          <p:cNvPr id="13" name="Rectangle 12"/>
          <p:cNvSpPr/>
          <p:nvPr/>
        </p:nvSpPr>
        <p:spPr>
          <a:xfrm>
            <a:off x="868680" y="5532120"/>
            <a:ext cx="5074920" cy="594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4983" y="5641848"/>
            <a:ext cx="4782312" cy="256032"/>
          </a:xfrm>
          <a:prstGeom prst="rect">
            <a:avLst/>
          </a:prstGeom>
          <a:noFill/>
        </p:spPr>
        <p:txBody>
          <a:bodyPr wrap="square">
            <a:spAutoFit/>
          </a:bodyPr>
          <a:lstStyle/>
          <a:p>
            <a:pPr algn="l">
              <a:defRPr sz="1100" b="1">
                <a:solidFill>
                  <a:srgbClr val="97423E"/>
                </a:solidFill>
                <a:latin typeface="Aptos"/>
              </a:defRPr>
            </a:pPr>
            <a:r>
              <a:t>With FEM anchors</a:t>
            </a:r>
          </a:p>
        </p:txBody>
      </p:sp>
      <p:sp>
        <p:nvSpPr>
          <p:cNvPr id="15" name="TextBox 14"/>
          <p:cNvSpPr txBox="1"/>
          <p:nvPr/>
        </p:nvSpPr>
        <p:spPr>
          <a:xfrm>
            <a:off x="1014983" y="5971031"/>
            <a:ext cx="4782312" cy="82295"/>
          </a:xfrm>
          <a:prstGeom prst="rect">
            <a:avLst/>
          </a:prstGeom>
          <a:noFill/>
        </p:spPr>
        <p:txBody>
          <a:bodyPr wrap="square">
            <a:spAutoFit/>
          </a:bodyPr>
          <a:lstStyle/>
          <a:p>
            <a:pPr algn="l">
              <a:defRPr sz="1000" b="0">
                <a:solidFill>
                  <a:srgbClr val="302422"/>
                </a:solidFill>
                <a:latin typeface="Aptos"/>
              </a:defRPr>
            </a:pPr>
            <a:r>
              <a:t>Periodic correction keeps the 3D field stable.</a:t>
            </a:r>
          </a:p>
        </p:txBody>
      </p:sp>
      <p:sp>
        <p:nvSpPr>
          <p:cNvPr id="16" name="Rectangle 15"/>
          <p:cNvSpPr/>
          <p:nvPr/>
        </p:nvSpPr>
        <p:spPr>
          <a:xfrm>
            <a:off x="6263640" y="5532120"/>
            <a:ext cx="5074920" cy="594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5641848"/>
            <a:ext cx="4782312" cy="256032"/>
          </a:xfrm>
          <a:prstGeom prst="rect">
            <a:avLst/>
          </a:prstGeom>
          <a:noFill/>
        </p:spPr>
        <p:txBody>
          <a:bodyPr wrap="square">
            <a:spAutoFit/>
          </a:bodyPr>
          <a:lstStyle/>
          <a:p>
            <a:pPr algn="l">
              <a:defRPr sz="1100" b="1">
                <a:solidFill>
                  <a:srgbClr val="97423E"/>
                </a:solidFill>
                <a:latin typeface="Aptos"/>
              </a:defRPr>
            </a:pPr>
            <a:r>
              <a:t>Without FEM anchors</a:t>
            </a:r>
          </a:p>
        </p:txBody>
      </p:sp>
      <p:sp>
        <p:nvSpPr>
          <p:cNvPr id="18" name="TextBox 17"/>
          <p:cNvSpPr txBox="1"/>
          <p:nvPr/>
        </p:nvSpPr>
        <p:spPr>
          <a:xfrm>
            <a:off x="6409944" y="5971031"/>
            <a:ext cx="4782312" cy="82295"/>
          </a:xfrm>
          <a:prstGeom prst="rect">
            <a:avLst/>
          </a:prstGeom>
          <a:noFill/>
        </p:spPr>
        <p:txBody>
          <a:bodyPr wrap="square">
            <a:spAutoFit/>
          </a:bodyPr>
          <a:lstStyle/>
          <a:p>
            <a:pPr algn="l">
              <a:defRPr sz="1000" b="0">
                <a:solidFill>
                  <a:srgbClr val="302422"/>
                </a:solidFill>
                <a:latin typeface="Aptos"/>
              </a:defRPr>
            </a:pPr>
            <a:r>
              <a:t>Prediction drift becomes visible in the volume.</a:t>
            </a:r>
          </a:p>
        </p:txBody>
      </p:sp>
      <p:sp>
        <p:nvSpPr>
          <p:cNvPr id="19" name="Rectangle 18"/>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Adaptive vs PINN-only Volumetric Views (3D)</a:t>
            </a:r>
          </a:p>
        </p:txBody>
      </p:sp>
      <p:sp>
        <p:nvSpPr>
          <p:cNvPr id="21" name="TextBox 20"/>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2" name="Rectangle 21"/>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4" name="TextBox 23"/>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5" name="TextBox 24"/>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914400"/>
            <a:ext cx="5257800" cy="201168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able F.1.png"/>
          <p:cNvPicPr>
            <a:picLocks noChangeAspect="1"/>
          </p:cNvPicPr>
          <p:nvPr/>
        </p:nvPicPr>
        <p:blipFill>
          <a:blip r:embed="rId3"/>
          <a:stretch>
            <a:fillRect/>
          </a:stretch>
        </p:blipFill>
        <p:spPr>
          <a:xfrm>
            <a:off x="758952" y="1205838"/>
            <a:ext cx="5111496" cy="1428803"/>
          </a:xfrm>
          <a:prstGeom prst="rect">
            <a:avLst/>
          </a:prstGeom>
        </p:spPr>
      </p:pic>
      <p:sp>
        <p:nvSpPr>
          <p:cNvPr id="9" name="Rectangle 8"/>
          <p:cNvSpPr/>
          <p:nvPr/>
        </p:nvSpPr>
        <p:spPr>
          <a:xfrm>
            <a:off x="6263640" y="914400"/>
            <a:ext cx="5257800" cy="2011680"/>
          </a:xfrm>
          <a:prstGeom prst="rect">
            <a:avLst/>
          </a:prstGeom>
          <a:solidFill>
            <a:srgbClr val="FFFFFF"/>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able F.2.png"/>
          <p:cNvPicPr>
            <a:picLocks noChangeAspect="1"/>
          </p:cNvPicPr>
          <p:nvPr/>
        </p:nvPicPr>
        <p:blipFill>
          <a:blip r:embed="rId4"/>
          <a:stretch>
            <a:fillRect/>
          </a:stretch>
        </p:blipFill>
        <p:spPr>
          <a:xfrm>
            <a:off x="6370341" y="987552"/>
            <a:ext cx="5044397" cy="1865376"/>
          </a:xfrm>
          <a:prstGeom prst="rect">
            <a:avLst/>
          </a:prstGeom>
        </p:spPr>
      </p:pic>
      <p:sp>
        <p:nvSpPr>
          <p:cNvPr id="11" name="Rectangle 10"/>
          <p:cNvSpPr/>
          <p:nvPr/>
        </p:nvSpPr>
        <p:spPr>
          <a:xfrm>
            <a:off x="868680" y="3703320"/>
            <a:ext cx="4983480" cy="114300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3" y="3813048"/>
            <a:ext cx="4690872" cy="256032"/>
          </a:xfrm>
          <a:prstGeom prst="rect">
            <a:avLst/>
          </a:prstGeom>
          <a:noFill/>
        </p:spPr>
        <p:txBody>
          <a:bodyPr wrap="square">
            <a:spAutoFit/>
          </a:bodyPr>
          <a:lstStyle/>
          <a:p>
            <a:pPr algn="l">
              <a:defRPr sz="1100" b="1">
                <a:solidFill>
                  <a:srgbClr val="97423E"/>
                </a:solidFill>
                <a:latin typeface="Aptos"/>
              </a:defRPr>
            </a:pPr>
            <a:r>
              <a:t>Fourier result</a:t>
            </a:r>
          </a:p>
        </p:txBody>
      </p:sp>
      <p:sp>
        <p:nvSpPr>
          <p:cNvPr id="13" name="TextBox 12"/>
          <p:cNvSpPr txBox="1"/>
          <p:nvPr/>
        </p:nvSpPr>
        <p:spPr>
          <a:xfrm>
            <a:off x="1014983" y="4142231"/>
            <a:ext cx="4690872" cy="630936"/>
          </a:xfrm>
          <a:prstGeom prst="rect">
            <a:avLst/>
          </a:prstGeom>
          <a:noFill/>
        </p:spPr>
        <p:txBody>
          <a:bodyPr wrap="square">
            <a:spAutoFit/>
          </a:bodyPr>
          <a:lstStyle/>
          <a:p>
            <a:pPr algn="l">
              <a:defRPr sz="1000" b="0">
                <a:solidFill>
                  <a:srgbClr val="302422"/>
                </a:solidFill>
                <a:latin typeface="Aptos"/>
              </a:defRPr>
            </a:pPr>
            <a:r>
              <a:t>It lowers MAE and helps with sharp fin gradients.</a:t>
            </a:r>
          </a:p>
        </p:txBody>
      </p:sp>
      <p:sp>
        <p:nvSpPr>
          <p:cNvPr id="14" name="Rectangle 13"/>
          <p:cNvSpPr/>
          <p:nvPr/>
        </p:nvSpPr>
        <p:spPr>
          <a:xfrm>
            <a:off x="6355080" y="3703320"/>
            <a:ext cx="4983480" cy="114300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1384" y="3813048"/>
            <a:ext cx="4690872" cy="256032"/>
          </a:xfrm>
          <a:prstGeom prst="rect">
            <a:avLst/>
          </a:prstGeom>
          <a:noFill/>
        </p:spPr>
        <p:txBody>
          <a:bodyPr wrap="square">
            <a:spAutoFit/>
          </a:bodyPr>
          <a:lstStyle/>
          <a:p>
            <a:pPr algn="l">
              <a:defRPr sz="1100" b="1">
                <a:solidFill>
                  <a:srgbClr val="97423E"/>
                </a:solidFill>
                <a:latin typeface="Aptos"/>
              </a:defRPr>
            </a:pPr>
            <a:r>
              <a:t>Endpoint result</a:t>
            </a:r>
          </a:p>
        </p:txBody>
      </p:sp>
      <p:sp>
        <p:nvSpPr>
          <p:cNvPr id="16" name="TextBox 15"/>
          <p:cNvSpPr txBox="1"/>
          <p:nvPr/>
        </p:nvSpPr>
        <p:spPr>
          <a:xfrm>
            <a:off x="6501384" y="4142231"/>
            <a:ext cx="4690872" cy="630936"/>
          </a:xfrm>
          <a:prstGeom prst="rect">
            <a:avLst/>
          </a:prstGeom>
          <a:noFill/>
        </p:spPr>
        <p:txBody>
          <a:bodyPr wrap="square">
            <a:spAutoFit/>
          </a:bodyPr>
          <a:lstStyle/>
          <a:p>
            <a:pPr algn="l">
              <a:defRPr sz="1000" b="0">
                <a:solidFill>
                  <a:srgbClr val="302422"/>
                </a:solidFill>
                <a:latin typeface="Aptos"/>
              </a:defRPr>
            </a:pPr>
            <a:r>
              <a:t>It prevents window drift and keeps training stable.</a:t>
            </a:r>
          </a:p>
        </p:txBody>
      </p:sp>
      <p:sp>
        <p:nvSpPr>
          <p:cNvPr id="17" name="Rectangle 16"/>
          <p:cNvSpPr/>
          <p:nvPr/>
        </p:nvSpPr>
        <p:spPr>
          <a:xfrm>
            <a:off x="868680" y="5257800"/>
            <a:ext cx="10469880" cy="6400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3" y="5367528"/>
            <a:ext cx="10177272" cy="256032"/>
          </a:xfrm>
          <a:prstGeom prst="rect">
            <a:avLst/>
          </a:prstGeom>
          <a:noFill/>
        </p:spPr>
        <p:txBody>
          <a:bodyPr wrap="square">
            <a:spAutoFit/>
          </a:bodyPr>
          <a:lstStyle/>
          <a:p>
            <a:pPr algn="l">
              <a:defRPr sz="1100" b="1">
                <a:solidFill>
                  <a:srgbClr val="97423E"/>
                </a:solidFill>
                <a:latin typeface="Aptos"/>
              </a:defRPr>
            </a:pPr>
            <a:r>
              <a:t>Main message</a:t>
            </a:r>
          </a:p>
        </p:txBody>
      </p:sp>
      <p:sp>
        <p:nvSpPr>
          <p:cNvPr id="19" name="TextBox 18"/>
          <p:cNvSpPr txBox="1"/>
          <p:nvPr/>
        </p:nvSpPr>
        <p:spPr>
          <a:xfrm>
            <a:off x="1014983" y="5696712"/>
            <a:ext cx="10177272" cy="128015"/>
          </a:xfrm>
          <a:prstGeom prst="rect">
            <a:avLst/>
          </a:prstGeom>
          <a:noFill/>
        </p:spPr>
        <p:txBody>
          <a:bodyPr wrap="square">
            <a:spAutoFit/>
          </a:bodyPr>
          <a:lstStyle/>
          <a:p>
            <a:pPr algn="l">
              <a:defRPr sz="1000" b="0">
                <a:solidFill>
                  <a:srgbClr val="302422"/>
                </a:solidFill>
                <a:latin typeface="Aptos"/>
              </a:defRPr>
            </a:pPr>
            <a:r>
              <a:t>These are not cosmetic choices; both support stable FEM-anchored prediction on the hardest benchmark.</a:t>
            </a:r>
          </a:p>
        </p:txBody>
      </p:sp>
      <p:sp>
        <p:nvSpPr>
          <p:cNvPr id="20" name="Rectangle 19"/>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Thermal Fin: Ablation Tables F.1 and F.2</a:t>
            </a:r>
          </a:p>
        </p:txBody>
      </p:sp>
      <p:sp>
        <p:nvSpPr>
          <p:cNvPr id="22" name="TextBox 21"/>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RESULTS</a:t>
            </a:r>
          </a:p>
        </p:txBody>
      </p:sp>
      <p:sp>
        <p:nvSpPr>
          <p:cNvPr id="23" name="Rectangle 22"/>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5" name="TextBox 24"/>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6" name="TextBox 25"/>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14400"/>
            <a:ext cx="3566160" cy="5166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024128"/>
            <a:ext cx="3273552" cy="256032"/>
          </a:xfrm>
          <a:prstGeom prst="rect">
            <a:avLst/>
          </a:prstGeom>
          <a:noFill/>
        </p:spPr>
        <p:txBody>
          <a:bodyPr wrap="square">
            <a:spAutoFit/>
          </a:bodyPr>
          <a:lstStyle/>
          <a:p>
            <a:pPr algn="l">
              <a:defRPr sz="1100" b="1">
                <a:solidFill>
                  <a:srgbClr val="97423E"/>
                </a:solidFill>
                <a:latin typeface="Aptos"/>
              </a:defRPr>
            </a:pPr>
            <a:r>
              <a:t>2D adaptive-k</a:t>
            </a:r>
          </a:p>
        </p:txBody>
      </p:sp>
      <p:sp>
        <p:nvSpPr>
          <p:cNvPr id="9" name="TextBox 8"/>
          <p:cNvSpPr txBox="1"/>
          <p:nvPr/>
        </p:nvSpPr>
        <p:spPr>
          <a:xfrm>
            <a:off x="740664" y="1353312"/>
            <a:ext cx="3273552" cy="4654296"/>
          </a:xfrm>
          <a:prstGeom prst="rect">
            <a:avLst/>
          </a:prstGeom>
          <a:noFill/>
        </p:spPr>
        <p:txBody>
          <a:bodyPr wrap="square">
            <a:spAutoFit/>
          </a:bodyPr>
          <a:lstStyle/>
          <a:p>
            <a:r>
              <a:t>What I found: all architectures achieved about 83-85% FEM saving with low MAE.</a:t>
            </a:r>
          </a:p>
          <a:p/>
          <a:p>
            <a:r>
              <a:t>Why: the controller keeps short windows during the early rapid cooling phase and promotes k only after the field becomes smoother.</a:t>
            </a:r>
          </a:p>
        </p:txBody>
      </p:sp>
      <p:sp>
        <p:nvSpPr>
          <p:cNvPr id="10" name="Rectangle 9"/>
          <p:cNvSpPr/>
          <p:nvPr/>
        </p:nvSpPr>
        <p:spPr>
          <a:xfrm>
            <a:off x="4343400" y="914400"/>
            <a:ext cx="3566160" cy="5166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024128"/>
            <a:ext cx="3273552" cy="256032"/>
          </a:xfrm>
          <a:prstGeom prst="rect">
            <a:avLst/>
          </a:prstGeom>
          <a:noFill/>
        </p:spPr>
        <p:txBody>
          <a:bodyPr wrap="square">
            <a:spAutoFit/>
          </a:bodyPr>
          <a:lstStyle/>
          <a:p>
            <a:pPr algn="l">
              <a:defRPr sz="1100" b="1">
                <a:solidFill>
                  <a:srgbClr val="97423E"/>
                </a:solidFill>
                <a:latin typeface="Aptos"/>
              </a:defRPr>
            </a:pPr>
            <a:r>
              <a:t>Canonical 2D</a:t>
            </a:r>
          </a:p>
        </p:txBody>
      </p:sp>
      <p:sp>
        <p:nvSpPr>
          <p:cNvPr id="12" name="TextBox 11"/>
          <p:cNvSpPr txBox="1"/>
          <p:nvPr/>
        </p:nvSpPr>
        <p:spPr>
          <a:xfrm>
            <a:off x="4489704" y="1353312"/>
            <a:ext cx="3273552" cy="4654296"/>
          </a:xfrm>
          <a:prstGeom prst="rect">
            <a:avLst/>
          </a:prstGeom>
          <a:noFill/>
        </p:spPr>
        <p:txBody>
          <a:bodyPr wrap="square">
            <a:spAutoFit/>
          </a:bodyPr>
          <a:lstStyle/>
          <a:p>
            <a:r>
              <a:t>What I found: Bayesian/TPE stays strongest as k increases. Circle and L-Shape expose geometry sensitivity at high k.</a:t>
            </a:r>
          </a:p>
          <a:p/>
          <a:p>
            <a:r>
              <a:t>Why: compact architectures lose accuracy faster when boundaries are curved or gradients are concentrated.</a:t>
            </a:r>
          </a:p>
        </p:txBody>
      </p:sp>
      <p:sp>
        <p:nvSpPr>
          <p:cNvPr id="13" name="Rectangle 12"/>
          <p:cNvSpPr/>
          <p:nvPr/>
        </p:nvSpPr>
        <p:spPr>
          <a:xfrm>
            <a:off x="8092440" y="914400"/>
            <a:ext cx="3429000" cy="5166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024128"/>
            <a:ext cx="3136392" cy="256032"/>
          </a:xfrm>
          <a:prstGeom prst="rect">
            <a:avLst/>
          </a:prstGeom>
          <a:noFill/>
        </p:spPr>
        <p:txBody>
          <a:bodyPr wrap="square">
            <a:spAutoFit/>
          </a:bodyPr>
          <a:lstStyle/>
          <a:p>
            <a:pPr algn="l">
              <a:defRPr sz="1100" b="1">
                <a:solidFill>
                  <a:srgbClr val="97423E"/>
                </a:solidFill>
                <a:latin typeface="Aptos"/>
              </a:defRPr>
            </a:pPr>
            <a:r>
              <a:t>Key explanation</a:t>
            </a:r>
          </a:p>
        </p:txBody>
      </p:sp>
      <p:sp>
        <p:nvSpPr>
          <p:cNvPr id="15" name="TextBox 14"/>
          <p:cNvSpPr txBox="1"/>
          <p:nvPr/>
        </p:nvSpPr>
        <p:spPr>
          <a:xfrm>
            <a:off x="8238744" y="1353312"/>
            <a:ext cx="3136392" cy="4654296"/>
          </a:xfrm>
          <a:prstGeom prst="rect">
            <a:avLst/>
          </a:prstGeom>
          <a:noFill/>
        </p:spPr>
        <p:txBody>
          <a:bodyPr wrap="square">
            <a:spAutoFit/>
          </a:bodyPr>
          <a:lstStyle/>
          <a:p>
            <a:pPr algn="l">
              <a:defRPr sz="1000" b="0">
                <a:solidFill>
                  <a:srgbClr val="302422"/>
                </a:solidFill>
                <a:latin typeface="Aptos"/>
              </a:defRPr>
            </a:pPr>
            <a:r>
              <a:t>MAE growth is not only a training issue. It is linked to physical gradient structure, boundary shape and the length of unsupported prediction windows.</a:t>
            </a:r>
          </a:p>
        </p:txBody>
      </p:sp>
      <p:sp>
        <p:nvSpPr>
          <p:cNvPr id="16" name="Rectangle 1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Discussion: 2D Adaptive-k and Canonical 2D</a:t>
            </a:r>
          </a:p>
        </p:txBody>
      </p:sp>
      <p:sp>
        <p:nvSpPr>
          <p:cNvPr id="18" name="TextBox 1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DISCUSSION</a:t>
            </a:r>
          </a:p>
        </p:txBody>
      </p:sp>
      <p:sp>
        <p:nvSpPr>
          <p:cNvPr id="19" name="Rectangle 1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1" name="TextBox 2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2" name="TextBox 2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14400"/>
            <a:ext cx="3566160" cy="5166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024128"/>
            <a:ext cx="3273552" cy="256032"/>
          </a:xfrm>
          <a:prstGeom prst="rect">
            <a:avLst/>
          </a:prstGeom>
          <a:noFill/>
        </p:spPr>
        <p:txBody>
          <a:bodyPr wrap="square">
            <a:spAutoFit/>
          </a:bodyPr>
          <a:lstStyle/>
          <a:p>
            <a:pPr algn="l">
              <a:defRPr sz="1100" b="1">
                <a:solidFill>
                  <a:srgbClr val="97423E"/>
                </a:solidFill>
                <a:latin typeface="Aptos"/>
              </a:defRPr>
            </a:pPr>
            <a:r>
              <a:t>Canonical 3D</a:t>
            </a:r>
          </a:p>
        </p:txBody>
      </p:sp>
      <p:sp>
        <p:nvSpPr>
          <p:cNvPr id="9" name="TextBox 8"/>
          <p:cNvSpPr txBox="1"/>
          <p:nvPr/>
        </p:nvSpPr>
        <p:spPr>
          <a:xfrm>
            <a:off x="740664" y="1353312"/>
            <a:ext cx="3273552" cy="4654296"/>
          </a:xfrm>
          <a:prstGeom prst="rect">
            <a:avLst/>
          </a:prstGeom>
          <a:noFill/>
        </p:spPr>
        <p:txBody>
          <a:bodyPr wrap="square">
            <a:spAutoFit/>
          </a:bodyPr>
          <a:lstStyle/>
          <a:p>
            <a:pPr algn="l">
              <a:defRPr sz="1000" b="0">
                <a:solidFill>
                  <a:srgbClr val="302422"/>
                </a:solidFill>
                <a:latin typeface="Aptos"/>
              </a:defRPr>
            </a:pPr>
            <a:r>
              <a:t>Bayesian/TPE reaches k=5 on all four 3D domains within the 15 C band. NSGA-II/III are more geometry-sensitive at high k.</a:t>
            </a:r>
          </a:p>
        </p:txBody>
      </p:sp>
      <p:sp>
        <p:nvSpPr>
          <p:cNvPr id="10" name="Rectangle 9"/>
          <p:cNvSpPr/>
          <p:nvPr/>
        </p:nvSpPr>
        <p:spPr>
          <a:xfrm>
            <a:off x="4343400" y="914400"/>
            <a:ext cx="3566160" cy="5166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024128"/>
            <a:ext cx="3273552" cy="256032"/>
          </a:xfrm>
          <a:prstGeom prst="rect">
            <a:avLst/>
          </a:prstGeom>
          <a:noFill/>
        </p:spPr>
        <p:txBody>
          <a:bodyPr wrap="square">
            <a:spAutoFit/>
          </a:bodyPr>
          <a:lstStyle/>
          <a:p>
            <a:pPr algn="l">
              <a:defRPr sz="1100" b="1">
                <a:solidFill>
                  <a:srgbClr val="97423E"/>
                </a:solidFill>
                <a:latin typeface="Aptos"/>
              </a:defRPr>
            </a:pPr>
            <a:r>
              <a:t>Thermal Fin</a:t>
            </a:r>
          </a:p>
        </p:txBody>
      </p:sp>
      <p:sp>
        <p:nvSpPr>
          <p:cNvPr id="12" name="TextBox 11"/>
          <p:cNvSpPr txBox="1"/>
          <p:nvPr/>
        </p:nvSpPr>
        <p:spPr>
          <a:xfrm>
            <a:off x="4489704" y="1353312"/>
            <a:ext cx="3273552" cy="4654296"/>
          </a:xfrm>
          <a:prstGeom prst="rect">
            <a:avLst/>
          </a:prstGeom>
          <a:noFill/>
        </p:spPr>
        <p:txBody>
          <a:bodyPr wrap="square">
            <a:spAutoFit/>
          </a:bodyPr>
          <a:lstStyle/>
          <a:p>
            <a:pPr algn="l">
              <a:defRPr sz="1000" b="0">
                <a:solidFill>
                  <a:srgbClr val="302422"/>
                </a:solidFill>
                <a:latin typeface="Aptos"/>
              </a:defRPr>
            </a:pPr>
            <a:r>
              <a:t>Bayesian/TPE + Fourier remains within the 15 C band at all k values. NSGA-II/III are acceptable through k=4, but k=5 becomes too demanding.</a:t>
            </a:r>
          </a:p>
        </p:txBody>
      </p:sp>
      <p:sp>
        <p:nvSpPr>
          <p:cNvPr id="13" name="Rectangle 12"/>
          <p:cNvSpPr/>
          <p:nvPr/>
        </p:nvSpPr>
        <p:spPr>
          <a:xfrm>
            <a:off x="8092440" y="914400"/>
            <a:ext cx="3429000" cy="516636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024128"/>
            <a:ext cx="3136392" cy="256032"/>
          </a:xfrm>
          <a:prstGeom prst="rect">
            <a:avLst/>
          </a:prstGeom>
          <a:noFill/>
        </p:spPr>
        <p:txBody>
          <a:bodyPr wrap="square">
            <a:spAutoFit/>
          </a:bodyPr>
          <a:lstStyle/>
          <a:p>
            <a:pPr algn="l">
              <a:defRPr sz="1100" b="1">
                <a:solidFill>
                  <a:srgbClr val="97423E"/>
                </a:solidFill>
                <a:latin typeface="Aptos"/>
              </a:defRPr>
            </a:pPr>
            <a:r>
              <a:t>PINN-only</a:t>
            </a:r>
          </a:p>
        </p:txBody>
      </p:sp>
      <p:sp>
        <p:nvSpPr>
          <p:cNvPr id="15" name="TextBox 14"/>
          <p:cNvSpPr txBox="1"/>
          <p:nvPr/>
        </p:nvSpPr>
        <p:spPr>
          <a:xfrm>
            <a:off x="8238744" y="1353312"/>
            <a:ext cx="3136392" cy="4654296"/>
          </a:xfrm>
          <a:prstGeom prst="rect">
            <a:avLst/>
          </a:prstGeom>
          <a:noFill/>
        </p:spPr>
        <p:txBody>
          <a:bodyPr wrap="square">
            <a:spAutoFit/>
          </a:bodyPr>
          <a:lstStyle/>
          <a:p>
            <a:pPr algn="l">
              <a:defRPr sz="1000" b="0">
                <a:solidFill>
                  <a:srgbClr val="302422"/>
                </a:solidFill>
                <a:latin typeface="Aptos"/>
              </a:defRPr>
            </a:pPr>
            <a:r>
              <a:t>PINN-only errors are much larger because each imperfect prediction becomes the next initial condition. I use this to confirm that periodic FEM correction is necessary.</a:t>
            </a:r>
          </a:p>
        </p:txBody>
      </p:sp>
      <p:sp>
        <p:nvSpPr>
          <p:cNvPr id="16" name="Rectangle 1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Discussion: 3D and Thermal Fin</a:t>
            </a:r>
          </a:p>
        </p:txBody>
      </p:sp>
      <p:sp>
        <p:nvSpPr>
          <p:cNvPr id="18" name="TextBox 1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DISCUSSION</a:t>
            </a:r>
          </a:p>
        </p:txBody>
      </p:sp>
      <p:sp>
        <p:nvSpPr>
          <p:cNvPr id="19" name="Rectangle 1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1" name="TextBox 2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2" name="TextBox 2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914400"/>
          <a:ext cx="10972800" cy="5394960"/>
        </p:xfrm>
        <a:graphic>
          <a:graphicData uri="http://schemas.openxmlformats.org/drawingml/2006/table">
            <a:tbl>
              <a:tblPr firstRow="1" bandRow="1">
                <a:tableStyleId>{5C22544A-7EE6-4342-B048-85BDC9FD1C3A}</a:tableStyleId>
              </a:tblPr>
              <a:tblGrid>
                <a:gridCol w="3657600"/>
                <a:gridCol w="3657600"/>
                <a:gridCol w="3657600"/>
              </a:tblGrid>
              <a:tr h="1078992">
                <a:tc>
                  <a:txBody>
                    <a:bodyPr anchor="ctr"/>
                    <a:lstStyle/>
                    <a:p>
                      <a:pPr algn="ctr">
                        <a:defRPr sz="900" b="1">
                          <a:solidFill>
                            <a:srgbClr val="FFFFFF"/>
                          </a:solidFill>
                          <a:latin typeface="Aptos"/>
                        </a:defRPr>
                      </a:pPr>
                      <a:r>
                        <a:t>Question</a:t>
                      </a:r>
                    </a:p>
                  </a:txBody>
                  <a:tcPr>
                    <a:solidFill>
                      <a:srgbClr val="97423E"/>
                    </a:solidFill>
                  </a:tcPr>
                </a:tc>
                <a:tc>
                  <a:txBody>
                    <a:bodyPr anchor="ctr"/>
                    <a:lstStyle/>
                    <a:p>
                      <a:pPr algn="ctr">
                        <a:defRPr sz="900" b="1">
                          <a:solidFill>
                            <a:srgbClr val="FFFFFF"/>
                          </a:solidFill>
                          <a:latin typeface="Aptos"/>
                        </a:defRPr>
                      </a:pPr>
                      <a:r>
                        <a:t>Discussion answer</a:t>
                      </a:r>
                    </a:p>
                  </a:txBody>
                  <a:tcPr>
                    <a:solidFill>
                      <a:srgbClr val="97423E"/>
                    </a:solidFill>
                  </a:tcPr>
                </a:tc>
                <a:tc>
                  <a:txBody>
                    <a:bodyPr anchor="ctr"/>
                    <a:lstStyle/>
                    <a:p>
                      <a:pPr algn="ctr">
                        <a:defRPr sz="900" b="1">
                          <a:solidFill>
                            <a:srgbClr val="FFFFFF"/>
                          </a:solidFill>
                          <a:latin typeface="Aptos"/>
                        </a:defRPr>
                      </a:pPr>
                      <a:r>
                        <a:t>Practical guidance</a:t>
                      </a:r>
                    </a:p>
                  </a:txBody>
                  <a:tcPr>
                    <a:solidFill>
                      <a:srgbClr val="97423E"/>
                    </a:solidFill>
                  </a:tcPr>
                </a:tc>
              </a:tr>
              <a:tr h="1078992">
                <a:tc>
                  <a:txBody>
                    <a:bodyPr anchor="ctr"/>
                    <a:lstStyle/>
                    <a:p>
                      <a:pPr algn="ctr">
                        <a:defRPr sz="900">
                          <a:solidFill>
                            <a:srgbClr val="302422"/>
                          </a:solidFill>
                          <a:latin typeface="Aptos"/>
                        </a:defRPr>
                      </a:pPr>
                      <a:r>
                        <a:t>Which architecture transfers best?</a:t>
                      </a:r>
                    </a:p>
                  </a:txBody>
                  <a:tcPr marL="36576" marR="36576">
                    <a:solidFill>
                      <a:srgbClr val="FFFFFF"/>
                    </a:solidFill>
                  </a:tcPr>
                </a:tc>
                <a:tc>
                  <a:txBody>
                    <a:bodyPr anchor="ctr"/>
                    <a:lstStyle/>
                    <a:p>
                      <a:pPr algn="ctr">
                        <a:defRPr sz="900">
                          <a:solidFill>
                            <a:srgbClr val="302422"/>
                          </a:solidFill>
                          <a:latin typeface="Aptos"/>
                        </a:defRPr>
                      </a:pPr>
                      <a:r>
                        <a:t>Bayesian/TPE is strongest in 7 of 8 canonical cases and robust on Thermal Fin.</a:t>
                      </a:r>
                    </a:p>
                  </a:txBody>
                  <a:tcPr marL="36576" marR="36576">
                    <a:solidFill>
                      <a:srgbClr val="FFFFFF"/>
                    </a:solidFill>
                  </a:tcPr>
                </a:tc>
                <a:tc>
                  <a:txBody>
                    <a:bodyPr anchor="ctr"/>
                    <a:lstStyle/>
                    <a:p>
                      <a:pPr algn="ctr">
                        <a:defRPr sz="900">
                          <a:solidFill>
                            <a:srgbClr val="302422"/>
                          </a:solidFill>
                          <a:latin typeface="Aptos"/>
                        </a:defRPr>
                      </a:pPr>
                      <a:r>
                        <a:t>Use Bayesian/TPE as default deployment architecture.</a:t>
                      </a:r>
                    </a:p>
                  </a:txBody>
                  <a:tcPr marL="36576" marR="36576">
                    <a:solidFill>
                      <a:srgbClr val="FFFFFF"/>
                    </a:solidFill>
                  </a:tcPr>
                </a:tc>
              </a:tr>
              <a:tr h="1078992">
                <a:tc>
                  <a:txBody>
                    <a:bodyPr anchor="ctr"/>
                    <a:lstStyle/>
                    <a:p>
                      <a:pPr algn="ctr">
                        <a:defRPr sz="900">
                          <a:solidFill>
                            <a:srgbClr val="302422"/>
                          </a:solidFill>
                          <a:latin typeface="Aptos"/>
                        </a:defRPr>
                      </a:pPr>
                      <a:r>
                        <a:t>When is adaptive-k useful?</a:t>
                      </a:r>
                    </a:p>
                  </a:txBody>
                  <a:tcPr marL="36576" marR="36576">
                    <a:solidFill>
                      <a:srgbClr val="FFF7F5"/>
                    </a:solidFill>
                  </a:tcPr>
                </a:tc>
                <a:tc>
                  <a:txBody>
                    <a:bodyPr anchor="ctr"/>
                    <a:lstStyle/>
                    <a:p>
                      <a:pPr algn="ctr">
                        <a:defRPr sz="900">
                          <a:solidFill>
                            <a:srgbClr val="302422"/>
                          </a:solidFill>
                          <a:latin typeface="Aptos"/>
                        </a:defRPr>
                      </a:pPr>
                      <a:r>
                        <a:t>It protects the early steep-gradient phase and increases k as the field relaxes.</a:t>
                      </a:r>
                    </a:p>
                  </a:txBody>
                  <a:tcPr marL="36576" marR="36576">
                    <a:solidFill>
                      <a:srgbClr val="FFF7F5"/>
                    </a:solidFill>
                  </a:tcPr>
                </a:tc>
                <a:tc>
                  <a:txBody>
                    <a:bodyPr anchor="ctr"/>
                    <a:lstStyle/>
                    <a:p>
                      <a:pPr algn="ctr">
                        <a:defRPr sz="900">
                          <a:solidFill>
                            <a:srgbClr val="302422"/>
                          </a:solidFill>
                          <a:latin typeface="Aptos"/>
                        </a:defRPr>
                      </a:pPr>
                      <a:r>
                        <a:t>Use adaptive-k for simple/intermediate geometries.</a:t>
                      </a:r>
                    </a:p>
                  </a:txBody>
                  <a:tcPr marL="36576" marR="36576">
                    <a:solidFill>
                      <a:srgbClr val="FFF7F5"/>
                    </a:solidFill>
                  </a:tcPr>
                </a:tc>
              </a:tr>
              <a:tr h="1078992">
                <a:tc>
                  <a:txBody>
                    <a:bodyPr anchor="ctr"/>
                    <a:lstStyle/>
                    <a:p>
                      <a:pPr algn="ctr">
                        <a:defRPr sz="900">
                          <a:solidFill>
                            <a:srgbClr val="302422"/>
                          </a:solidFill>
                          <a:latin typeface="Aptos"/>
                        </a:defRPr>
                      </a:pPr>
                      <a:r>
                        <a:t>Can FEM be removed?</a:t>
                      </a:r>
                    </a:p>
                  </a:txBody>
                  <a:tcPr marL="36576" marR="36576">
                    <a:solidFill>
                      <a:srgbClr val="FFFFFF"/>
                    </a:solidFill>
                  </a:tcPr>
                </a:tc>
                <a:tc>
                  <a:txBody>
                    <a:bodyPr anchor="ctr"/>
                    <a:lstStyle/>
                    <a:p>
                      <a:pPr algn="ctr">
                        <a:defRPr sz="900">
                          <a:solidFill>
                            <a:srgbClr val="302422"/>
                          </a:solidFill>
                          <a:latin typeface="Aptos"/>
                        </a:defRPr>
                      </a:pPr>
                      <a:r>
                        <a:t>No. PINN-only accumulates error and fails especially on complex geometries.</a:t>
                      </a:r>
                    </a:p>
                  </a:txBody>
                  <a:tcPr marL="36576" marR="36576">
                    <a:solidFill>
                      <a:srgbClr val="FFFFFF"/>
                    </a:solidFill>
                  </a:tcPr>
                </a:tc>
                <a:tc>
                  <a:txBody>
                    <a:bodyPr anchor="ctr"/>
                    <a:lstStyle/>
                    <a:p>
                      <a:pPr algn="ctr">
                        <a:defRPr sz="900">
                          <a:solidFill>
                            <a:srgbClr val="302422"/>
                          </a:solidFill>
                          <a:latin typeface="Aptos"/>
                        </a:defRPr>
                      </a:pPr>
                      <a:r>
                        <a:t>Keep periodic FEM anchoring.</a:t>
                      </a:r>
                    </a:p>
                  </a:txBody>
                  <a:tcPr marL="36576" marR="36576">
                    <a:solidFill>
                      <a:srgbClr val="FFFFFF"/>
                    </a:solidFill>
                  </a:tcPr>
                </a:tc>
              </a:tr>
              <a:tr h="1078992">
                <a:tc>
                  <a:txBody>
                    <a:bodyPr anchor="ctr"/>
                    <a:lstStyle/>
                    <a:p>
                      <a:pPr algn="ctr">
                        <a:defRPr sz="900">
                          <a:solidFill>
                            <a:srgbClr val="302422"/>
                          </a:solidFill>
                          <a:latin typeface="Aptos"/>
                        </a:defRPr>
                      </a:pPr>
                      <a:r>
                        <a:t>What is MSWP's role?</a:t>
                      </a:r>
                    </a:p>
                  </a:txBody>
                  <a:tcPr marL="36576" marR="36576">
                    <a:solidFill>
                      <a:srgbClr val="FFF7F5"/>
                    </a:solidFill>
                  </a:tcPr>
                </a:tc>
                <a:tc>
                  <a:txBody>
                    <a:bodyPr anchor="ctr"/>
                    <a:lstStyle/>
                    <a:p>
                      <a:pPr algn="ctr">
                        <a:defRPr sz="900">
                          <a:solidFill>
                            <a:srgbClr val="302422"/>
                          </a:solidFill>
                          <a:latin typeface="Aptos"/>
                        </a:defRPr>
                      </a:pPr>
                      <a:r>
                        <a:t>It maps geometry and architecture to maximum useful k.</a:t>
                      </a:r>
                    </a:p>
                  </a:txBody>
                  <a:tcPr marL="36576" marR="36576">
                    <a:solidFill>
                      <a:srgbClr val="FFF7F5"/>
                    </a:solidFill>
                  </a:tcPr>
                </a:tc>
                <a:tc>
                  <a:txBody>
                    <a:bodyPr anchor="ctr"/>
                    <a:lstStyle/>
                    <a:p>
                      <a:pPr algn="ctr">
                        <a:defRPr sz="900">
                          <a:solidFill>
                            <a:srgbClr val="302422"/>
                          </a:solidFill>
                          <a:latin typeface="Aptos"/>
                        </a:defRPr>
                      </a:pPr>
                      <a:r>
                        <a:t>Use it as a FEM-reduction strategy, not replacement.</a:t>
                      </a:r>
                    </a:p>
                  </a:txBody>
                  <a:tcPr marL="36576" marR="36576">
                    <a:solidFill>
                      <a:srgbClr val="FFF7F5"/>
                    </a:solidFill>
                  </a:tcPr>
                </a:tc>
              </a:tr>
            </a:tbl>
          </a:graphicData>
        </a:graphic>
      </p:graphicFrame>
      <p:sp>
        <p:nvSpPr>
          <p:cNvPr id="8" name="Rectangle 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Discussion: Cross-Domain Guidance</a:t>
            </a:r>
          </a:p>
        </p:txBody>
      </p:sp>
      <p:sp>
        <p:nvSpPr>
          <p:cNvPr id="10" name="TextBox 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DISCUSSION</a:t>
            </a:r>
          </a:p>
        </p:txBody>
      </p:sp>
      <p:sp>
        <p:nvSpPr>
          <p:cNvPr id="11" name="Rectangle 1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3" name="TextBox 1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4" name="TextBox 1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914400"/>
          <a:ext cx="10972800" cy="5394960"/>
        </p:xfrm>
        <a:graphic>
          <a:graphicData uri="http://schemas.openxmlformats.org/drawingml/2006/table">
            <a:tbl>
              <a:tblPr firstRow="1" bandRow="1">
                <a:tableStyleId>{5C22544A-7EE6-4342-B048-85BDC9FD1C3A}</a:tableStyleId>
              </a:tblPr>
              <a:tblGrid>
                <a:gridCol w="3657600"/>
                <a:gridCol w="3657600"/>
                <a:gridCol w="3657600"/>
              </a:tblGrid>
              <a:tr h="1078992">
                <a:tc>
                  <a:txBody>
                    <a:bodyPr anchor="ctr"/>
                    <a:lstStyle/>
                    <a:p>
                      <a:pPr algn="ctr">
                        <a:defRPr sz="1000" b="1">
                          <a:solidFill>
                            <a:srgbClr val="FFFFFF"/>
                          </a:solidFill>
                          <a:latin typeface="Aptos"/>
                        </a:defRPr>
                      </a:pPr>
                      <a:r>
                        <a:t>Finding</a:t>
                      </a:r>
                    </a:p>
                  </a:txBody>
                  <a:tcPr>
                    <a:solidFill>
                      <a:srgbClr val="97423E"/>
                    </a:solidFill>
                  </a:tcPr>
                </a:tc>
                <a:tc>
                  <a:txBody>
                    <a:bodyPr anchor="ctr"/>
                    <a:lstStyle/>
                    <a:p>
                      <a:pPr algn="ctr">
                        <a:defRPr sz="1000" b="1">
                          <a:solidFill>
                            <a:srgbClr val="FFFFFF"/>
                          </a:solidFill>
                          <a:latin typeface="Aptos"/>
                        </a:defRPr>
                      </a:pPr>
                      <a:r>
                        <a:t>Evidence</a:t>
                      </a:r>
                    </a:p>
                  </a:txBody>
                  <a:tcPr>
                    <a:solidFill>
                      <a:srgbClr val="97423E"/>
                    </a:solidFill>
                  </a:tcPr>
                </a:tc>
                <a:tc>
                  <a:txBody>
                    <a:bodyPr anchor="ctr"/>
                    <a:lstStyle/>
                    <a:p>
                      <a:pPr algn="ctr">
                        <a:defRPr sz="1000" b="1">
                          <a:solidFill>
                            <a:srgbClr val="FFFFFF"/>
                          </a:solidFill>
                          <a:latin typeface="Aptos"/>
                        </a:defRPr>
                      </a:pPr>
                      <a:r>
                        <a:t>Meaning</a:t>
                      </a:r>
                    </a:p>
                  </a:txBody>
                  <a:tcPr>
                    <a:solidFill>
                      <a:srgbClr val="97423E"/>
                    </a:solidFill>
                  </a:tcPr>
                </a:tc>
              </a:tr>
              <a:tr h="1078992">
                <a:tc>
                  <a:txBody>
                    <a:bodyPr anchor="ctr"/>
                    <a:lstStyle/>
                    <a:p>
                      <a:pPr algn="ctr">
                        <a:defRPr sz="1000">
                          <a:solidFill>
                            <a:srgbClr val="302422"/>
                          </a:solidFill>
                          <a:latin typeface="Aptos"/>
                        </a:defRPr>
                      </a:pPr>
                      <a:r>
                        <a:t>FEM calls can be reduced</a:t>
                      </a:r>
                    </a:p>
                  </a:txBody>
                  <a:tcPr marL="36576" marR="36576">
                    <a:solidFill>
                      <a:srgbClr val="FFFFFF"/>
                    </a:solidFill>
                  </a:tcPr>
                </a:tc>
                <a:tc>
                  <a:txBody>
                    <a:bodyPr anchor="ctr"/>
                    <a:lstStyle/>
                    <a:p>
                      <a:pPr algn="ctr">
                        <a:defRPr sz="1000">
                          <a:solidFill>
                            <a:srgbClr val="302422"/>
                          </a:solidFill>
                          <a:latin typeface="Aptos"/>
                        </a:defRPr>
                      </a:pPr>
                      <a:r>
                        <a:t>65-85% saving in many anchored cases</a:t>
                      </a:r>
                    </a:p>
                  </a:txBody>
                  <a:tcPr marL="36576" marR="36576">
                    <a:solidFill>
                      <a:srgbClr val="FFFFFF"/>
                    </a:solidFill>
                  </a:tcPr>
                </a:tc>
                <a:tc>
                  <a:txBody>
                    <a:bodyPr anchor="ctr"/>
                    <a:lstStyle/>
                    <a:p>
                      <a:pPr algn="ctr">
                        <a:defRPr sz="1000">
                          <a:solidFill>
                            <a:srgbClr val="302422"/>
                          </a:solidFill>
                          <a:latin typeface="Aptos"/>
                        </a:defRPr>
                      </a:pPr>
                      <a:r>
                        <a:t>MSWP is effective as an accelerator</a:t>
                      </a:r>
                    </a:p>
                  </a:txBody>
                  <a:tcPr marL="36576" marR="36576">
                    <a:solidFill>
                      <a:srgbClr val="FFFFFF"/>
                    </a:solidFill>
                  </a:tcPr>
                </a:tc>
              </a:tr>
              <a:tr h="1078992">
                <a:tc>
                  <a:txBody>
                    <a:bodyPr anchor="ctr"/>
                    <a:lstStyle/>
                    <a:p>
                      <a:pPr algn="ctr">
                        <a:defRPr sz="1000">
                          <a:solidFill>
                            <a:srgbClr val="302422"/>
                          </a:solidFill>
                          <a:latin typeface="Aptos"/>
                        </a:defRPr>
                      </a:pPr>
                      <a:r>
                        <a:t>Bayesian/TPE is most robust</a:t>
                      </a:r>
                    </a:p>
                  </a:txBody>
                  <a:tcPr marL="36576" marR="36576">
                    <a:solidFill>
                      <a:srgbClr val="FFF7F5"/>
                    </a:solidFill>
                  </a:tcPr>
                </a:tc>
                <a:tc>
                  <a:txBody>
                    <a:bodyPr anchor="ctr"/>
                    <a:lstStyle/>
                    <a:p>
                      <a:pPr algn="ctr">
                        <a:defRPr sz="1000">
                          <a:solidFill>
                            <a:srgbClr val="302422"/>
                          </a:solidFill>
                          <a:latin typeface="Aptos"/>
                        </a:defRPr>
                      </a:pPr>
                      <a:r>
                        <a:t>Strong 2D, 3D and Thermal Fin performance</a:t>
                      </a:r>
                    </a:p>
                  </a:txBody>
                  <a:tcPr marL="36576" marR="36576">
                    <a:solidFill>
                      <a:srgbClr val="FFF7F5"/>
                    </a:solidFill>
                  </a:tcPr>
                </a:tc>
                <a:tc>
                  <a:txBody>
                    <a:bodyPr anchor="ctr"/>
                    <a:lstStyle/>
                    <a:p>
                      <a:pPr algn="ctr">
                        <a:defRPr sz="1000">
                          <a:solidFill>
                            <a:srgbClr val="302422"/>
                          </a:solidFill>
                          <a:latin typeface="Aptos"/>
                        </a:defRPr>
                      </a:pPr>
                      <a:r>
                        <a:t>Recommended default architecture</a:t>
                      </a:r>
                    </a:p>
                  </a:txBody>
                  <a:tcPr marL="36576" marR="36576">
                    <a:solidFill>
                      <a:srgbClr val="FFF7F5"/>
                    </a:solidFill>
                  </a:tcPr>
                </a:tc>
              </a:tr>
              <a:tr h="1078992">
                <a:tc>
                  <a:txBody>
                    <a:bodyPr anchor="ctr"/>
                    <a:lstStyle/>
                    <a:p>
                      <a:pPr algn="ctr">
                        <a:defRPr sz="1000">
                          <a:solidFill>
                            <a:srgbClr val="302422"/>
                          </a:solidFill>
                          <a:latin typeface="Aptos"/>
                        </a:defRPr>
                      </a:pPr>
                      <a:r>
                        <a:t>Adaptive-k helps</a:t>
                      </a:r>
                    </a:p>
                  </a:txBody>
                  <a:tcPr marL="36576" marR="36576">
                    <a:solidFill>
                      <a:srgbClr val="FFFFFF"/>
                    </a:solidFill>
                  </a:tcPr>
                </a:tc>
                <a:tc>
                  <a:txBody>
                    <a:bodyPr anchor="ctr"/>
                    <a:lstStyle/>
                    <a:p>
                      <a:pPr algn="ctr">
                        <a:defRPr sz="1000">
                          <a:solidFill>
                            <a:srgbClr val="302422"/>
                          </a:solidFill>
                          <a:latin typeface="Aptos"/>
                        </a:defRPr>
                      </a:pPr>
                      <a:r>
                        <a:t>83-85% saving with low MAE in 2D transfer study</a:t>
                      </a:r>
                    </a:p>
                  </a:txBody>
                  <a:tcPr marL="36576" marR="36576">
                    <a:solidFill>
                      <a:srgbClr val="FFFFFF"/>
                    </a:solidFill>
                  </a:tcPr>
                </a:tc>
                <a:tc>
                  <a:txBody>
                    <a:bodyPr anchor="ctr"/>
                    <a:lstStyle/>
                    <a:p>
                      <a:pPr algn="ctr">
                        <a:defRPr sz="1000">
                          <a:solidFill>
                            <a:srgbClr val="302422"/>
                          </a:solidFill>
                          <a:latin typeface="Aptos"/>
                        </a:defRPr>
                      </a:pPr>
                      <a:r>
                        <a:t>Useful for early steep gradients</a:t>
                      </a:r>
                    </a:p>
                  </a:txBody>
                  <a:tcPr marL="36576" marR="36576">
                    <a:solidFill>
                      <a:srgbClr val="FFFFFF"/>
                    </a:solidFill>
                  </a:tcPr>
                </a:tc>
              </a:tr>
              <a:tr h="1078992">
                <a:tc>
                  <a:txBody>
                    <a:bodyPr anchor="ctr"/>
                    <a:lstStyle/>
                    <a:p>
                      <a:pPr algn="ctr">
                        <a:defRPr sz="1000">
                          <a:solidFill>
                            <a:srgbClr val="302422"/>
                          </a:solidFill>
                          <a:latin typeface="Aptos"/>
                        </a:defRPr>
                      </a:pPr>
                      <a:r>
                        <a:t>PINN-only fails</a:t>
                      </a:r>
                    </a:p>
                  </a:txBody>
                  <a:tcPr marL="36576" marR="36576">
                    <a:solidFill>
                      <a:srgbClr val="FFF7F5"/>
                    </a:solidFill>
                  </a:tcPr>
                </a:tc>
                <a:tc>
                  <a:txBody>
                    <a:bodyPr anchor="ctr"/>
                    <a:lstStyle/>
                    <a:p>
                      <a:pPr algn="ctr">
                        <a:defRPr sz="1000">
                          <a:solidFill>
                            <a:srgbClr val="302422"/>
                          </a:solidFill>
                          <a:latin typeface="Aptos"/>
                        </a:defRPr>
                      </a:pPr>
                      <a:r>
                        <a:t>Thermal Fin best PINN-only is 59.20 C</a:t>
                      </a:r>
                    </a:p>
                  </a:txBody>
                  <a:tcPr marL="36576" marR="36576">
                    <a:solidFill>
                      <a:srgbClr val="FFF7F5"/>
                    </a:solidFill>
                  </a:tcPr>
                </a:tc>
                <a:tc>
                  <a:txBody>
                    <a:bodyPr anchor="ctr"/>
                    <a:lstStyle/>
                    <a:p>
                      <a:pPr algn="ctr">
                        <a:defRPr sz="1000">
                          <a:solidFill>
                            <a:srgbClr val="302422"/>
                          </a:solidFill>
                          <a:latin typeface="Aptos"/>
                        </a:defRPr>
                      </a:pPr>
                      <a:r>
                        <a:t>FEM correction is necessary</a:t>
                      </a:r>
                    </a:p>
                  </a:txBody>
                  <a:tcPr marL="36576" marR="36576">
                    <a:solidFill>
                      <a:srgbClr val="FFF7F5"/>
                    </a:solidFill>
                  </a:tcPr>
                </a:tc>
              </a:tr>
            </a:tbl>
          </a:graphicData>
        </a:graphic>
      </p:graphicFrame>
      <p:sp>
        <p:nvSpPr>
          <p:cNvPr id="8" name="Rectangle 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Conclusion: Summary of Results</a:t>
            </a:r>
          </a:p>
        </p:txBody>
      </p:sp>
      <p:sp>
        <p:nvSpPr>
          <p:cNvPr id="10" name="TextBox 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CONCLUSION</a:t>
            </a:r>
          </a:p>
        </p:txBody>
      </p:sp>
      <p:sp>
        <p:nvSpPr>
          <p:cNvPr id="11" name="Rectangle 1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3" name="TextBox 1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4" name="TextBox 1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914400"/>
            <a:ext cx="3566160" cy="5166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024128"/>
            <a:ext cx="3273552" cy="256032"/>
          </a:xfrm>
          <a:prstGeom prst="rect">
            <a:avLst/>
          </a:prstGeom>
          <a:noFill/>
        </p:spPr>
        <p:txBody>
          <a:bodyPr wrap="square">
            <a:spAutoFit/>
          </a:bodyPr>
          <a:lstStyle/>
          <a:p>
            <a:pPr algn="l">
              <a:defRPr sz="1100" b="1">
                <a:solidFill>
                  <a:srgbClr val="97423E"/>
                </a:solidFill>
                <a:latin typeface="Aptos"/>
              </a:defRPr>
            </a:pPr>
            <a:r>
              <a:t>Physics simplification</a:t>
            </a:r>
          </a:p>
        </p:txBody>
      </p:sp>
      <p:sp>
        <p:nvSpPr>
          <p:cNvPr id="9" name="TextBox 8"/>
          <p:cNvSpPr txBox="1"/>
          <p:nvPr/>
        </p:nvSpPr>
        <p:spPr>
          <a:xfrm>
            <a:off x="740664" y="1353312"/>
            <a:ext cx="3273552" cy="4654296"/>
          </a:xfrm>
          <a:prstGeom prst="rect">
            <a:avLst/>
          </a:prstGeom>
          <a:noFill/>
        </p:spPr>
        <p:txBody>
          <a:bodyPr wrap="square">
            <a:spAutoFit/>
          </a:bodyPr>
          <a:lstStyle/>
          <a:p>
            <a:pPr algn="l">
              <a:defRPr sz="1000" b="0">
                <a:solidFill>
                  <a:srgbClr val="302422"/>
                </a:solidFill>
                <a:latin typeface="Aptos"/>
              </a:defRPr>
            </a:pPr>
            <a:r>
              <a:t>Constant kT, rho cp and h. Real quenching uses temperature-dependent material properties and five boiling regimes.</a:t>
            </a:r>
          </a:p>
        </p:txBody>
      </p:sp>
      <p:sp>
        <p:nvSpPr>
          <p:cNvPr id="10" name="Rectangle 9"/>
          <p:cNvSpPr/>
          <p:nvPr/>
        </p:nvSpPr>
        <p:spPr>
          <a:xfrm>
            <a:off x="4343400" y="914400"/>
            <a:ext cx="3566160" cy="516636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1024128"/>
            <a:ext cx="3273552" cy="256032"/>
          </a:xfrm>
          <a:prstGeom prst="rect">
            <a:avLst/>
          </a:prstGeom>
          <a:noFill/>
        </p:spPr>
        <p:txBody>
          <a:bodyPr wrap="square">
            <a:spAutoFit/>
          </a:bodyPr>
          <a:lstStyle/>
          <a:p>
            <a:pPr algn="l">
              <a:defRPr sz="1100" b="1">
                <a:solidFill>
                  <a:srgbClr val="97423E"/>
                </a:solidFill>
                <a:latin typeface="Aptos"/>
              </a:defRPr>
            </a:pPr>
            <a:r>
              <a:t>Solver validation</a:t>
            </a:r>
          </a:p>
        </p:txBody>
      </p:sp>
      <p:sp>
        <p:nvSpPr>
          <p:cNvPr id="12" name="TextBox 11"/>
          <p:cNvSpPr txBox="1"/>
          <p:nvPr/>
        </p:nvSpPr>
        <p:spPr>
          <a:xfrm>
            <a:off x="4489704" y="1353312"/>
            <a:ext cx="3273552" cy="4654296"/>
          </a:xfrm>
          <a:prstGeom prst="rect">
            <a:avLst/>
          </a:prstGeom>
          <a:noFill/>
        </p:spPr>
        <p:txBody>
          <a:bodyPr wrap="square">
            <a:spAutoFit/>
          </a:bodyPr>
          <a:lstStyle/>
          <a:p>
            <a:pPr algn="l">
              <a:defRPr sz="1000" b="0">
                <a:solidFill>
                  <a:srgbClr val="302422"/>
                </a:solidFill>
                <a:latin typeface="Aptos"/>
              </a:defRPr>
            </a:pPr>
            <a:r>
              <a:t>Reference fields come from the in-house Crank-Nicolson solver, not from StaMiSim or Abaqus. Mesh independence remains future work.</a:t>
            </a:r>
          </a:p>
        </p:txBody>
      </p:sp>
      <p:sp>
        <p:nvSpPr>
          <p:cNvPr id="13" name="Rectangle 12"/>
          <p:cNvSpPr/>
          <p:nvPr/>
        </p:nvSpPr>
        <p:spPr>
          <a:xfrm>
            <a:off x="8092440" y="914400"/>
            <a:ext cx="3429000" cy="5166360"/>
          </a:xfrm>
          <a:prstGeom prst="rect">
            <a:avLst/>
          </a:prstGeom>
          <a:solidFill>
            <a:srgbClr val="FFFCFB"/>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024128"/>
            <a:ext cx="3136392" cy="256032"/>
          </a:xfrm>
          <a:prstGeom prst="rect">
            <a:avLst/>
          </a:prstGeom>
          <a:noFill/>
        </p:spPr>
        <p:txBody>
          <a:bodyPr wrap="square">
            <a:spAutoFit/>
          </a:bodyPr>
          <a:lstStyle/>
          <a:p>
            <a:pPr algn="l">
              <a:defRPr sz="1100" b="1">
                <a:solidFill>
                  <a:srgbClr val="97423E"/>
                </a:solidFill>
                <a:latin typeface="Aptos"/>
              </a:defRPr>
            </a:pPr>
            <a:r>
              <a:t>NAS and data scope</a:t>
            </a:r>
          </a:p>
        </p:txBody>
      </p:sp>
      <p:sp>
        <p:nvSpPr>
          <p:cNvPr id="15" name="TextBox 14"/>
          <p:cNvSpPr txBox="1"/>
          <p:nvPr/>
        </p:nvSpPr>
        <p:spPr>
          <a:xfrm>
            <a:off x="8238744" y="1353312"/>
            <a:ext cx="3136392" cy="4654296"/>
          </a:xfrm>
          <a:prstGeom prst="rect">
            <a:avLst/>
          </a:prstGeom>
          <a:noFill/>
        </p:spPr>
        <p:txBody>
          <a:bodyPr wrap="square">
            <a:spAutoFit/>
          </a:bodyPr>
          <a:lstStyle/>
          <a:p>
            <a:pPr algn="l">
              <a:defRPr sz="1000" b="0">
                <a:solidFill>
                  <a:srgbClr val="302422"/>
                </a:solidFill>
                <a:latin typeface="Aptos"/>
              </a:defRPr>
            </a:pPr>
            <a:r>
              <a:t>NAS budget and benchmark geometries are finite. The real Mortensen mesh is the next deployment target, not yet the main experiment.</a:t>
            </a:r>
          </a:p>
        </p:txBody>
      </p:sp>
      <p:sp>
        <p:nvSpPr>
          <p:cNvPr id="16" name="Rectangle 15"/>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Conclusion: Limitations</a:t>
            </a:r>
          </a:p>
        </p:txBody>
      </p:sp>
      <p:sp>
        <p:nvSpPr>
          <p:cNvPr id="18" name="TextBox 17"/>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CONCLUSION</a:t>
            </a:r>
          </a:p>
        </p:txBody>
      </p:sp>
      <p:sp>
        <p:nvSpPr>
          <p:cNvPr id="19" name="Rectangle 18"/>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21" name="TextBox 20"/>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22" name="TextBox 21"/>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914400"/>
          <a:ext cx="10972800" cy="5394960"/>
        </p:xfrm>
        <a:graphic>
          <a:graphicData uri="http://schemas.openxmlformats.org/drawingml/2006/table">
            <a:tbl>
              <a:tblPr firstRow="1" bandRow="1">
                <a:tableStyleId>{5C22544A-7EE6-4342-B048-85BDC9FD1C3A}</a:tableStyleId>
              </a:tblPr>
              <a:tblGrid>
                <a:gridCol w="5486400"/>
                <a:gridCol w="5486400"/>
              </a:tblGrid>
              <a:tr h="899160">
                <a:tc>
                  <a:txBody>
                    <a:bodyPr anchor="ctr"/>
                    <a:lstStyle/>
                    <a:p>
                      <a:pPr algn="ctr">
                        <a:defRPr sz="1000" b="1">
                          <a:solidFill>
                            <a:srgbClr val="FFFFFF"/>
                          </a:solidFill>
                          <a:latin typeface="Aptos"/>
                        </a:defRPr>
                      </a:pPr>
                      <a:r>
                        <a:t>Future step</a:t>
                      </a:r>
                    </a:p>
                  </a:txBody>
                  <a:tcPr>
                    <a:solidFill>
                      <a:srgbClr val="97423E"/>
                    </a:solidFill>
                  </a:tcPr>
                </a:tc>
                <a:tc>
                  <a:txBody>
                    <a:bodyPr anchor="ctr"/>
                    <a:lstStyle/>
                    <a:p>
                      <a:pPr algn="ctr">
                        <a:defRPr sz="1000" b="1">
                          <a:solidFill>
                            <a:srgbClr val="FFFFFF"/>
                          </a:solidFill>
                          <a:latin typeface="Aptos"/>
                        </a:defRPr>
                      </a:pPr>
                      <a:r>
                        <a:t>Why it matters</a:t>
                      </a:r>
                    </a:p>
                  </a:txBody>
                  <a:tcPr>
                    <a:solidFill>
                      <a:srgbClr val="97423E"/>
                    </a:solidFill>
                  </a:tcPr>
                </a:tc>
              </a:tr>
              <a:tr h="899160">
                <a:tc>
                  <a:txBody>
                    <a:bodyPr anchor="ctr"/>
                    <a:lstStyle/>
                    <a:p>
                      <a:pPr algn="ctr">
                        <a:defRPr sz="1000">
                          <a:solidFill>
                            <a:srgbClr val="302422"/>
                          </a:solidFill>
                          <a:latin typeface="Aptos"/>
                        </a:defRPr>
                      </a:pPr>
                      <a:r>
                        <a:t>Apply to Mortensen industrial mesh</a:t>
                      </a:r>
                    </a:p>
                  </a:txBody>
                  <a:tcPr marL="36576" marR="36576">
                    <a:solidFill>
                      <a:srgbClr val="FFFFFF"/>
                    </a:solidFill>
                  </a:tcPr>
                </a:tc>
                <a:tc>
                  <a:txBody>
                    <a:bodyPr anchor="ctr"/>
                    <a:lstStyle/>
                    <a:p>
                      <a:pPr algn="ctr">
                        <a:defRPr sz="1000">
                          <a:solidFill>
                            <a:srgbClr val="302422"/>
                          </a:solidFill>
                          <a:latin typeface="Aptos"/>
                        </a:defRPr>
                      </a:pPr>
                      <a:r>
                        <a:t>Direct test on the target deployment geometry</a:t>
                      </a:r>
                    </a:p>
                  </a:txBody>
                  <a:tcPr marL="36576" marR="36576">
                    <a:solidFill>
                      <a:srgbClr val="FFFFFF"/>
                    </a:solidFill>
                  </a:tcPr>
                </a:tc>
              </a:tr>
              <a:tr h="899160">
                <a:tc>
                  <a:txBody>
                    <a:bodyPr anchor="ctr"/>
                    <a:lstStyle/>
                    <a:p>
                      <a:pPr algn="ctr">
                        <a:defRPr sz="1000">
                          <a:solidFill>
                            <a:srgbClr val="302422"/>
                          </a:solidFill>
                          <a:latin typeface="Aptos"/>
                        </a:defRPr>
                      </a:pPr>
                      <a:r>
                        <a:t>Use full h(T) boiling curve</a:t>
                      </a:r>
                    </a:p>
                  </a:txBody>
                  <a:tcPr marL="36576" marR="36576">
                    <a:solidFill>
                      <a:srgbClr val="FFF7F5"/>
                    </a:solidFill>
                  </a:tcPr>
                </a:tc>
                <a:tc>
                  <a:txBody>
                    <a:bodyPr anchor="ctr"/>
                    <a:lstStyle/>
                    <a:p>
                      <a:pPr algn="ctr">
                        <a:defRPr sz="1000">
                          <a:solidFill>
                            <a:srgbClr val="302422"/>
                          </a:solidFill>
                          <a:latin typeface="Aptos"/>
                        </a:defRPr>
                      </a:pPr>
                      <a:r>
                        <a:t>Closer physics to industrial water quenching</a:t>
                      </a:r>
                    </a:p>
                  </a:txBody>
                  <a:tcPr marL="36576" marR="36576">
                    <a:solidFill>
                      <a:srgbClr val="FFF7F5"/>
                    </a:solidFill>
                  </a:tcPr>
                </a:tc>
              </a:tr>
              <a:tr h="899160">
                <a:tc>
                  <a:txBody>
                    <a:bodyPr anchor="ctr"/>
                    <a:lstStyle/>
                    <a:p>
                      <a:pPr algn="ctr">
                        <a:defRPr sz="1000">
                          <a:solidFill>
                            <a:srgbClr val="302422"/>
                          </a:solidFill>
                          <a:latin typeface="Aptos"/>
                        </a:defRPr>
                      </a:pPr>
                      <a:r>
                        <a:t>Architecture-specific adaptive-k</a:t>
                      </a:r>
                    </a:p>
                  </a:txBody>
                  <a:tcPr marL="36576" marR="36576">
                    <a:solidFill>
                      <a:srgbClr val="FFFFFF"/>
                    </a:solidFill>
                  </a:tcPr>
                </a:tc>
                <a:tc>
                  <a:txBody>
                    <a:bodyPr anchor="ctr"/>
                    <a:lstStyle/>
                    <a:p>
                      <a:pPr algn="ctr">
                        <a:defRPr sz="1000">
                          <a:solidFill>
                            <a:srgbClr val="302422"/>
                          </a:solidFill>
                          <a:latin typeface="Aptos"/>
                        </a:defRPr>
                      </a:pPr>
                      <a:r>
                        <a:t>Better thresholds for each architecture's baseline error</a:t>
                      </a:r>
                    </a:p>
                  </a:txBody>
                  <a:tcPr marL="36576" marR="36576">
                    <a:solidFill>
                      <a:srgbClr val="FFFFFF"/>
                    </a:solidFill>
                  </a:tcPr>
                </a:tc>
              </a:tr>
              <a:tr h="899160">
                <a:tc>
                  <a:txBody>
                    <a:bodyPr anchor="ctr"/>
                    <a:lstStyle/>
                    <a:p>
                      <a:pPr algn="ctr">
                        <a:defRPr sz="1000">
                          <a:solidFill>
                            <a:srgbClr val="302422"/>
                          </a:solidFill>
                          <a:latin typeface="Aptos"/>
                        </a:defRPr>
                      </a:pPr>
                      <a:r>
                        <a:t>Residual-based sampling</a:t>
                      </a:r>
                    </a:p>
                  </a:txBody>
                  <a:tcPr marL="36576" marR="36576">
                    <a:solidFill>
                      <a:srgbClr val="FFF7F5"/>
                    </a:solidFill>
                  </a:tcPr>
                </a:tc>
                <a:tc>
                  <a:txBody>
                    <a:bodyPr anchor="ctr"/>
                    <a:lstStyle/>
                    <a:p>
                      <a:pPr algn="ctr">
                        <a:defRPr sz="1000">
                          <a:solidFill>
                            <a:srgbClr val="302422"/>
                          </a:solidFill>
                          <a:latin typeface="Aptos"/>
                        </a:defRPr>
                      </a:pPr>
                      <a:r>
                        <a:t>More training effort where physics residual is hardest</a:t>
                      </a:r>
                    </a:p>
                  </a:txBody>
                  <a:tcPr marL="36576" marR="36576">
                    <a:solidFill>
                      <a:srgbClr val="FFF7F5"/>
                    </a:solidFill>
                  </a:tcPr>
                </a:tc>
              </a:tr>
              <a:tr h="899160">
                <a:tc>
                  <a:txBody>
                    <a:bodyPr anchor="ctr"/>
                    <a:lstStyle/>
                    <a:p>
                      <a:pPr algn="ctr">
                        <a:defRPr sz="1000">
                          <a:solidFill>
                            <a:srgbClr val="302422"/>
                          </a:solidFill>
                          <a:latin typeface="Aptos"/>
                        </a:defRPr>
                      </a:pPr>
                      <a:r>
                        <a:t>Validate against StaMiSim/Abaqus</a:t>
                      </a:r>
                    </a:p>
                  </a:txBody>
                  <a:tcPr marL="36576" marR="36576">
                    <a:solidFill>
                      <a:srgbClr val="FFFFFF"/>
                    </a:solidFill>
                  </a:tcPr>
                </a:tc>
                <a:tc>
                  <a:txBody>
                    <a:bodyPr anchor="ctr"/>
                    <a:lstStyle/>
                    <a:p>
                      <a:pPr algn="ctr">
                        <a:defRPr sz="1000">
                          <a:solidFill>
                            <a:srgbClr val="302422"/>
                          </a:solidFill>
                          <a:latin typeface="Aptos"/>
                        </a:defRPr>
                      </a:pPr>
                      <a:r>
                        <a:t>Confirm that benchmark errors reflect true physics accuracy</a:t>
                      </a:r>
                    </a:p>
                  </a:txBody>
                  <a:tcPr marL="36576" marR="36576">
                    <a:solidFill>
                      <a:srgbClr val="FFFFFF"/>
                    </a:solidFill>
                  </a:tcPr>
                </a:tc>
              </a:tr>
            </a:tbl>
          </a:graphicData>
        </a:graphic>
      </p:graphicFrame>
      <p:sp>
        <p:nvSpPr>
          <p:cNvPr id="8" name="Rectangle 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Conclusion: Future Work and Closing Remarks</a:t>
            </a:r>
          </a:p>
        </p:txBody>
      </p:sp>
      <p:sp>
        <p:nvSpPr>
          <p:cNvPr id="10" name="TextBox 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CONCLUSION</a:t>
            </a:r>
          </a:p>
        </p:txBody>
      </p:sp>
      <p:sp>
        <p:nvSpPr>
          <p:cNvPr id="11" name="Rectangle 1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3" name="TextBox 1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4" name="TextBox 1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914400"/>
            <a:ext cx="10972800" cy="5440680"/>
          </a:xfrm>
          <a:prstGeom prst="rect">
            <a:avLst/>
          </a:prstGeom>
          <a:noFill/>
        </p:spPr>
        <p:txBody>
          <a:bodyPr wrap="square">
            <a:spAutoFit/>
          </a:bodyPr>
          <a:lstStyle/>
          <a:p>
            <a:pPr>
              <a:spcAft>
                <a:spcPts val="300"/>
              </a:spcAft>
              <a:defRPr sz="1100">
                <a:solidFill>
                  <a:srgbClr val="302422"/>
                </a:solidFill>
                <a:latin typeface="Aptos"/>
              </a:defRPr>
            </a:pPr>
            <a:r>
              <a:t>Mortensen, D., Noorsumar, G., Fjaer, H. G., Babaei, R., &amp; Dronen, P. E. (2026). Mitigating distortions in cast automotive subframes: A finite element simulation approach. The International Journal of Advanced Manufacturing Technology, 142, 5879-5898.</a:t>
            </a:r>
          </a:p>
          <a:p>
            <a:pPr>
              <a:spcAft>
                <a:spcPts val="300"/>
              </a:spcAft>
              <a:defRPr sz="1100">
                <a:solidFill>
                  <a:srgbClr val="302422"/>
                </a:solidFill>
                <a:latin typeface="Aptos"/>
              </a:defRPr>
            </a:pPr>
            <a:r>
              <a:t>Wang, Y., &amp; Zhong, L. (2024). NAS-PINN: Neural architecture search-guided physics-informed neural network for solving PDEs. Journal of Computational Physics, 496, 112603.</a:t>
            </a:r>
          </a:p>
          <a:p>
            <a:pPr>
              <a:spcAft>
                <a:spcPts val="300"/>
              </a:spcAft>
              <a:defRPr sz="1100">
                <a:solidFill>
                  <a:srgbClr val="302422"/>
                </a:solidFill>
                <a:latin typeface="Aptos"/>
              </a:defRPr>
            </a:pPr>
            <a:r>
              <a:t>Raissi, M., Perdikaris, P., &amp; Karniadakis, G. E. (2019). Physics-informed neural networks. Journal of Computational Physics, 378, 686-707.</a:t>
            </a:r>
          </a:p>
          <a:p>
            <a:pPr>
              <a:spcAft>
                <a:spcPts val="300"/>
              </a:spcAft>
              <a:defRPr sz="1100">
                <a:solidFill>
                  <a:srgbClr val="302422"/>
                </a:solidFill>
                <a:latin typeface="Aptos"/>
              </a:defRPr>
            </a:pPr>
            <a:r>
              <a:t>Deb, K. et al. (2002). A fast and elitist multiobjective genetic algorithm: NSGA-II. IEEE Transactions on Evolutionary Computation.</a:t>
            </a:r>
          </a:p>
          <a:p>
            <a:pPr>
              <a:spcAft>
                <a:spcPts val="300"/>
              </a:spcAft>
              <a:defRPr sz="1100">
                <a:solidFill>
                  <a:srgbClr val="302422"/>
                </a:solidFill>
                <a:latin typeface="Aptos"/>
              </a:defRPr>
            </a:pPr>
            <a:r>
              <a:t>Deb, K., &amp; Jain, H. (2014). An evolutionary many-objective optimization algorithm using reference-point-based nondominated sorting: NSGA-III. IEEE Transactions on Evolutionary Computation.</a:t>
            </a:r>
          </a:p>
          <a:p>
            <a:pPr>
              <a:spcAft>
                <a:spcPts val="300"/>
              </a:spcAft>
              <a:defRPr sz="1100">
                <a:solidFill>
                  <a:srgbClr val="302422"/>
                </a:solidFill>
                <a:latin typeface="Aptos"/>
              </a:defRPr>
            </a:pPr>
            <a:r>
              <a:t>Akiba, T. et al. (2019). Optuna: A next-generation hyperparameter optimization framework. KDD.</a:t>
            </a:r>
          </a:p>
        </p:txBody>
      </p:sp>
      <p:sp>
        <p:nvSpPr>
          <p:cNvPr id="8" name="Rectangle 7"/>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References</a:t>
            </a:r>
          </a:p>
        </p:txBody>
      </p:sp>
      <p:sp>
        <p:nvSpPr>
          <p:cNvPr id="10" name="TextBox 9"/>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CLOSING</a:t>
            </a:r>
          </a:p>
        </p:txBody>
      </p:sp>
      <p:sp>
        <p:nvSpPr>
          <p:cNvPr id="11" name="Rectangle 10"/>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3" name="TextBox 12"/>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4" name="TextBox 13"/>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868680"/>
          <a:ext cx="11247120" cy="5440680"/>
        </p:xfrm>
        <a:graphic>
          <a:graphicData uri="http://schemas.openxmlformats.org/drawingml/2006/table">
            <a:tbl>
              <a:tblPr firstRow="1" bandRow="1">
                <a:tableStyleId>{5C22544A-7EE6-4342-B048-85BDC9FD1C3A}</a:tableStyleId>
              </a:tblPr>
              <a:tblGrid>
                <a:gridCol w="3749040"/>
                <a:gridCol w="3749040"/>
                <a:gridCol w="3749040"/>
              </a:tblGrid>
              <a:tr h="680085">
                <a:tc>
                  <a:txBody>
                    <a:bodyPr anchor="ctr"/>
                    <a:lstStyle/>
                    <a:p>
                      <a:pPr algn="ctr">
                        <a:defRPr sz="700" b="1">
                          <a:solidFill>
                            <a:srgbClr val="FFFFFF"/>
                          </a:solidFill>
                          <a:latin typeface="Aptos"/>
                        </a:defRPr>
                      </a:pPr>
                      <a:r>
                        <a:t>Question</a:t>
                      </a:r>
                    </a:p>
                  </a:txBody>
                  <a:tcPr>
                    <a:solidFill>
                      <a:srgbClr val="97423E"/>
                    </a:solidFill>
                  </a:tcPr>
                </a:tc>
                <a:tc>
                  <a:txBody>
                    <a:bodyPr anchor="ctr"/>
                    <a:lstStyle/>
                    <a:p>
                      <a:pPr algn="ctr">
                        <a:defRPr sz="700" b="1">
                          <a:solidFill>
                            <a:srgbClr val="FFFFFF"/>
                          </a:solidFill>
                          <a:latin typeface="Aptos"/>
                        </a:defRPr>
                      </a:pPr>
                      <a:r>
                        <a:t>Short answer</a:t>
                      </a:r>
                    </a:p>
                  </a:txBody>
                  <a:tcPr>
                    <a:solidFill>
                      <a:srgbClr val="97423E"/>
                    </a:solidFill>
                  </a:tcPr>
                </a:tc>
                <a:tc>
                  <a:txBody>
                    <a:bodyPr anchor="ctr"/>
                    <a:lstStyle/>
                    <a:p>
                      <a:pPr algn="ctr">
                        <a:defRPr sz="700" b="1">
                          <a:solidFill>
                            <a:srgbClr val="FFFFFF"/>
                          </a:solidFill>
                          <a:latin typeface="Aptos"/>
                        </a:defRPr>
                      </a:pPr>
                      <a:r>
                        <a:t>Result link</a:t>
                      </a:r>
                    </a:p>
                  </a:txBody>
                  <a:tcPr>
                    <a:solidFill>
                      <a:srgbClr val="97423E"/>
                    </a:solidFill>
                  </a:tcPr>
                </a:tc>
              </a:tr>
              <a:tr h="680085">
                <a:tc>
                  <a:txBody>
                    <a:bodyPr anchor="ctr"/>
                    <a:lstStyle/>
                    <a:p>
                      <a:pPr algn="ctr">
                        <a:defRPr sz="700">
                          <a:solidFill>
                            <a:srgbClr val="302422"/>
                          </a:solidFill>
                          <a:latin typeface="Aptos"/>
                        </a:defRPr>
                      </a:pPr>
                      <a:r>
                        <a:t>What is FEM?</a:t>
                      </a:r>
                    </a:p>
                  </a:txBody>
                  <a:tcPr marL="36576" marR="36576">
                    <a:solidFill>
                      <a:srgbClr val="FFFFFF"/>
                    </a:solidFill>
                  </a:tcPr>
                </a:tc>
                <a:tc>
                  <a:txBody>
                    <a:bodyPr anchor="ctr"/>
                    <a:lstStyle/>
                    <a:p>
                      <a:pPr algn="ctr">
                        <a:defRPr sz="700">
                          <a:solidFill>
                            <a:srgbClr val="302422"/>
                          </a:solidFill>
                          <a:latin typeface="Aptos"/>
                        </a:defRPr>
                      </a:pPr>
                      <a:r>
                        <a:t>A trusted numerical solver used as reference and anchor.</a:t>
                      </a:r>
                    </a:p>
                  </a:txBody>
                  <a:tcPr marL="36576" marR="36576">
                    <a:solidFill>
                      <a:srgbClr val="FFFFFF"/>
                    </a:solidFill>
                  </a:tcPr>
                </a:tc>
                <a:tc>
                  <a:txBody>
                    <a:bodyPr anchor="ctr"/>
                    <a:lstStyle/>
                    <a:p>
                      <a:pPr algn="ctr">
                        <a:defRPr sz="700">
                          <a:solidFill>
                            <a:srgbClr val="302422"/>
                          </a:solidFill>
                          <a:latin typeface="Aptos"/>
                        </a:defRPr>
                      </a:pPr>
                      <a:r>
                        <a:t>It gives the correction snapshots.</a:t>
                      </a:r>
                    </a:p>
                  </a:txBody>
                  <a:tcPr marL="36576" marR="36576">
                    <a:solidFill>
                      <a:srgbClr val="FFFFFF"/>
                    </a:solidFill>
                  </a:tcPr>
                </a:tc>
              </a:tr>
              <a:tr h="680085">
                <a:tc>
                  <a:txBody>
                    <a:bodyPr anchor="ctr"/>
                    <a:lstStyle/>
                    <a:p>
                      <a:pPr algn="ctr">
                        <a:defRPr sz="700">
                          <a:solidFill>
                            <a:srgbClr val="302422"/>
                          </a:solidFill>
                          <a:latin typeface="Aptos"/>
                        </a:defRPr>
                      </a:pPr>
                      <a:r>
                        <a:t>What is PINN?</a:t>
                      </a:r>
                    </a:p>
                  </a:txBody>
                  <a:tcPr marL="36576" marR="36576">
                    <a:solidFill>
                      <a:srgbClr val="FFF7F5"/>
                    </a:solidFill>
                  </a:tcPr>
                </a:tc>
                <a:tc>
                  <a:txBody>
                    <a:bodyPr anchor="ctr"/>
                    <a:lstStyle/>
                    <a:p>
                      <a:pPr algn="ctr">
                        <a:defRPr sz="700">
                          <a:solidFill>
                            <a:srgbClr val="302422"/>
                          </a:solidFill>
                          <a:latin typeface="Aptos"/>
                        </a:defRPr>
                      </a:pPr>
                      <a:r>
                        <a:t>A neural network trained with data error and heat-equation physics.</a:t>
                      </a:r>
                    </a:p>
                  </a:txBody>
                  <a:tcPr marL="36576" marR="36576">
                    <a:solidFill>
                      <a:srgbClr val="FFF7F5"/>
                    </a:solidFill>
                  </a:tcPr>
                </a:tc>
                <a:tc>
                  <a:txBody>
                    <a:bodyPr anchor="ctr"/>
                    <a:lstStyle/>
                    <a:p>
                      <a:pPr algn="ctr">
                        <a:defRPr sz="700">
                          <a:solidFill>
                            <a:srgbClr val="302422"/>
                          </a:solidFill>
                          <a:latin typeface="Aptos"/>
                        </a:defRPr>
                      </a:pPr>
                      <a:r>
                        <a:t>It predicts between FEM anchors.</a:t>
                      </a:r>
                    </a:p>
                  </a:txBody>
                  <a:tcPr marL="36576" marR="36576">
                    <a:solidFill>
                      <a:srgbClr val="FFF7F5"/>
                    </a:solidFill>
                  </a:tcPr>
                </a:tc>
              </a:tr>
              <a:tr h="680085">
                <a:tc>
                  <a:txBody>
                    <a:bodyPr anchor="ctr"/>
                    <a:lstStyle/>
                    <a:p>
                      <a:pPr algn="ctr">
                        <a:defRPr sz="700">
                          <a:solidFill>
                            <a:srgbClr val="302422"/>
                          </a:solidFill>
                          <a:latin typeface="Aptos"/>
                        </a:defRPr>
                      </a:pPr>
                      <a:r>
                        <a:t>What is NAS-PINN?</a:t>
                      </a:r>
                    </a:p>
                  </a:txBody>
                  <a:tcPr marL="36576" marR="36576">
                    <a:solidFill>
                      <a:srgbClr val="FFFFFF"/>
                    </a:solidFill>
                  </a:tcPr>
                </a:tc>
                <a:tc>
                  <a:txBody>
                    <a:bodyPr anchor="ctr"/>
                    <a:lstStyle/>
                    <a:p>
                      <a:pPr algn="ctr">
                        <a:defRPr sz="700">
                          <a:solidFill>
                            <a:srgbClr val="302422"/>
                          </a:solidFill>
                          <a:latin typeface="Aptos"/>
                        </a:defRPr>
                      </a:pPr>
                      <a:r>
                        <a:t>A PINN whose architecture is selected by search, not by hand.</a:t>
                      </a:r>
                    </a:p>
                  </a:txBody>
                  <a:tcPr marL="36576" marR="36576">
                    <a:solidFill>
                      <a:srgbClr val="FFFFFF"/>
                    </a:solidFill>
                  </a:tcPr>
                </a:tc>
                <a:tc>
                  <a:txBody>
                    <a:bodyPr anchor="ctr"/>
                    <a:lstStyle/>
                    <a:p>
                      <a:pPr algn="ctr">
                        <a:defRPr sz="700">
                          <a:solidFill>
                            <a:srgbClr val="302422"/>
                          </a:solidFill>
                          <a:latin typeface="Aptos"/>
                        </a:defRPr>
                      </a:pPr>
                      <a:r>
                        <a:t>Bayesian/TPE is the most robust choice.</a:t>
                      </a:r>
                    </a:p>
                  </a:txBody>
                  <a:tcPr marL="36576" marR="36576">
                    <a:solidFill>
                      <a:srgbClr val="FFFFFF"/>
                    </a:solidFill>
                  </a:tcPr>
                </a:tc>
              </a:tr>
              <a:tr h="680085">
                <a:tc>
                  <a:txBody>
                    <a:bodyPr anchor="ctr"/>
                    <a:lstStyle/>
                    <a:p>
                      <a:pPr algn="ctr">
                        <a:defRPr sz="700">
                          <a:solidFill>
                            <a:srgbClr val="302422"/>
                          </a:solidFill>
                          <a:latin typeface="Aptos"/>
                        </a:defRPr>
                      </a:pPr>
                      <a:r>
                        <a:t>MAE vs L2?</a:t>
                      </a:r>
                    </a:p>
                  </a:txBody>
                  <a:tcPr marL="36576" marR="36576">
                    <a:solidFill>
                      <a:srgbClr val="FFF7F5"/>
                    </a:solidFill>
                  </a:tcPr>
                </a:tc>
                <a:tc>
                  <a:txBody>
                    <a:bodyPr anchor="ctr"/>
                    <a:lstStyle/>
                    <a:p>
                      <a:pPr algn="ctr">
                        <a:defRPr sz="700">
                          <a:solidFill>
                            <a:srgbClr val="302422"/>
                          </a:solidFill>
                          <a:latin typeface="Aptos"/>
                        </a:defRPr>
                      </a:pPr>
                      <a:r>
                        <a:t>MAE is average Celsius error; L2 is field error at t=30 s.</a:t>
                      </a:r>
                    </a:p>
                  </a:txBody>
                  <a:tcPr marL="36576" marR="36576">
                    <a:solidFill>
                      <a:srgbClr val="FFF7F5"/>
                    </a:solidFill>
                  </a:tcPr>
                </a:tc>
                <a:tc>
                  <a:txBody>
                    <a:bodyPr anchor="ctr"/>
                    <a:lstStyle/>
                    <a:p>
                      <a:pPr algn="ctr">
                        <a:defRPr sz="700">
                          <a:solidFill>
                            <a:srgbClr val="302422"/>
                          </a:solidFill>
                          <a:latin typeface="Aptos"/>
                        </a:defRPr>
                      </a:pPr>
                      <a:r>
                        <a:t>Both are needed to judge accuracy.</a:t>
                      </a:r>
                    </a:p>
                  </a:txBody>
                  <a:tcPr marL="36576" marR="36576">
                    <a:solidFill>
                      <a:srgbClr val="FFF7F5"/>
                    </a:solidFill>
                  </a:tcPr>
                </a:tc>
              </a:tr>
              <a:tr h="680085">
                <a:tc>
                  <a:txBody>
                    <a:bodyPr anchor="ctr"/>
                    <a:lstStyle/>
                    <a:p>
                      <a:pPr algn="ctr">
                        <a:defRPr sz="700">
                          <a:solidFill>
                            <a:srgbClr val="302422"/>
                          </a:solidFill>
                          <a:latin typeface="Aptos"/>
                        </a:defRPr>
                      </a:pPr>
                      <a:r>
                        <a:t>Why adaptive-k?</a:t>
                      </a:r>
                    </a:p>
                  </a:txBody>
                  <a:tcPr marL="36576" marR="36576">
                    <a:solidFill>
                      <a:srgbClr val="FFFFFF"/>
                    </a:solidFill>
                  </a:tcPr>
                </a:tc>
                <a:tc>
                  <a:txBody>
                    <a:bodyPr anchor="ctr"/>
                    <a:lstStyle/>
                    <a:p>
                      <a:pPr algn="ctr">
                        <a:defRPr sz="700">
                          <a:solidFill>
                            <a:srgbClr val="302422"/>
                          </a:solidFill>
                          <a:latin typeface="Aptos"/>
                        </a:defRPr>
                      </a:pPr>
                      <a:r>
                        <a:t>It changes window length based on error.</a:t>
                      </a:r>
                    </a:p>
                  </a:txBody>
                  <a:tcPr marL="36576" marR="36576">
                    <a:solidFill>
                      <a:srgbClr val="FFFFFF"/>
                    </a:solidFill>
                  </a:tcPr>
                </a:tc>
                <a:tc>
                  <a:txBody>
                    <a:bodyPr anchor="ctr"/>
                    <a:lstStyle/>
                    <a:p>
                      <a:pPr algn="ctr">
                        <a:defRPr sz="700">
                          <a:solidFill>
                            <a:srgbClr val="302422"/>
                          </a:solidFill>
                          <a:latin typeface="Aptos"/>
                        </a:defRPr>
                      </a:pPr>
                      <a:r>
                        <a:t>It saves FEM calls safely in simpler cases.</a:t>
                      </a:r>
                    </a:p>
                  </a:txBody>
                  <a:tcPr marL="36576" marR="36576">
                    <a:solidFill>
                      <a:srgbClr val="FFFFFF"/>
                    </a:solidFill>
                  </a:tcPr>
                </a:tc>
              </a:tr>
              <a:tr h="680085">
                <a:tc>
                  <a:txBody>
                    <a:bodyPr anchor="ctr"/>
                    <a:lstStyle/>
                    <a:p>
                      <a:pPr algn="ctr">
                        <a:defRPr sz="700">
                          <a:solidFill>
                            <a:srgbClr val="302422"/>
                          </a:solidFill>
                          <a:latin typeface="Aptos"/>
                        </a:defRPr>
                      </a:pPr>
                      <a:r>
                        <a:t>Why not PINN-only?</a:t>
                      </a:r>
                    </a:p>
                  </a:txBody>
                  <a:tcPr marL="36576" marR="36576">
                    <a:solidFill>
                      <a:srgbClr val="FFF7F5"/>
                    </a:solidFill>
                  </a:tcPr>
                </a:tc>
                <a:tc>
                  <a:txBody>
                    <a:bodyPr anchor="ctr"/>
                    <a:lstStyle/>
                    <a:p>
                      <a:pPr algn="ctr">
                        <a:defRPr sz="700">
                          <a:solidFill>
                            <a:srgbClr val="302422"/>
                          </a:solidFill>
                          <a:latin typeface="Aptos"/>
                        </a:defRPr>
                      </a:pPr>
                      <a:r>
                        <a:t>Without FEM anchors, errors accumulate.</a:t>
                      </a:r>
                    </a:p>
                  </a:txBody>
                  <a:tcPr marL="36576" marR="36576">
                    <a:solidFill>
                      <a:srgbClr val="FFF7F5"/>
                    </a:solidFill>
                  </a:tcPr>
                </a:tc>
                <a:tc>
                  <a:txBody>
                    <a:bodyPr anchor="ctr"/>
                    <a:lstStyle/>
                    <a:p>
                      <a:pPr algn="ctr">
                        <a:defRPr sz="700">
                          <a:solidFill>
                            <a:srgbClr val="302422"/>
                          </a:solidFill>
                          <a:latin typeface="Aptos"/>
                        </a:defRPr>
                      </a:pPr>
                      <a:r>
                        <a:t>Thermal Fin PINN-only fails clearly.</a:t>
                      </a:r>
                    </a:p>
                  </a:txBody>
                  <a:tcPr marL="36576" marR="36576">
                    <a:solidFill>
                      <a:srgbClr val="FFF7F5"/>
                    </a:solidFill>
                  </a:tcPr>
                </a:tc>
              </a:tr>
              <a:tr h="680085">
                <a:tc>
                  <a:txBody>
                    <a:bodyPr anchor="ctr"/>
                    <a:lstStyle/>
                    <a:p>
                      <a:pPr algn="ctr">
                        <a:defRPr sz="700">
                          <a:solidFill>
                            <a:srgbClr val="302422"/>
                          </a:solidFill>
                          <a:latin typeface="Aptos"/>
                        </a:defRPr>
                      </a:pPr>
                      <a:r>
                        <a:t>Why is PINN useful if training is slow?</a:t>
                      </a:r>
                    </a:p>
                  </a:txBody>
                  <a:tcPr marL="36576" marR="36576">
                    <a:solidFill>
                      <a:srgbClr val="FFFFFF"/>
                    </a:solidFill>
                  </a:tcPr>
                </a:tc>
                <a:tc>
                  <a:txBody>
                    <a:bodyPr anchor="ctr"/>
                    <a:lstStyle/>
                    <a:p>
                      <a:pPr algn="ctr">
                        <a:defRPr sz="700">
                          <a:solidFill>
                            <a:srgbClr val="302422"/>
                          </a:solidFill>
                          <a:latin typeface="Aptos"/>
                        </a:defRPr>
                      </a:pPr>
                      <a:r>
                        <a:t>Training is paid once; inference is fast for repeated use.</a:t>
                      </a:r>
                    </a:p>
                  </a:txBody>
                  <a:tcPr marL="36576" marR="36576">
                    <a:solidFill>
                      <a:srgbClr val="FFFFFF"/>
                    </a:solidFill>
                  </a:tcPr>
                </a:tc>
                <a:tc>
                  <a:txBody>
                    <a:bodyPr anchor="ctr"/>
                    <a:lstStyle/>
                    <a:p>
                      <a:pPr algn="ctr">
                        <a:defRPr sz="700">
                          <a:solidFill>
                            <a:srgbClr val="302422"/>
                          </a:solidFill>
                          <a:latin typeface="Aptos"/>
                        </a:defRPr>
                      </a:pPr>
                      <a:r>
                        <a:t>Useful when many FEM solves are needed.</a:t>
                      </a:r>
                    </a:p>
                  </a:txBody>
                  <a:tcPr marL="36576" marR="36576">
                    <a:solidFill>
                      <a:srgbClr val="FFFFFF"/>
                    </a:solidFill>
                  </a:tcPr>
                </a:tc>
              </a:tr>
            </a:tbl>
          </a:graphicData>
        </a:graphic>
      </p:graphicFrame>
      <p:sp>
        <p:nvSpPr>
          <p:cNvPr id="8" name="Rectangle 7"/>
          <p:cNvSpPr/>
          <p:nvPr/>
        </p:nvSpPr>
        <p:spPr>
          <a:xfrm>
            <a:off x="777240" y="5806440"/>
            <a:ext cx="10698480" cy="411480"/>
          </a:xfrm>
          <a:prstGeom prst="rect">
            <a:avLst/>
          </a:prstGeom>
          <a:solidFill>
            <a:srgbClr val="F6F1EA"/>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5916168"/>
            <a:ext cx="10405872" cy="256032"/>
          </a:xfrm>
          <a:prstGeom prst="rect">
            <a:avLst/>
          </a:prstGeom>
          <a:noFill/>
        </p:spPr>
        <p:txBody>
          <a:bodyPr wrap="square">
            <a:spAutoFit/>
          </a:bodyPr>
          <a:lstStyle/>
          <a:p>
            <a:pPr algn="l">
              <a:defRPr sz="1100" b="1">
                <a:solidFill>
                  <a:srgbClr val="97423E"/>
                </a:solidFill>
                <a:latin typeface="Aptos"/>
              </a:defRPr>
            </a:pPr>
            <a:r>
              <a:t>How I use this slide</a:t>
            </a:r>
          </a:p>
        </p:txBody>
      </p:sp>
      <p:sp>
        <p:nvSpPr>
          <p:cNvPr id="10" name="TextBox 9"/>
          <p:cNvSpPr txBox="1"/>
          <p:nvPr/>
        </p:nvSpPr>
        <p:spPr>
          <a:xfrm>
            <a:off x="923544" y="6245352"/>
            <a:ext cx="10405872" cy="-100584"/>
          </a:xfrm>
          <a:prstGeom prst="rect">
            <a:avLst/>
          </a:prstGeom>
          <a:noFill/>
        </p:spPr>
        <p:txBody>
          <a:bodyPr wrap="square">
            <a:spAutoFit/>
          </a:bodyPr>
          <a:lstStyle/>
          <a:p>
            <a:pPr algn="l">
              <a:defRPr sz="1000" b="0">
                <a:solidFill>
                  <a:srgbClr val="302422"/>
                </a:solidFill>
                <a:latin typeface="Aptos"/>
              </a:defRPr>
            </a:pPr>
            <a:r>
              <a:t>I answer in one or two sentences, then point back to the MAE/L2 or heat-map evidence.</a:t>
            </a:r>
          </a:p>
        </p:txBody>
      </p:sp>
      <p:sp>
        <p:nvSpPr>
          <p:cNvPr id="11" name="Rectangle 10"/>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Q&amp;A Preparation</a:t>
            </a:r>
          </a:p>
        </p:txBody>
      </p:sp>
      <p:sp>
        <p:nvSpPr>
          <p:cNvPr id="13" name="TextBox 12"/>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CLOSING</a:t>
            </a:r>
          </a:p>
        </p:txBody>
      </p:sp>
      <p:sp>
        <p:nvSpPr>
          <p:cNvPr id="14" name="Rectangle 13"/>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6" name="TextBox 15"/>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7" name="TextBox 16"/>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03504"/>
          </a:xfrm>
          <a:prstGeom prst="rect">
            <a:avLst/>
          </a:prstGeom>
          <a:solidFill>
            <a:srgbClr val="974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03504"/>
            <a:ext cx="12191695" cy="45720"/>
          </a:xfrm>
          <a:prstGeom prst="rect">
            <a:avLst/>
          </a:prstGeom>
          <a:solidFill>
            <a:srgbClr val="DC7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10515600" cy="685800"/>
          </a:xfrm>
          <a:prstGeom prst="rect">
            <a:avLst/>
          </a:prstGeom>
          <a:noFill/>
        </p:spPr>
        <p:txBody>
          <a:bodyPr wrap="square">
            <a:spAutoFit/>
          </a:bodyPr>
          <a:lstStyle/>
          <a:p>
            <a:pPr algn="ctr">
              <a:defRPr sz="3600" b="1">
                <a:solidFill>
                  <a:srgbClr val="97423E"/>
                </a:solidFill>
                <a:latin typeface="Aptos"/>
              </a:defRPr>
            </a:pPr>
            <a:r>
              <a:t>Thank you</a:t>
            </a:r>
          </a:p>
        </p:txBody>
      </p:sp>
      <p:sp>
        <p:nvSpPr>
          <p:cNvPr id="8" name="TextBox 7"/>
          <p:cNvSpPr txBox="1"/>
          <p:nvPr/>
        </p:nvSpPr>
        <p:spPr>
          <a:xfrm>
            <a:off x="822960" y="2788920"/>
            <a:ext cx="10515600" cy="411480"/>
          </a:xfrm>
          <a:prstGeom prst="rect">
            <a:avLst/>
          </a:prstGeom>
          <a:noFill/>
        </p:spPr>
        <p:txBody>
          <a:bodyPr wrap="square">
            <a:spAutoFit/>
          </a:bodyPr>
          <a:lstStyle/>
          <a:p>
            <a:pPr algn="ctr">
              <a:defRPr sz="2000" b="0">
                <a:solidFill>
                  <a:srgbClr val="302422"/>
                </a:solidFill>
                <a:latin typeface="Aptos"/>
              </a:defRPr>
            </a:pPr>
            <a:r>
              <a:t>Questions and discussion</a:t>
            </a:r>
          </a:p>
        </p:txBody>
      </p:sp>
      <p:sp>
        <p:nvSpPr>
          <p:cNvPr id="9" name="Rectangle 8"/>
          <p:cNvSpPr/>
          <p:nvPr/>
        </p:nvSpPr>
        <p:spPr>
          <a:xfrm>
            <a:off x="1828800" y="3794760"/>
            <a:ext cx="8503920" cy="1234440"/>
          </a:xfrm>
          <a:prstGeom prst="rect">
            <a:avLst/>
          </a:prstGeom>
          <a:solidFill>
            <a:srgbClr val="FFEBE5"/>
          </a:solidFill>
          <a:ln>
            <a:solidFill>
              <a:srgbClr val="EBCA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75104" y="3904488"/>
            <a:ext cx="8211312" cy="256032"/>
          </a:xfrm>
          <a:prstGeom prst="rect">
            <a:avLst/>
          </a:prstGeom>
          <a:noFill/>
        </p:spPr>
        <p:txBody>
          <a:bodyPr wrap="square">
            <a:spAutoFit/>
          </a:bodyPr>
          <a:lstStyle/>
          <a:p>
            <a:pPr algn="l">
              <a:defRPr sz="1100" b="1">
                <a:solidFill>
                  <a:srgbClr val="97423E"/>
                </a:solidFill>
                <a:latin typeface="Aptos"/>
              </a:defRPr>
            </a:pPr>
            <a:r>
              <a:t>Main takeaway</a:t>
            </a:r>
          </a:p>
        </p:txBody>
      </p:sp>
      <p:sp>
        <p:nvSpPr>
          <p:cNvPr id="11" name="TextBox 10"/>
          <p:cNvSpPr txBox="1"/>
          <p:nvPr/>
        </p:nvSpPr>
        <p:spPr>
          <a:xfrm>
            <a:off x="1975104" y="4233672"/>
            <a:ext cx="8211312" cy="722376"/>
          </a:xfrm>
          <a:prstGeom prst="rect">
            <a:avLst/>
          </a:prstGeom>
          <a:noFill/>
        </p:spPr>
        <p:txBody>
          <a:bodyPr wrap="square">
            <a:spAutoFit/>
          </a:bodyPr>
          <a:lstStyle/>
          <a:p>
            <a:pPr algn="l">
              <a:defRPr sz="1000" b="0">
                <a:solidFill>
                  <a:srgbClr val="302422"/>
                </a:solidFill>
                <a:latin typeface="Aptos"/>
              </a:defRPr>
            </a:pPr>
            <a:r>
              <a:t>FEM-anchored NAS-PINN can reduce FEM calls while keeping useful thermal-field accuracy. FEM is accelerated, not removed.</a:t>
            </a:r>
          </a:p>
        </p:txBody>
      </p:sp>
      <p:sp>
        <p:nvSpPr>
          <p:cNvPr id="12" name="TextBox 11"/>
          <p:cNvSpPr txBox="1"/>
          <p:nvPr/>
        </p:nvSpPr>
        <p:spPr>
          <a:xfrm>
            <a:off x="822960" y="5806440"/>
            <a:ext cx="10515600" cy="256032"/>
          </a:xfrm>
          <a:prstGeom prst="rect">
            <a:avLst/>
          </a:prstGeom>
          <a:noFill/>
        </p:spPr>
        <p:txBody>
          <a:bodyPr wrap="square">
            <a:spAutoFit/>
          </a:bodyPr>
          <a:lstStyle/>
        </p:txBody>
      </p:sp>
      <p:sp>
        <p:nvSpPr>
          <p:cNvPr id="13" name="Rectangle 12"/>
          <p:cNvSpPr/>
          <p:nvPr/>
        </p:nvSpPr>
        <p:spPr>
          <a:xfrm>
            <a:off x="0" y="0"/>
            <a:ext cx="12191695" cy="91440"/>
          </a:xfrm>
          <a:prstGeom prst="rect">
            <a:avLst/>
          </a:prstGeom>
          <a:solidFill>
            <a:srgbClr val="B82025"/>
          </a:solidFill>
          <a:ln>
            <a:solidFill>
              <a:srgbClr val="B820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8600"/>
            <a:ext cx="9601200" cy="411480"/>
          </a:xfrm>
          <a:prstGeom prst="rect">
            <a:avLst/>
          </a:prstGeom>
          <a:noFill/>
        </p:spPr>
        <p:txBody>
          <a:bodyPr wrap="square">
            <a:normAutofit/>
          </a:bodyPr>
          <a:lstStyle/>
          <a:p>
            <a:r>
              <a:rPr sz="2000" b="1">
                <a:solidFill>
                  <a:srgbClr val="1C232B"/>
                </a:solidFill>
                <a:latin typeface="Arial"/>
              </a:rPr>
              <a:t>Thank You</a:t>
            </a:r>
          </a:p>
        </p:txBody>
      </p:sp>
      <p:sp>
        <p:nvSpPr>
          <p:cNvPr id="15" name="TextBox 14"/>
          <p:cNvSpPr txBox="1"/>
          <p:nvPr/>
        </p:nvSpPr>
        <p:spPr>
          <a:xfrm>
            <a:off x="530352" y="713232"/>
            <a:ext cx="3840480" cy="182880"/>
          </a:xfrm>
          <a:prstGeom prst="rect">
            <a:avLst/>
          </a:prstGeom>
          <a:noFill/>
        </p:spPr>
        <p:txBody>
          <a:bodyPr wrap="square">
            <a:normAutofit/>
          </a:bodyPr>
          <a:lstStyle/>
          <a:p>
            <a:r>
              <a:rPr sz="850" b="1">
                <a:solidFill>
                  <a:srgbClr val="B82025"/>
                </a:solidFill>
                <a:latin typeface="Arial"/>
              </a:rPr>
              <a:t>CLOSING</a:t>
            </a:r>
          </a:p>
        </p:txBody>
      </p:sp>
      <p:sp>
        <p:nvSpPr>
          <p:cNvPr id="16" name="Rectangle 15"/>
          <p:cNvSpPr/>
          <p:nvPr/>
        </p:nvSpPr>
        <p:spPr>
          <a:xfrm>
            <a:off x="502920" y="6364224"/>
            <a:ext cx="11155680"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28232"/>
            <a:ext cx="2286000" cy="201168"/>
          </a:xfrm>
          <a:prstGeom prst="rect">
            <a:avLst/>
          </a:prstGeom>
          <a:noFill/>
        </p:spPr>
        <p:txBody>
          <a:bodyPr wrap="square">
            <a:normAutofit/>
          </a:bodyPr>
          <a:lstStyle/>
          <a:p>
            <a:r>
              <a:rPr sz="850" b="1">
                <a:solidFill>
                  <a:srgbClr val="B82025"/>
                </a:solidFill>
                <a:latin typeface="Arial"/>
              </a:rPr>
              <a:t>UiA | University of Agder</a:t>
            </a:r>
          </a:p>
        </p:txBody>
      </p:sp>
      <p:sp>
        <p:nvSpPr>
          <p:cNvPr id="18" name="TextBox 17"/>
          <p:cNvSpPr txBox="1"/>
          <p:nvPr/>
        </p:nvSpPr>
        <p:spPr>
          <a:xfrm>
            <a:off x="2788920" y="6428232"/>
            <a:ext cx="2743200" cy="201168"/>
          </a:xfrm>
          <a:prstGeom prst="rect">
            <a:avLst/>
          </a:prstGeom>
          <a:noFill/>
        </p:spPr>
        <p:txBody>
          <a:bodyPr wrap="square">
            <a:normAutofit/>
          </a:bodyPr>
          <a:lstStyle/>
          <a:p>
            <a:r>
              <a:rPr sz="850" b="0">
                <a:solidFill>
                  <a:srgbClr val="646C75"/>
                </a:solidFill>
                <a:latin typeface="Arial"/>
              </a:rPr>
              <a:t>Master Thesis Defense</a:t>
            </a:r>
          </a:p>
        </p:txBody>
      </p:sp>
      <p:sp>
        <p:nvSpPr>
          <p:cNvPr id="19" name="TextBox 18"/>
          <p:cNvSpPr txBox="1"/>
          <p:nvPr/>
        </p:nvSpPr>
        <p:spPr>
          <a:xfrm>
            <a:off x="11247120" y="6428232"/>
            <a:ext cx="457200" cy="201168"/>
          </a:xfrm>
          <a:prstGeom prst="rect">
            <a:avLst/>
          </a:prstGeom>
          <a:noFill/>
        </p:spPr>
        <p:txBody>
          <a:bodyPr wrap="square">
            <a:normAutofit/>
          </a:bodyPr>
          <a:lstStyle/>
          <a:p>
            <a:pPr algn="r"/>
            <a:r>
              <a:rPr sz="850" b="0">
                <a:solidFill>
                  <a:srgbClr val="646C75"/>
                </a:solidFill>
                <a:latin typeface="Arial"/>
              </a:rPr>
              <a:t>50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