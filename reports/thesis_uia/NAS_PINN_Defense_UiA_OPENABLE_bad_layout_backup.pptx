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114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UiA | University of Agder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900" b="1">
                <a:solidFill>
                  <a:srgbClr val="1C232B"/>
                </a:solidFill>
                <a:latin typeface="Arial"/>
              </a:rPr>
              <a:t>NAS-Guided FEM-Anchored PINNs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21992"/>
            <a:ext cx="105156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B82025"/>
                </a:solidFill>
                <a:latin typeface="Arial"/>
              </a:rPr>
              <a:t>Multi-Step Window Prediction for Transient A356 Water Quenching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10241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1C232B"/>
                </a:solidFill>
                <a:latin typeface="Arial"/>
              </a:rPr>
              <a:t>Step Optimization in Thermal Simulation Using Selective Finite Element Method Step Skipping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69080"/>
            <a:ext cx="7772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C232B"/>
                </a:solidFill>
                <a:latin typeface="Arial"/>
              </a:rPr>
              <a:t>Omer Cetinkaya | University of Agder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462272"/>
            <a:ext cx="7772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646C75"/>
                </a:solidFill>
                <a:latin typeface="Arial"/>
              </a:rPr>
              <a:t>Supervisor: Prof. Turgay Celik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Presentation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The talk moves from problem to evidence.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First: theory and method. Then: benchmarks and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Intro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Why this problem · what we built · how we test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Theory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Heat equation · FEM · PINN · NAS-PINN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Method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How FEM works · How NAS-PINN works · How MSWP works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Results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- 2D · 3D · Thermal Fin · MAE and FEM saving numbers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C232B"/>
                </a:solidFill>
                <a:latin typeface="Arial"/>
              </a:rPr>
              <a:t>The project begins with an industrial A356 aluminium quenching problem and asks whether Finite Element Method (FEM) time-step calls can be reduced without losing useful temperature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We simulate water quenching of hot A356 aluminium.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The goal is to reduce repeated FEM work with anchors.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The project begins with an industrial A356 aluminium quenching problem and asks whether Finite Element Method (FEM) time-step calls can be reduced without losing useful temperature accuracy.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Reference paper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The reference study models water quenching of cast A356 automotive subframes. Its FEM simulation gives the industrial motivation: temperature gradients during quenching drive distortion.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Our approach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We keep the same physical process setting, but test a different route: FEM provides anchor snapshots and NAS-PINN predicts selected intermediate windows.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Validation path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Because the real industrial data arrived late, the workflow starts with controlled surrogate geometries and then moves toward more complex 3D and Thermal Fin benchmarks.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Material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A356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What is A356 aluminium? - T6 heat treatment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A356 is a cast aluminium alloy used in engineering parts.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Quenching controls cooling history after heat treatment.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A356 aluminium A356 is an aluminium-silicon casting alloy. It is common in cast automotive parts because it is light and has useful mechanical properties.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Water quenching After heating, the hot part is cooled quickly in water. This fast cooling changes the temperature field inside the part.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Why simulation is needed Fast cooling can create strong temperature gradients. These gradients can cause distortion and residual stress.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Connection to this thesis Mortensen et al. (2026) use FEM for A356 automotive subframe quenching. This thesis uses that industrial problem as motivation for FEM-step reduction.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Source: Mortensen et al. (2026), finite element simulation of water quenching in cast A356 automotive subframes.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C232B"/>
                </a:solidFill>
                <a:latin typeface="Arial"/>
              </a:rPr>
              <a:t>We follow the industrial quenching problem from the reference paper, then test whether FEM time-step calls can be reduced with a FEM-anchored NAS-PINN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033271"/>
            <a:ext cx="6611112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reference paper gives the FEM-quenching background.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This thesis tests FEM-anchored NAS-PINN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Table 3.1: what is taken from the reference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603" y="1033271"/>
            <a:ext cx="3710033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table separates reference-paper inputs from thesis use.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FEM remains the trusted source; NAS-PINN predicts between anchors.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Research Question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Main question: how many FEM calls can be skipped?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The answer must balance FEM saving and useful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How many FEM solver calls can be replaced by PINN predictions while keeping temperature error within engineering limits?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We built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A FEM-anchored NAS-PINN framework that predicts intermediate thermal fields while FEM snapshots remain the correction source.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We tested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Fixed-k, adaptive-k and PINN-only modes were evaluated from simple 2D domains to complex 3D and Thermal Fin cases.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We measured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MAE, relative L2 error, skip-factor schedule and FEM-call reduction are reported together.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Error limits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Geometry-dependent thresholds: 10 C for canonical 2D; 15 C for 3D and Thermal Fin.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C232B"/>
                </a:solidFill>
                <a:latin typeface="Arial"/>
              </a:rPr>
              <a:t>The whole framework is built on transient heat transfer during water quenching.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FEM and PINN use the same heat-transfer physics.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FEM solves it on a mesh; PINN uses it in the loss.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The whole framework is built on transient heat transfer during water quenching.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Governing equation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rho cp dT/dt = div(kT grad T)  This describes how the temperature field evolves inside the solid part.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Boundary condition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-kT grad(T) . n = h (T - Tw)  This represents heat leaving the hot metal surface into the quench water.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Initial condition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T(x,0) = T0  In this thesis: T0 = 540 C and Tw = 20 C.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How Finite Element Method (FEM) uses it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FEM discretises the domain and solves this equation to produce reference temperature snapshots.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C232B"/>
                </a:solidFill>
                <a:latin typeface="Arial"/>
              </a:rPr>
              <a:t>Finite Element Method (FEM), Physics-Informed Neural Network (PINN) and Neural Architecture Search PINN (NAS-PINN)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FEM is the reliable reference.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PINN predicts with physics loss; NAS-PINN also searches the architecture.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FEM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What is it? A numerical solver for the heat equation.  How we used it? It gives reliable anchor snapshots.  Key point: FEM is not removed.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What is it? A neural network for T(x,t).  How it learns? It uses data error + heat-equation error.  Key point: physics is inside the loss.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What is it? PINN + architecture search.  What is searched? Depth, width and activation.  Key point: we do not choose the network manually.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Defense message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We used FEM for trust, PINN for prediction, and NAS to choose a better neural architecture for different geometries.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FEM Process: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033271"/>
            <a:ext cx="6611112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FEM process: define physics, discretise, solve in time, save snapshots.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These snapshots become trusted anchors for the thesis.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FEM Solver and Mesh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651" y="1033271"/>
            <a:ext cx="5401936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table shows grid size and active nodes.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This defines the FEM reference used for anchors and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FEM vs PINN: Runtime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C232B"/>
                </a:solidFill>
                <a:latin typeface="Arial"/>
              </a:rPr>
              <a:t>Method | First use | Repeated use | Why it matters
FEM | Can be fast for one small case | Must solve again for each new case | Cost grows with many runs
PINN | Training can be slower | Inference is very fast | Good for repeated prediction
MSWP | Uses FEM anchors | Skips selected FEM calls | Keeps trust while reducing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One FEM run may be acceptable, but many repeated runs are costly.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PINN is trained first, then can predict faster later.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FEM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FEM gives trusted states.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Next, the neural model predicts between these states.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FEM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FEM gives us the reference. Now: how does PINN learn to predict without FEM?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Method Source: NAS-PINN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14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86" y="1033271"/>
            <a:ext cx="10209467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NAS-PINN searches for a strong network architecture.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This avoids manually choosing one fixed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PINN gives physics-based learning.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NAS-PINN adds architecture 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PINN works. But which architecture? Enter: Neural Architecture Search.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NAS-PINN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710" y="1033271"/>
            <a:ext cx="6905818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NAS-PINN process: FEM data, physics loss, architecture search, selected predictor.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model is physics-informed and search-guided.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Architecture Search and Training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C232B"/>
                </a:solidFill>
                <a:latin typeface="Arial"/>
              </a:rPr>
              <a:t>Strategy | Selected architecture | Role in method
Bayesian/TPE | 5 layers x 151, ReLU | High-capacity accuracy-focused model
NSGA-II | 3 layers x 153, tanh | Accuracy-size trade-off
NSGA-III | 3 layers x 75, tanh | Compact Pareto-diverse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Architecture search is done first.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Adam gives broad progress; L-BFGS improves final fit.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Optimisation Methods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C232B"/>
                </a:solidFill>
                <a:latin typeface="Arial"/>
              </a:rPr>
              <a:t>Method | Search idea | Why used here | Architecture
Bayesian/TPE | Single-objective probabilistic search | Find an accurate architecture with limited trials | 5 x 151, ReLU
NSGA-II | Multi-objective evolutionary search | Balance accuracy and compactness | 3 x 153, tanh
NSGA-III | Reference-point many-objective search | Promote diverse compact Pareto solutions | 3 x 75, tanh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All three search methods use the same search space.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This makes the comparison fair.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NAS Hyperparameter Search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19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416" y="1033271"/>
            <a:ext cx="9408406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search space defines what NAS can choose.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It makes the experiment reproducible.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NAS-PINN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The selected NAS-PINN is ready.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Next: how it is used over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MSWP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We have the architecture. Now: how do FEM + NAS-PINN work together?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MSWP Framework: Working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033271"/>
            <a:ext cx="6611112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MSWP: FEM anchor, NAS-PINN window prediction, next FEM anchor.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next anchor limits drift.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Skip Factor and 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033271"/>
            <a:ext cx="6611112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Small k means more FEM correction. Large k saves more FEM calls but is harder.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modes test different correction levels.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Benchmark Domains: 2D Domain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882520"/>
            <a:ext cx="5417820" cy="270891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1697637"/>
            <a:ext cx="5417820" cy="307867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- 2D domains are easier to inspect visually.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They test transfer and geometry sensitivity.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Benchmark Domains: 3D and Thermal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882520"/>
            <a:ext cx="5417820" cy="270891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1431036"/>
            <a:ext cx="5417820" cy="3611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- 3D and Thermal Fin test volumetric stability.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Thermal Fin is hardest because of thin, sharp geometry.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MAE measures average temperature error.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Relative L2 checks final field quality; FEM reduction measures saved calls.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Mean Absolute Error (MAE) MAE = (1/N) sum_i |T_i^PINN - T_i^FEM| Main accuracy metric. It is reported as mean-window MAE over the prediction windows.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Relative L2 Error Rel. L2 = ||T_hat - T_FEM||_2 / ||T_FEM - T_w||_2 Full-field error, normalised by the temperature change above the water bath. Here T_w = 20 deg C.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FEM Anchor Reduction R(k) = (1 - N_win(k)/20) x 100% Efficiency metric. It shows how many FEM anchor calls are saved when the PINN predicts longer windows.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How I read the numbers MAE: average temperature error in deg C. Relative L2: spatial field quality at 30 s. R(k): saved FEM solver calls. Together, they show the trade-off between accuracy and computational cost.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Important note from the report Final-window MAE alone can be misleading in PINN-only tests. Near 30 s, the field naturally moves toward the water temperature. So the mean-window MAE is used as the primary metric.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Source: Chapter 3, Evaluation Metrics.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2D Adaptive-k: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375947"/>
            <a:ext cx="5417820" cy="372205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410" y="1033271"/>
            <a:ext cx="5221679" cy="44074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- 2D NAS-transfer results: MAE shows average error, L2 shows final field quality.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Low error with FEM saving means the method works here.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2D Adaptive-k: Figure 4.1 FEM-PINN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16382"/>
            <a:ext cx="5417820" cy="199176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1116382"/>
            <a:ext cx="5417820" cy="199176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65806"/>
            <a:ext cx="5417820" cy="1991763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3365806"/>
            <a:ext cx="5417820" cy="199176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curves compare FEM cooling history with PINN prediction.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Close curves mean the transient behaviour is followed well.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Canonical 2D: Setup and Adaptive-k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793152"/>
            <a:ext cx="5417820" cy="288764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1565919"/>
            <a:ext cx="5417820" cy="334211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This setup explains when FEM calls are kept or skipped.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It prepares the 2D MAE and L2 result tables.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Canonical 2D: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29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794993"/>
            <a:ext cx="5417820" cy="288396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1764046"/>
            <a:ext cx="5417820" cy="29458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MAE and L2 are read together.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Low MAE plus low L2 means reliable prediction.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Canonical 2D: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321812"/>
            <a:ext cx="5417820" cy="383032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2387047"/>
            <a:ext cx="5417820" cy="16998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Variability shows seed stability.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L2 curves show field error through time.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Canonical 2D Heat Maps: Best Geometry per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99" y="1033272"/>
            <a:ext cx="3139980" cy="215798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331" y="1033272"/>
            <a:ext cx="3445836" cy="215798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071" y="3282696"/>
            <a:ext cx="3445836" cy="21579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Heat maps show where the error appears.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They support the numerical tables visually.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3D Results: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501535"/>
            <a:ext cx="5417820" cy="347088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1521011"/>
            <a:ext cx="5417820" cy="3431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- 3D tables show average volumetric error and final field quality.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- 3D geometry makes prediction harder than 2D.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3D Results: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802795"/>
            <a:ext cx="5417820" cy="286836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2562504"/>
            <a:ext cx="5417820" cy="1348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These plots show 3D stability and time trends.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best k depends on geometry.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Canonical 3D Heat Maps: Best Geometry per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85" y="1033272"/>
            <a:ext cx="3660009" cy="215798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245" y="1033272"/>
            <a:ext cx="3660009" cy="215798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985" y="3282696"/>
            <a:ext cx="3660009" cy="21579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3D heat map shows volumetric behaviour.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It helps identify local error regions.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Thermal Fin: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681" y="1033271"/>
            <a:ext cx="8709877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Thermal Fin is the hardest benchmark.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Bayesian/TPE with Fourier gives the strongest field accuracy.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Thermal Fin: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462098"/>
            <a:ext cx="5417820" cy="154975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2581632"/>
            <a:ext cx="5417820" cy="13106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Higher k makes Thermal Fin prediction harder.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Fourier features improve Bayesian/TPE stability.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Thermal Fin: Fixed-k Heat Maps (2D)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033" y="1033272"/>
            <a:ext cx="1829912" cy="215798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066" y="1033272"/>
            <a:ext cx="1828367" cy="215798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806" y="3282696"/>
            <a:ext cx="1828367" cy="21579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Cross-section heat maps compare FEM, PINN, and error.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They show where local errors remain.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Thermal Fin: Adaptive vs PINN-only Heat Maps (2D)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224527"/>
            <a:ext cx="5417820" cy="402489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1230925"/>
            <a:ext cx="5417820" cy="4012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Adaptive-k uses FEM anchors to correct the field.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PINN-only removes corrections, so errors can accumulate.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Thermal Fin: Fixed-k Volumetric Views (3D)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39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05" y="1033272"/>
            <a:ext cx="3886768" cy="215798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65" y="1033272"/>
            <a:ext cx="3886768" cy="215798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605" y="3282696"/>
            <a:ext cx="3886768" cy="21579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The volumetric view checks the full 3D field.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Sharp fin regions are difficult.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Thermal Fin: Adaptive vs PINN-only Volumetric Views (3D)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59" y="1033271"/>
            <a:ext cx="5166461" cy="440740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019" y="1033271"/>
            <a:ext cx="5166461" cy="44074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Anchored prediction keeps the 3D field more stable.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PINN-only makes drift easier to see.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Thermal Fin: Ablation Tables F.1 and F.2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235243"/>
            <a:ext cx="5417820" cy="200346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2479761"/>
            <a:ext cx="5417820" cy="151443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5596128"/>
            <a:ext cx="110185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05856"/>
            <a:ext cx="1280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0136"/>
            <a:ext cx="93268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Fourier features help complex spatial patterns.</a:t>
            </a:r>
          </a:p>
          <a:p>
            <a:pPr>
              <a:spcAft>
                <a:spcPts val="200"/>
              </a:spcAft>
            </a:pPr>
            <a:r>
              <a:rPr sz="969">
                <a:solidFill>
                  <a:srgbClr val="1C232B"/>
                </a:solidFill>
                <a:latin typeface="Arial"/>
              </a:rPr>
              <a:t>- Endpoint supervision controls window drift.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Discussion: 2D Adaptive-k and Canonical 2D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- 2D results show useful FEM saving with low error.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Complex boundaries and high k make prediction harder.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- 2D adaptive-k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What I found: all architectures achieved about 83-85% FEM saving with low MAE.  Why: the controller keeps short windows during the early rapid cooling phase and promotes k only after the field becomes smoother.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Canonical 2D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What I found: Bayesian/TPE stays strongest as k increases. Circle and L-Shape expose geometry sensitivity at high k.  Why: compact architectures lose accuracy faster when boundaries are curved or gradients are concentrated.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Key explanation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MAE growth is not only a training issue. It is linked to physical gradient structure, boundary shape and the length of unsupported prediction windows.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Discussion: 3D and Thermal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- 3D and Thermal Fin show stronger geometry sensitivity.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Thermal Fin confirms that anchors are important.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Canonical 3D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Bayesian/TPE reaches k=5 on all four 3D domains within the 15 C band. NSGA-II/III are more geometry-sensitive at high k.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Thermal Fin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Bayesian/TPE + Fourier remains within the 15 C band at all k values. NSGA-II/III are acceptable through k=4, but k=5 becomes too demanding.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PINN-only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PINN-only errors are much larger because each imperfect prediction becomes the next initial condition. I use this to confirm that periodic FEM correction is necessary.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Discussion: Cross-Domain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C232B"/>
                </a:solidFill>
                <a:latin typeface="Arial"/>
              </a:rPr>
              <a:t>Question | Discussion answer | Practical guidance
Which architecture transfers best? | Bayesian/TPE is strongest in 7 of 8 canonical cases and robust on Thermal Fin. | Use Bayesian/TPE as default deployment architecture.
When is adaptive-k useful? | It protects the early steep-gradient phase and increases k as the field relaxes. | Use adaptive-k for simple/intermediate geometries.
Can FEM be removed? | No. PINN-only accumulates error and fails especially on complex geometries. | Keep periodic FEM anchoring.
What is MSWP's role? | It maps geometry and architecture to maximum useful k. | Use it as a FEM-reduction strategy, not replacement.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Accuracy, FEM saving, and stability must be balanced.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The best choice is not always the largest k.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Conclusion: Summary of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C232B"/>
                </a:solidFill>
                <a:latin typeface="Arial"/>
              </a:rPr>
              <a:t>Finding | Evidence | Meaning
FEM calls can be reduced | 65-85% saving in many anchored cases | MSWP is effective as an accelerator
Bayesian/TPE is most robust | Strong 2D, 3D and Thermal Fin performance | Recommended default architecture
Adaptive-k helps | 83-85% saving with low MAE in 2D transfer study | Useful for early steep gradients
PINN-only fails | Thermal Fin best PINN-only is 59.20 C | FEM correction is necessary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The thesis builds a FEM-anchored NAS-PINN workflow.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Selected FEM calls can be reduced with useful accuracy.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Conclusion: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The material model is simplified.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The benchmarks are controlled, not full industrial validation.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Physics simplification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Constant kT, rho cp and h. Real quenching uses temperature-dependent material properties and five boiling regimes.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Solver validation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Reference fields come from the in-house Crank-Nicolson solver, not from StaMiSim or Abaqus. Mesh independence remains future work.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NAS and data scope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NAS budget and benchmark geometries are finite. The real Mortensen mesh is the next deployment target, not yet the main experiment.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Conclusion: Future Work and Closing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C232B"/>
                </a:solidFill>
                <a:latin typeface="Arial"/>
              </a:rPr>
              <a:t>Future step | Why it matters
Apply to Mortensen industrial mesh | Direct test on the target deployment geometry
Use full h(T) boiling curve | Closer physics to industrial water quenching
Architecture-specific adaptive-k | Better thresholds for each architecture's baseline error
Residual-based sampling | More training effort where physics residual is hardest
Validate against StaMiSim/Abaqus | Confirm that benchmark errors reflect true physics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Future work should use temperature-dependent properties and industrial geometries.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Goal: faster repeated simulation with controlled error.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C232B"/>
                </a:solidFill>
                <a:latin typeface="Arial"/>
              </a:rPr>
              <a:t>Mortensen, D., Noorsumar, G., Fjaer, H. G., Babaei, R., &amp; Dronen, P. E. (2026). Mitigating distortions in cast automotive subframes: A finite element simulation approach. The International Journal of Advanced Manufacturing Technology, 142, 5879-5898.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The references connect the industrial quenching problem and the NAS-PINN method.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Mortensen, D., Noorsumar, G., Fjaer, H. G., Babaei, R., &amp; Dronen, P. E. (2026). Mitigating distortions in cast automotive subframes: A finite element simulation approach. The International Journal of Advanced Manufacturing Technology, 142, 5879-5898. Wang, Y., &amp; Zhong, L. (2024). NAS-PINN: Neural architecture search-guided physics-informed neural network for solving PDEs. Journal of Computational Physics, 496, 112603. Raissi, M., Perdikaris, P., &amp; Karniadakis, G. E. (2019). Physics-informed neural networks. Journal of Computational Physics, 378, 686-707. Deb, K. et al. (2002). A fast and elitist multiobjective genetic algorithm: NSGA-II. IEEE Transactions on Evolutionary Computation. Deb, K., &amp; Jain, H. (2014). An evolutionary many-objective optimization algorithm using reference-point-based nondominated sorting: NSGA-III. IEEE Transactions on Evolutionary Computation. Akiba, T. et al. (2019). Optuna: A next-generation hyperparameter optimization framework. KDD.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Q&amp;A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C232B"/>
                </a:solidFill>
                <a:latin typeface="Arial"/>
              </a:rPr>
              <a:t>Question | Short answer | Result link
What is FEM? | A trusted numerical solver used as reference and anchor. | It gives the correction snapshots.
What is PINN? | A neural network trained with data error and heat-equation physics. | It predicts between FEM anchors.
What is NAS-PINN? | A PINN whose architecture is selected by search, not by hand. | Bayesian/TPE is the most robust choice.
MAE vs L2? | MAE is average Celsius error; L2 is field error at t=30 s. | Both are needed to judge accuracy.
Why adaptive-k? | It changes window length based on error. | It saves FEM calls safely in simpler cases.
Why not PINN-only? | Without FEM anchors, errors accumulate. | Thermal Fin PINN-only fails clearly.
Why is PINN useful if training is slow? | Training is paid once; inference is fast for repeated use. | Useful when many FEM solves are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For accuracy questions: use MAE and L2.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For speed questions: use FEM anchor reduction.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C232B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4114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C75"/>
                </a:solidFill>
                <a:latin typeface="Arial"/>
              </a:rP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324612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Final message: FEM is not removed.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C232B"/>
                </a:solidFill>
                <a:latin typeface="Arial"/>
              </a:rPr>
              <a:t>- FEM anchors give trust; NAS-PINN reduces selected repeated FEM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73152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67665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Thank you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Questions and discussion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Main takeaway</a:t>
            </a:r>
          </a:p>
          <a:p>
            <a:pPr>
              <a:spcAft>
                <a:spcPts val="200"/>
              </a:spcAft>
            </a:pPr>
            <a:r>
              <a:rPr sz="1070">
                <a:solidFill>
                  <a:srgbClr val="1C232B"/>
                </a:solidFill>
                <a:latin typeface="Arial"/>
              </a:rPr>
              <a:t>- FEM-anchored NAS-PINN can reduce FEM calls while keeping useful thermal-field accuracy. FEM is accelerated, not removed.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